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27"/>
  </p:notesMasterIdLst>
  <p:sldIdLst>
    <p:sldId id="286" r:id="rId3"/>
    <p:sldId id="2147482076" r:id="rId4"/>
    <p:sldId id="2147482074" r:id="rId5"/>
    <p:sldId id="2147482090" r:id="rId6"/>
    <p:sldId id="2147482049" r:id="rId7"/>
    <p:sldId id="2147482050" r:id="rId8"/>
    <p:sldId id="2147482048" r:id="rId9"/>
    <p:sldId id="2147482051" r:id="rId10"/>
    <p:sldId id="2147482078" r:id="rId11"/>
    <p:sldId id="2147482066" r:id="rId12"/>
    <p:sldId id="2147482068" r:id="rId13"/>
    <p:sldId id="2147482071" r:id="rId14"/>
    <p:sldId id="2147482072" r:id="rId15"/>
    <p:sldId id="550145289" r:id="rId16"/>
    <p:sldId id="2147482073" r:id="rId17"/>
    <p:sldId id="2147482080" r:id="rId18"/>
    <p:sldId id="550145291" r:id="rId19"/>
    <p:sldId id="2147482028" r:id="rId20"/>
    <p:sldId id="2147482082" r:id="rId21"/>
    <p:sldId id="2147482088" r:id="rId22"/>
    <p:sldId id="2147482089" r:id="rId23"/>
    <p:sldId id="2147482086" r:id="rId24"/>
    <p:sldId id="550145284" r:id="rId25"/>
    <p:sldId id="287"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4A9503B-5F51-2A33-CC89-747F98366078}" name="Mark Ren" initials="MR" userId="S::haoxingr@nvidia.com::384abb08-e9f2-4e15-8a6b-b04e5dbe480d" providerId="AD"/>
  <p188:author id="{BB30DF9C-551D-2F79-439B-C31A9566843B}" name="Mark HO" initials="MH" userId="S::chiatungh@nvidia.com::102fa465-96cd-4df0-8df9-66e2af600145" providerId="AD"/>
  <p188:author id="{06E375E4-9FB1-A4C0-DC60-DA65039EA834}" name="Rochelle Silveira" initials="RS" userId="S::rsilveira@nvidia.com::ec766d9d-13dc-485e-a15b-0cdc15a56a71"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D7D31"/>
    <a:srgbClr val="70AD47"/>
    <a:srgbClr val="FFFFFF"/>
    <a:srgbClr val="76B900"/>
    <a:srgbClr val="FAC2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6" d="100"/>
          <a:sy n="66" d="100"/>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microsoft.com/office/2018/10/relationships/authors" Target="author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k Ren" userId="384abb08-e9f2-4e15-8a6b-b04e5dbe480d" providerId="ADAL" clId="{1429F7B5-F675-4F9F-B2DB-31197196AB06}"/>
    <pc:docChg chg="undo custSel addSld delSld modSld sldOrd">
      <pc:chgData name="Mark Ren" userId="384abb08-e9f2-4e15-8a6b-b04e5dbe480d" providerId="ADAL" clId="{1429F7B5-F675-4F9F-B2DB-31197196AB06}" dt="2024-08-25T07:45:09.803" v="5752" actId="20577"/>
      <pc:docMkLst>
        <pc:docMk/>
      </pc:docMkLst>
      <pc:sldChg chg="modNotesTx">
        <pc:chgData name="Mark Ren" userId="384abb08-e9f2-4e15-8a6b-b04e5dbe480d" providerId="ADAL" clId="{1429F7B5-F675-4F9F-B2DB-31197196AB06}" dt="2024-08-25T07:28:19.149" v="5747" actId="20577"/>
        <pc:sldMkLst>
          <pc:docMk/>
          <pc:sldMk cId="1512265076" sldId="286"/>
        </pc:sldMkLst>
      </pc:sldChg>
      <pc:sldChg chg="modNotesTx">
        <pc:chgData name="Mark Ren" userId="384abb08-e9f2-4e15-8a6b-b04e5dbe480d" providerId="ADAL" clId="{1429F7B5-F675-4F9F-B2DB-31197196AB06}" dt="2024-08-25T07:26:20.199" v="5745" actId="20577"/>
        <pc:sldMkLst>
          <pc:docMk/>
          <pc:sldMk cId="2720313774" sldId="550145284"/>
        </pc:sldMkLst>
      </pc:sldChg>
      <pc:sldChg chg="modNotesTx">
        <pc:chgData name="Mark Ren" userId="384abb08-e9f2-4e15-8a6b-b04e5dbe480d" providerId="ADAL" clId="{1429F7B5-F675-4F9F-B2DB-31197196AB06}" dt="2024-08-25T07:20:23.855" v="4910" actId="20577"/>
        <pc:sldMkLst>
          <pc:docMk/>
          <pc:sldMk cId="4055263617" sldId="2147482028"/>
        </pc:sldMkLst>
      </pc:sldChg>
      <pc:sldChg chg="modNotesTx">
        <pc:chgData name="Mark Ren" userId="384abb08-e9f2-4e15-8a6b-b04e5dbe480d" providerId="ADAL" clId="{1429F7B5-F675-4F9F-B2DB-31197196AB06}" dt="2024-08-25T07:06:41.533" v="2697" actId="20577"/>
        <pc:sldMkLst>
          <pc:docMk/>
          <pc:sldMk cId="1666859319" sldId="2147482048"/>
        </pc:sldMkLst>
      </pc:sldChg>
      <pc:sldChg chg="modSp mod modNotesTx">
        <pc:chgData name="Mark Ren" userId="384abb08-e9f2-4e15-8a6b-b04e5dbe480d" providerId="ADAL" clId="{1429F7B5-F675-4F9F-B2DB-31197196AB06}" dt="2024-08-25T06:59:34.557" v="1069" actId="20577"/>
        <pc:sldMkLst>
          <pc:docMk/>
          <pc:sldMk cId="3093820873" sldId="2147482049"/>
        </pc:sldMkLst>
        <pc:spChg chg="mod">
          <ac:chgData name="Mark Ren" userId="384abb08-e9f2-4e15-8a6b-b04e5dbe480d" providerId="ADAL" clId="{1429F7B5-F675-4F9F-B2DB-31197196AB06}" dt="2024-08-25T06:55:50.981" v="463" actId="20577"/>
          <ac:spMkLst>
            <pc:docMk/>
            <pc:sldMk cId="3093820873" sldId="2147482049"/>
            <ac:spMk id="17" creationId="{25B728FF-17C4-9B1D-8CE8-F3435034B043}"/>
          </ac:spMkLst>
        </pc:spChg>
      </pc:sldChg>
      <pc:sldChg chg="modNotesTx">
        <pc:chgData name="Mark Ren" userId="384abb08-e9f2-4e15-8a6b-b04e5dbe480d" providerId="ADAL" clId="{1429F7B5-F675-4F9F-B2DB-31197196AB06}" dt="2024-08-25T07:02:41.226" v="1818" actId="20577"/>
        <pc:sldMkLst>
          <pc:docMk/>
          <pc:sldMk cId="103893356" sldId="2147482050"/>
        </pc:sldMkLst>
      </pc:sldChg>
      <pc:sldChg chg="modNotesTx">
        <pc:chgData name="Mark Ren" userId="384abb08-e9f2-4e15-8a6b-b04e5dbe480d" providerId="ADAL" clId="{1429F7B5-F675-4F9F-B2DB-31197196AB06}" dt="2024-08-25T07:09:59.859" v="3255" actId="20577"/>
        <pc:sldMkLst>
          <pc:docMk/>
          <pc:sldMk cId="2027530322" sldId="2147482051"/>
        </pc:sldMkLst>
      </pc:sldChg>
      <pc:sldChg chg="modNotesTx">
        <pc:chgData name="Mark Ren" userId="384abb08-e9f2-4e15-8a6b-b04e5dbe480d" providerId="ADAL" clId="{1429F7B5-F675-4F9F-B2DB-31197196AB06}" dt="2024-08-25T07:12:25.415" v="3649" actId="20577"/>
        <pc:sldMkLst>
          <pc:docMk/>
          <pc:sldMk cId="2902450097" sldId="2147482066"/>
        </pc:sldMkLst>
      </pc:sldChg>
      <pc:sldChg chg="modNotesTx">
        <pc:chgData name="Mark Ren" userId="384abb08-e9f2-4e15-8a6b-b04e5dbe480d" providerId="ADAL" clId="{1429F7B5-F675-4F9F-B2DB-31197196AB06}" dt="2024-08-25T07:13:31.356" v="3706" actId="20577"/>
        <pc:sldMkLst>
          <pc:docMk/>
          <pc:sldMk cId="3767820448" sldId="2147482068"/>
        </pc:sldMkLst>
      </pc:sldChg>
      <pc:sldChg chg="modNotesTx">
        <pc:chgData name="Mark Ren" userId="384abb08-e9f2-4e15-8a6b-b04e5dbe480d" providerId="ADAL" clId="{1429F7B5-F675-4F9F-B2DB-31197196AB06}" dt="2024-08-25T07:14:36.706" v="3793" actId="20577"/>
        <pc:sldMkLst>
          <pc:docMk/>
          <pc:sldMk cId="3595351216" sldId="2147482071"/>
        </pc:sldMkLst>
      </pc:sldChg>
      <pc:sldChg chg="modNotesTx">
        <pc:chgData name="Mark Ren" userId="384abb08-e9f2-4e15-8a6b-b04e5dbe480d" providerId="ADAL" clId="{1429F7B5-F675-4F9F-B2DB-31197196AB06}" dt="2024-08-25T07:16:46.239" v="4172" actId="20577"/>
        <pc:sldMkLst>
          <pc:docMk/>
          <pc:sldMk cId="3080507406" sldId="2147482072"/>
        </pc:sldMkLst>
      </pc:sldChg>
      <pc:sldChg chg="modNotesTx">
        <pc:chgData name="Mark Ren" userId="384abb08-e9f2-4e15-8a6b-b04e5dbe480d" providerId="ADAL" clId="{1429F7B5-F675-4F9F-B2DB-31197196AB06}" dt="2024-08-25T06:53:34.237" v="183" actId="20577"/>
        <pc:sldMkLst>
          <pc:docMk/>
          <pc:sldMk cId="3239897380" sldId="2147482074"/>
        </pc:sldMkLst>
      </pc:sldChg>
      <pc:sldChg chg="ord modNotesTx">
        <pc:chgData name="Mark Ren" userId="384abb08-e9f2-4e15-8a6b-b04e5dbe480d" providerId="ADAL" clId="{1429F7B5-F675-4F9F-B2DB-31197196AB06}" dt="2024-08-25T07:45:09.803" v="5752" actId="20577"/>
        <pc:sldMkLst>
          <pc:docMk/>
          <pc:sldMk cId="2190037004" sldId="2147482076"/>
        </pc:sldMkLst>
      </pc:sldChg>
      <pc:sldChg chg="del">
        <pc:chgData name="Mark Ren" userId="384abb08-e9f2-4e15-8a6b-b04e5dbe480d" providerId="ADAL" clId="{1429F7B5-F675-4F9F-B2DB-31197196AB06}" dt="2024-08-25T06:53:06.749" v="122" actId="47"/>
        <pc:sldMkLst>
          <pc:docMk/>
          <pc:sldMk cId="1450479601" sldId="2147482077"/>
        </pc:sldMkLst>
      </pc:sldChg>
      <pc:sldChg chg="modNotesTx">
        <pc:chgData name="Mark Ren" userId="384abb08-e9f2-4e15-8a6b-b04e5dbe480d" providerId="ADAL" clId="{1429F7B5-F675-4F9F-B2DB-31197196AB06}" dt="2024-08-25T07:11:21.743" v="3518" actId="20577"/>
        <pc:sldMkLst>
          <pc:docMk/>
          <pc:sldMk cId="1363677326" sldId="2147482078"/>
        </pc:sldMkLst>
      </pc:sldChg>
      <pc:sldChg chg="modNotesTx">
        <pc:chgData name="Mark Ren" userId="384abb08-e9f2-4e15-8a6b-b04e5dbe480d" providerId="ADAL" clId="{1429F7B5-F675-4F9F-B2DB-31197196AB06}" dt="2024-08-25T07:22:26.636" v="5070" actId="20577"/>
        <pc:sldMkLst>
          <pc:docMk/>
          <pc:sldMk cId="3933819328" sldId="2147482082"/>
        </pc:sldMkLst>
      </pc:sldChg>
      <pc:sldChg chg="add del">
        <pc:chgData name="Mark Ren" userId="384abb08-e9f2-4e15-8a6b-b04e5dbe480d" providerId="ADAL" clId="{1429F7B5-F675-4F9F-B2DB-31197196AB06}" dt="2024-08-25T06:51:53.262" v="121" actId="47"/>
        <pc:sldMkLst>
          <pc:docMk/>
          <pc:sldMk cId="3893155107" sldId="2147482087"/>
        </pc:sldMkLst>
      </pc:sldChg>
      <pc:sldChg chg="delSp mod">
        <pc:chgData name="Mark Ren" userId="384abb08-e9f2-4e15-8a6b-b04e5dbe480d" providerId="ADAL" clId="{1429F7B5-F675-4F9F-B2DB-31197196AB06}" dt="2024-08-25T07:26:59.717" v="5746" actId="478"/>
        <pc:sldMkLst>
          <pc:docMk/>
          <pc:sldMk cId="3427722074" sldId="2147482088"/>
        </pc:sldMkLst>
        <pc:spChg chg="del">
          <ac:chgData name="Mark Ren" userId="384abb08-e9f2-4e15-8a6b-b04e5dbe480d" providerId="ADAL" clId="{1429F7B5-F675-4F9F-B2DB-31197196AB06}" dt="2024-08-25T07:26:59.717" v="5746" actId="478"/>
          <ac:spMkLst>
            <pc:docMk/>
            <pc:sldMk cId="3427722074" sldId="2147482088"/>
            <ac:spMk id="33" creationId="{8105D4A1-3575-D938-988A-6FF4FE22F485}"/>
          </ac:spMkLst>
        </pc:spChg>
      </pc:sldChg>
      <pc:sldChg chg="addSp delSp modSp add mod modNotesTx">
        <pc:chgData name="Mark Ren" userId="384abb08-e9f2-4e15-8a6b-b04e5dbe480d" providerId="ADAL" clId="{1429F7B5-F675-4F9F-B2DB-31197196AB06}" dt="2024-08-25T06:58:14.380" v="825"/>
        <pc:sldMkLst>
          <pc:docMk/>
          <pc:sldMk cId="3882448125" sldId="2147482090"/>
        </pc:sldMkLst>
        <pc:spChg chg="mod">
          <ac:chgData name="Mark Ren" userId="384abb08-e9f2-4e15-8a6b-b04e5dbe480d" providerId="ADAL" clId="{1429F7B5-F675-4F9F-B2DB-31197196AB06}" dt="2024-08-25T06:55:15.196" v="417" actId="20577"/>
          <ac:spMkLst>
            <pc:docMk/>
            <pc:sldMk cId="3882448125" sldId="2147482090"/>
            <ac:spMk id="2" creationId="{7B3C1113-398F-9192-206C-9EDE629C73DA}"/>
          </ac:spMkLst>
        </pc:spChg>
        <pc:spChg chg="mod">
          <ac:chgData name="Mark Ren" userId="384abb08-e9f2-4e15-8a6b-b04e5dbe480d" providerId="ADAL" clId="{1429F7B5-F675-4F9F-B2DB-31197196AB06}" dt="2024-08-25T06:56:29.384" v="548" actId="20577"/>
          <ac:spMkLst>
            <pc:docMk/>
            <pc:sldMk cId="3882448125" sldId="2147482090"/>
            <ac:spMk id="3" creationId="{9D17D2BB-1396-5644-4D86-1E4A56B3D104}"/>
          </ac:spMkLst>
        </pc:spChg>
        <pc:spChg chg="del">
          <ac:chgData name="Mark Ren" userId="384abb08-e9f2-4e15-8a6b-b04e5dbe480d" providerId="ADAL" clId="{1429F7B5-F675-4F9F-B2DB-31197196AB06}" dt="2024-08-25T06:58:14.076" v="824" actId="478"/>
          <ac:spMkLst>
            <pc:docMk/>
            <pc:sldMk cId="3882448125" sldId="2147482090"/>
            <ac:spMk id="4" creationId="{9F44B719-D253-213A-0F21-5F7387027422}"/>
          </ac:spMkLst>
        </pc:spChg>
        <pc:spChg chg="add mod">
          <ac:chgData name="Mark Ren" userId="384abb08-e9f2-4e15-8a6b-b04e5dbe480d" providerId="ADAL" clId="{1429F7B5-F675-4F9F-B2DB-31197196AB06}" dt="2024-08-25T06:58:14.380" v="825"/>
          <ac:spMkLst>
            <pc:docMk/>
            <pc:sldMk cId="3882448125" sldId="2147482090"/>
            <ac:spMk id="5" creationId="{4B50701C-2943-8B6C-F877-D77C1527572B}"/>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spPr>
            <a:ln w="38100" cap="rnd">
              <a:noFill/>
              <a:round/>
            </a:ln>
            <a:effectLst/>
          </c:spPr>
          <c:marker>
            <c:symbol val="diamond"/>
            <c:size val="5"/>
            <c:spPr>
              <a:solidFill>
                <a:schemeClr val="accent6"/>
              </a:solidFill>
              <a:ln w="38100">
                <a:solidFill>
                  <a:schemeClr val="accent6"/>
                </a:solidFill>
              </a:ln>
              <a:effectLst/>
            </c:spPr>
          </c:marker>
          <c:xVal>
            <c:numRef>
              <c:f>Sheet1!$H$12:$H$15</c:f>
              <c:numCache>
                <c:formatCode>General</c:formatCode>
                <c:ptCount val="4"/>
                <c:pt idx="0">
                  <c:v>41.7</c:v>
                </c:pt>
                <c:pt idx="1">
                  <c:v>60.3</c:v>
                </c:pt>
                <c:pt idx="2">
                  <c:v>67.3</c:v>
                </c:pt>
                <c:pt idx="3">
                  <c:v>94.2</c:v>
                </c:pt>
              </c:numCache>
            </c:numRef>
          </c:xVal>
          <c:yVal>
            <c:numRef>
              <c:f>Sheet1!$I$12:$I$15</c:f>
              <c:numCache>
                <c:formatCode>General</c:formatCode>
                <c:ptCount val="4"/>
                <c:pt idx="0">
                  <c:v>2</c:v>
                </c:pt>
                <c:pt idx="1">
                  <c:v>1</c:v>
                </c:pt>
                <c:pt idx="2">
                  <c:v>2</c:v>
                </c:pt>
                <c:pt idx="3">
                  <c:v>1</c:v>
                </c:pt>
              </c:numCache>
            </c:numRef>
          </c:yVal>
          <c:smooth val="0"/>
          <c:extLst>
            <c:ext xmlns:c16="http://schemas.microsoft.com/office/drawing/2014/chart" uri="{C3380CC4-5D6E-409C-BE32-E72D297353CC}">
              <c16:uniqueId val="{00000000-09A6-4145-BEEC-185F4D621F3D}"/>
            </c:ext>
          </c:extLst>
        </c:ser>
        <c:dLbls>
          <c:showLegendKey val="0"/>
          <c:showVal val="0"/>
          <c:showCatName val="0"/>
          <c:showSerName val="0"/>
          <c:showPercent val="0"/>
          <c:showBubbleSize val="0"/>
        </c:dLbls>
        <c:axId val="945506511"/>
        <c:axId val="945506991"/>
      </c:scatterChart>
      <c:valAx>
        <c:axId val="945506511"/>
        <c:scaling>
          <c:orientation val="minMax"/>
        </c:scaling>
        <c:delete val="0"/>
        <c:axPos val="b"/>
        <c:numFmt formatCode="General" sourceLinked="1"/>
        <c:majorTickMark val="none"/>
        <c:minorTickMark val="none"/>
        <c:tickLblPos val="nextTo"/>
        <c:spPr>
          <a:noFill/>
          <a:ln w="25400" cap="flat" cmpd="sng" algn="ctr">
            <a:solidFill>
              <a:schemeClr val="tx1"/>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945506991"/>
        <c:crosses val="autoZero"/>
        <c:crossBetween val="midCat"/>
      </c:valAx>
      <c:valAx>
        <c:axId val="945506991"/>
        <c:scaling>
          <c:orientation val="minMax"/>
        </c:scaling>
        <c:delete val="1"/>
        <c:axPos val="l"/>
        <c:numFmt formatCode="General" sourceLinked="1"/>
        <c:majorTickMark val="none"/>
        <c:minorTickMark val="none"/>
        <c:tickLblPos val="nextTo"/>
        <c:crossAx val="945506511"/>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600"/>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NVIDIA Sans" panose="020B0503020203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NVIDIA Sans" panose="020B0503020203020204" pitchFamily="34" charset="0"/>
              </a:defRPr>
            </a:lvl1pPr>
          </a:lstStyle>
          <a:p>
            <a:fld id="{7D9839B2-0C41-4EC2-A380-5CD3EA7F9919}" type="datetimeFigureOut">
              <a:rPr lang="en-US" smtClean="0"/>
              <a:pPr/>
              <a:t>8/27/2024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NVIDIA Sans" panose="020B0503020203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NVIDIA Sans" panose="020B0503020203020204" pitchFamily="34" charset="0"/>
              </a:defRPr>
            </a:lvl1pPr>
          </a:lstStyle>
          <a:p>
            <a:fld id="{E3F9F4BA-68A0-4A3E-B7AF-14E52697F56A}" type="slidenum">
              <a:rPr lang="en-US" smtClean="0"/>
              <a:pPr/>
              <a:t>‹#›</a:t>
            </a:fld>
            <a:endParaRPr lang="en-US"/>
          </a:p>
        </p:txBody>
      </p:sp>
    </p:spTree>
    <p:extLst>
      <p:ext uri="{BB962C8B-B14F-4D97-AF65-F5344CB8AC3E}">
        <p14:creationId xmlns:p14="http://schemas.microsoft.com/office/powerpoint/2010/main" val="23400537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NVIDIA Sans" panose="020B0503020203020204" pitchFamily="34" charset="0"/>
        <a:ea typeface="+mn-ea"/>
        <a:cs typeface="+mn-cs"/>
      </a:defRPr>
    </a:lvl1pPr>
    <a:lvl2pPr marL="457200" algn="l" defTabSz="914400" rtl="0" eaLnBrk="1" latinLnBrk="0" hangingPunct="1">
      <a:defRPr sz="1200" kern="1200">
        <a:solidFill>
          <a:schemeClr val="tx1"/>
        </a:solidFill>
        <a:latin typeface="NVIDIA Sans" panose="020B0503020203020204" pitchFamily="34" charset="0"/>
        <a:ea typeface="+mn-ea"/>
        <a:cs typeface="+mn-cs"/>
      </a:defRPr>
    </a:lvl2pPr>
    <a:lvl3pPr marL="914400" algn="l" defTabSz="914400" rtl="0" eaLnBrk="1" latinLnBrk="0" hangingPunct="1">
      <a:defRPr sz="1200" kern="1200">
        <a:solidFill>
          <a:schemeClr val="tx1"/>
        </a:solidFill>
        <a:latin typeface="NVIDIA Sans" panose="020B0503020203020204" pitchFamily="34" charset="0"/>
        <a:ea typeface="+mn-ea"/>
        <a:cs typeface="+mn-cs"/>
      </a:defRPr>
    </a:lvl3pPr>
    <a:lvl4pPr marL="1371600" algn="l" defTabSz="914400" rtl="0" eaLnBrk="1" latinLnBrk="0" hangingPunct="1">
      <a:defRPr sz="1200" kern="1200">
        <a:solidFill>
          <a:schemeClr val="tx1"/>
        </a:solidFill>
        <a:latin typeface="NVIDIA Sans" panose="020B0503020203020204" pitchFamily="34" charset="0"/>
        <a:ea typeface="+mn-ea"/>
        <a:cs typeface="+mn-cs"/>
      </a:defRPr>
    </a:lvl4pPr>
    <a:lvl5pPr marL="1828800" algn="l" defTabSz="914400" rtl="0" eaLnBrk="1" latinLnBrk="0" hangingPunct="1">
      <a:defRPr sz="1200" kern="1200">
        <a:solidFill>
          <a:schemeClr val="tx1"/>
        </a:solidFill>
        <a:latin typeface="NVIDIA Sans" panose="020B0503020203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err="1"/>
              <a:t>Haixian</a:t>
            </a:r>
            <a:r>
              <a:rPr lang="en-US"/>
              <a:t> and Hans’ </a:t>
            </a:r>
            <a:r>
              <a:rPr lang="en-US" err="1"/>
              <a:t>tutoirals</a:t>
            </a:r>
            <a:r>
              <a:rPr lang="en-US"/>
              <a:t> mentioned some aspects of Agent. Here we will give a relative more complete coverage of Agent.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As I mentioned in the introduction session, AI can provide design assistance in  Know-how assistance, cod gen assistance, and Task automation.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I believe agent can enhance these assistance capabilities.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endParaRPr lang="en-US"/>
          </a:p>
          <a:p>
            <a:endParaRPr lang="en-US"/>
          </a:p>
          <a:p>
            <a:endParaRPr lang="en-US"/>
          </a:p>
        </p:txBody>
      </p:sp>
      <p:sp>
        <p:nvSpPr>
          <p:cNvPr id="4" name="Slide Number Placeholder 3"/>
          <p:cNvSpPr>
            <a:spLocks noGrp="1"/>
          </p:cNvSpPr>
          <p:nvPr>
            <p:ph type="sldNum" sz="quarter" idx="5"/>
          </p:nvPr>
        </p:nvSpPr>
        <p:spPr/>
        <p:txBody>
          <a:bodyPr/>
          <a:lstStyle/>
          <a:p>
            <a:fld id="{E3F9F4BA-68A0-4A3E-B7AF-14E52697F56A}" type="slidenum">
              <a:rPr lang="en-US" smtClean="0"/>
              <a:pPr/>
              <a:t>1</a:t>
            </a:fld>
            <a:endParaRPr lang="en-US"/>
          </a:p>
        </p:txBody>
      </p:sp>
    </p:spTree>
    <p:extLst>
      <p:ext uri="{BB962C8B-B14F-4D97-AF65-F5344CB8AC3E}">
        <p14:creationId xmlns:p14="http://schemas.microsoft.com/office/powerpoint/2010/main" val="9477327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Let’s look at Agent performance on </a:t>
            </a:r>
            <a:r>
              <a:rPr lang="en-US" err="1"/>
              <a:t>verilogEval</a:t>
            </a:r>
            <a:r>
              <a:rPr lang="en-US"/>
              <a:t> benchmark which Hanxian mentioned in the previous talk. </a:t>
            </a:r>
          </a:p>
          <a:p>
            <a:r>
              <a:rPr lang="en-US"/>
              <a:t>The </a:t>
            </a:r>
            <a:r>
              <a:rPr lang="en-US" err="1"/>
              <a:t>VerilogCoder</a:t>
            </a:r>
            <a:r>
              <a:rPr lang="en-US"/>
              <a:t> agent, which is a sophisticated agent, can achieve significant better than non-agentic approach. </a:t>
            </a:r>
          </a:p>
          <a:p>
            <a:r>
              <a:rPr lang="en-US"/>
              <a:t>Using GPT4turbo as LLM, </a:t>
            </a:r>
            <a:r>
              <a:rPr lang="en-US" err="1"/>
              <a:t>VerilgCoder</a:t>
            </a:r>
            <a:r>
              <a:rPr lang="en-US"/>
              <a:t> achieve 94.2% pass rate, almost solving all problems in the benchmark. It is significantly higher than non-agent GPT4turbo pass rate, which is the previous state-of-the-art results. Other Fine tuned LLM model seldom exceed gpt4turbo. </a:t>
            </a:r>
          </a:p>
          <a:p>
            <a:r>
              <a:rPr lang="en-US"/>
              <a:t>The additional solved questions are reasonably complex; includes state machine, </a:t>
            </a:r>
            <a:r>
              <a:rPr lang="en-US" err="1"/>
              <a:t>kaunauh</a:t>
            </a:r>
            <a:r>
              <a:rPr lang="en-US"/>
              <a:t> map, waveform, etc. Some of the problems are not straightforward for human to solve either. </a:t>
            </a:r>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Evan using Llama3 as base mode, </a:t>
            </a:r>
            <a:r>
              <a:rPr lang="en-US" err="1"/>
              <a:t>VerilogCoder</a:t>
            </a:r>
            <a:r>
              <a:rPr lang="en-US"/>
              <a:t> agent is also </a:t>
            </a:r>
            <a:r>
              <a:rPr lang="en-US" err="1"/>
              <a:t>signifincalty</a:t>
            </a:r>
            <a:r>
              <a:rPr lang="en-US"/>
              <a:t> better than non-agentic approach. This shows the robustness of agentic approach. </a:t>
            </a:r>
          </a:p>
          <a:p>
            <a:endParaRPr lang="en-US"/>
          </a:p>
          <a:p>
            <a:r>
              <a:rPr lang="en-US"/>
              <a:t>In the rest of the talk, I will first introduce the key concepts of agent. </a:t>
            </a:r>
          </a:p>
          <a:p>
            <a:r>
              <a:rPr lang="en-US"/>
              <a:t>Then I will introduce several use cases of agents in chip design. </a:t>
            </a:r>
          </a:p>
          <a:p>
            <a:endParaRPr lang="en-US"/>
          </a:p>
        </p:txBody>
      </p:sp>
      <p:sp>
        <p:nvSpPr>
          <p:cNvPr id="4" name="Slide Number Placeholder 3"/>
          <p:cNvSpPr>
            <a:spLocks noGrp="1"/>
          </p:cNvSpPr>
          <p:nvPr>
            <p:ph type="sldNum" sz="quarter" idx="5"/>
          </p:nvPr>
        </p:nvSpPr>
        <p:spPr/>
        <p:txBody>
          <a:bodyPr/>
          <a:lstStyle/>
          <a:p>
            <a:fld id="{E3F9F4BA-68A0-4A3E-B7AF-14E52697F56A}" type="slidenum">
              <a:rPr lang="en-US" smtClean="0"/>
              <a:pPr/>
              <a:t>2</a:t>
            </a:fld>
            <a:endParaRPr lang="en-US"/>
          </a:p>
        </p:txBody>
      </p:sp>
    </p:spTree>
    <p:extLst>
      <p:ext uri="{BB962C8B-B14F-4D97-AF65-F5344CB8AC3E}">
        <p14:creationId xmlns:p14="http://schemas.microsoft.com/office/powerpoint/2010/main" val="11000599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Let’s illustrate some key Agentic concepts </a:t>
            </a:r>
          </a:p>
          <a:p>
            <a:r>
              <a:rPr lang="en-US"/>
              <a:t>First, let’s look at the non-agentic way.</a:t>
            </a:r>
          </a:p>
          <a:p>
            <a:r>
              <a:rPr lang="en-US"/>
              <a:t>Given a question, usually a simple one, the LLM will provide answer directly. </a:t>
            </a:r>
          </a:p>
          <a:p>
            <a:r>
              <a:rPr lang="en-US"/>
              <a:t>However, what if the question is </a:t>
            </a:r>
            <a:r>
              <a:rPr lang="en-US" err="1"/>
              <a:t>complext</a:t>
            </a:r>
            <a:r>
              <a:rPr lang="en-US"/>
              <a:t> enough that can not be solved by non-agentic method. </a:t>
            </a:r>
          </a:p>
          <a:p>
            <a:r>
              <a:rPr lang="en-US"/>
              <a:t>How do human solve complex problems? Problem decomposition</a:t>
            </a:r>
          </a:p>
          <a:p>
            <a:r>
              <a:rPr lang="en-US"/>
              <a:t>We can solve a complex problem step by step, this is called agent planning. </a:t>
            </a:r>
          </a:p>
          <a:p>
            <a:r>
              <a:rPr lang="en-US"/>
              <a:t>Because agent can run many steps, to keep stateful information within each step,  we need agent memory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In order to solve hard problems we also need to leverage tools for computing tasks or interacting with </a:t>
            </a:r>
            <a:r>
              <a:rPr lang="en-US" err="1"/>
              <a:t>enviornment</a:t>
            </a: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err="1"/>
              <a:t>Planing</a:t>
            </a:r>
            <a:r>
              <a:rPr lang="en-US"/>
              <a:t>, memory and tools all depend on LLM as core engine to operate.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This is a basic framework for single agent. We can actually connect multiple agents together to form a multi-agent system. Each agent play a different role solving different parts of the problems. It is another form of decomposition.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Now let’s loos at these concepts in detail.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p:cNvSpPr>
            <a:spLocks noGrp="1"/>
          </p:cNvSpPr>
          <p:nvPr>
            <p:ph type="sldNum" sz="quarter" idx="5"/>
          </p:nvPr>
        </p:nvSpPr>
        <p:spPr/>
        <p:txBody>
          <a:bodyPr/>
          <a:lstStyle/>
          <a:p>
            <a:fld id="{E3F9F4BA-68A0-4A3E-B7AF-14E52697F56A}" type="slidenum">
              <a:rPr lang="en-US" smtClean="0"/>
              <a:pPr/>
              <a:t>3</a:t>
            </a:fld>
            <a:endParaRPr lang="en-US"/>
          </a:p>
        </p:txBody>
      </p:sp>
    </p:spTree>
    <p:extLst>
      <p:ext uri="{BB962C8B-B14F-4D97-AF65-F5344CB8AC3E}">
        <p14:creationId xmlns:p14="http://schemas.microsoft.com/office/powerpoint/2010/main" val="33377496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First, let’s review how agent planning is done. </a:t>
            </a:r>
          </a:p>
          <a:p>
            <a:r>
              <a:rPr lang="en-US"/>
              <a:t>And there are two ways of planning, with feedback or without feedback. </a:t>
            </a:r>
          </a:p>
          <a:p>
            <a:r>
              <a:rPr lang="en-US"/>
              <a:t>Chain-of-Though planning and Tree-of-Thought planning are without feedback, </a:t>
            </a:r>
          </a:p>
          <a:p>
            <a:r>
              <a:rPr lang="en-US"/>
              <a:t>While </a:t>
            </a:r>
            <a:r>
              <a:rPr lang="en-US" err="1"/>
              <a:t>ReACT</a:t>
            </a:r>
            <a:r>
              <a:rPr lang="en-US"/>
              <a:t> and Self-Reflection are with feedback. </a:t>
            </a:r>
          </a:p>
          <a:p>
            <a:r>
              <a:rPr lang="en-US"/>
              <a:t>Now let’s study them in detail.</a:t>
            </a:r>
          </a:p>
        </p:txBody>
      </p:sp>
      <p:sp>
        <p:nvSpPr>
          <p:cNvPr id="4" name="Slide Number Placeholder 3"/>
          <p:cNvSpPr>
            <a:spLocks noGrp="1"/>
          </p:cNvSpPr>
          <p:nvPr>
            <p:ph type="sldNum" sz="quarter" idx="5"/>
          </p:nvPr>
        </p:nvSpPr>
        <p:spPr/>
        <p:txBody>
          <a:bodyPr/>
          <a:lstStyle/>
          <a:p>
            <a:fld id="{E3F9F4BA-68A0-4A3E-B7AF-14E52697F56A}" type="slidenum">
              <a:rPr lang="en-US" smtClean="0"/>
              <a:pPr/>
              <a:t>4</a:t>
            </a:fld>
            <a:endParaRPr lang="en-US"/>
          </a:p>
        </p:txBody>
      </p:sp>
    </p:spTree>
    <p:extLst>
      <p:ext uri="{BB962C8B-B14F-4D97-AF65-F5344CB8AC3E}">
        <p14:creationId xmlns:p14="http://schemas.microsoft.com/office/powerpoint/2010/main" val="36804656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Chain-of-Thought is a very commonly used planning method.</a:t>
            </a:r>
          </a:p>
          <a:p>
            <a:r>
              <a:rPr lang="en-US"/>
              <a:t>It plans all the steps in one shot task decomposition. </a:t>
            </a:r>
          </a:p>
          <a:p>
            <a:r>
              <a:rPr lang="en-US"/>
              <a:t>There are three ways to prompt the model to generate chain-of-though plan. </a:t>
            </a:r>
          </a:p>
        </p:txBody>
      </p:sp>
      <p:sp>
        <p:nvSpPr>
          <p:cNvPr id="4" name="Slide Number Placeholder 3"/>
          <p:cNvSpPr>
            <a:spLocks noGrp="1"/>
          </p:cNvSpPr>
          <p:nvPr>
            <p:ph type="sldNum" sz="quarter" idx="5"/>
          </p:nvPr>
        </p:nvSpPr>
        <p:spPr/>
        <p:txBody>
          <a:bodyPr/>
          <a:lstStyle/>
          <a:p>
            <a:fld id="{E3F9F4BA-68A0-4A3E-B7AF-14E52697F56A}" type="slidenum">
              <a:rPr lang="en-US" smtClean="0"/>
              <a:pPr/>
              <a:t>5</a:t>
            </a:fld>
            <a:endParaRPr lang="en-US"/>
          </a:p>
        </p:txBody>
      </p:sp>
    </p:spTree>
    <p:extLst>
      <p:ext uri="{BB962C8B-B14F-4D97-AF65-F5344CB8AC3E}">
        <p14:creationId xmlns:p14="http://schemas.microsoft.com/office/powerpoint/2010/main" val="38320696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One shot plan can have difficult to </a:t>
            </a:r>
            <a:r>
              <a:rPr lang="en-US" err="1"/>
              <a:t>compicated</a:t>
            </a:r>
            <a:r>
              <a:rPr lang="en-US"/>
              <a:t> tasks. We often need to adjust plan on the way. </a:t>
            </a:r>
          </a:p>
          <a:p>
            <a:r>
              <a:rPr lang="en-US"/>
              <a:t>Therefore, Tree-of-Thought makes plan one step a time, at each step, it makes LLM proposes several potential next steps, and evaluate each to find the best step to execute. </a:t>
            </a:r>
          </a:p>
          <a:p>
            <a:r>
              <a:rPr lang="en-US"/>
              <a:t>The planning process is like search in a tree structure.  Therefore it can apply common search algorithm such as BFS or DFS. In addition, people extend tree structure into graph structures to make even more complicated plans. </a:t>
            </a:r>
          </a:p>
        </p:txBody>
      </p:sp>
      <p:sp>
        <p:nvSpPr>
          <p:cNvPr id="4" name="Slide Number Placeholder 3"/>
          <p:cNvSpPr>
            <a:spLocks noGrp="1"/>
          </p:cNvSpPr>
          <p:nvPr>
            <p:ph type="sldNum" sz="quarter" idx="5"/>
          </p:nvPr>
        </p:nvSpPr>
        <p:spPr/>
        <p:txBody>
          <a:bodyPr/>
          <a:lstStyle/>
          <a:p>
            <a:fld id="{E3F9F4BA-68A0-4A3E-B7AF-14E52697F56A}" type="slidenum">
              <a:rPr lang="en-US" smtClean="0"/>
              <a:pPr/>
              <a:t>6</a:t>
            </a:fld>
            <a:endParaRPr lang="en-US"/>
          </a:p>
        </p:txBody>
      </p:sp>
    </p:spTree>
    <p:extLst>
      <p:ext uri="{BB962C8B-B14F-4D97-AF65-F5344CB8AC3E}">
        <p14:creationId xmlns:p14="http://schemas.microsoft.com/office/powerpoint/2010/main" val="403432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LLM will hallucinate, and also it is not good at some tasks such as calculation, sometime it needs latest data from user, therefore planning without feedback would be difficult for these situations. Agent can talk to the environment to perform calculations, retrieve the latest data as well as ground with relevant truth.  That is why agent often plan with feedback from the environment. </a:t>
            </a:r>
          </a:p>
          <a:p>
            <a:endParaRPr lang="en-US"/>
          </a:p>
          <a:p>
            <a:r>
              <a:rPr lang="en-US"/>
              <a:t>The </a:t>
            </a:r>
            <a:r>
              <a:rPr lang="en-US" err="1"/>
              <a:t>ReACT</a:t>
            </a:r>
            <a:r>
              <a:rPr lang="en-US"/>
              <a:t> method is a basic method for planning with feedback. Since it needs feedback, it can only plan step by step. Each step, it would reason about the current state and generate action to interact with the env then receive observations from the env after the action. </a:t>
            </a:r>
          </a:p>
          <a:p>
            <a:endParaRPr lang="en-US"/>
          </a:p>
          <a:p>
            <a:r>
              <a:rPr lang="en-US"/>
              <a:t>It is one of the most commonly used planning method in agent. </a:t>
            </a:r>
          </a:p>
        </p:txBody>
      </p:sp>
      <p:sp>
        <p:nvSpPr>
          <p:cNvPr id="4" name="Slide Number Placeholder 3"/>
          <p:cNvSpPr>
            <a:spLocks noGrp="1"/>
          </p:cNvSpPr>
          <p:nvPr>
            <p:ph type="sldNum" sz="quarter" idx="5"/>
          </p:nvPr>
        </p:nvSpPr>
        <p:spPr/>
        <p:txBody>
          <a:bodyPr/>
          <a:lstStyle/>
          <a:p>
            <a:fld id="{E3F9F4BA-68A0-4A3E-B7AF-14E52697F56A}" type="slidenum">
              <a:rPr lang="en-US" smtClean="0"/>
              <a:t>7</a:t>
            </a:fld>
            <a:endParaRPr lang="en-US"/>
          </a:p>
        </p:txBody>
      </p:sp>
    </p:spTree>
    <p:extLst>
      <p:ext uri="{BB962C8B-B14F-4D97-AF65-F5344CB8AC3E}">
        <p14:creationId xmlns:p14="http://schemas.microsoft.com/office/powerpoint/2010/main" val="42829152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ReACT</a:t>
            </a:r>
            <a:r>
              <a:rPr lang="en-US"/>
              <a:t> feedback is only from env. It is reactively and did not fully leverage agent’s memory capability.</a:t>
            </a:r>
          </a:p>
          <a:p>
            <a:r>
              <a:rPr lang="en-US"/>
              <a:t>Self-reflection allows agent to learn feedback from accumulated experience. </a:t>
            </a:r>
          </a:p>
          <a:p>
            <a:r>
              <a:rPr lang="en-US"/>
              <a:t>What is accumulated experience? They are the conversation histories of previous agent prompts and interactions with env. Self-reflection can analyze these conversation history to come up with rules to improve the next experiment. These rules are saved in the long term experience memory for agent to use in the future. </a:t>
            </a:r>
          </a:p>
          <a:p>
            <a:endParaRPr lang="en-US"/>
          </a:p>
        </p:txBody>
      </p:sp>
      <p:sp>
        <p:nvSpPr>
          <p:cNvPr id="4" name="Slide Number Placeholder 3"/>
          <p:cNvSpPr>
            <a:spLocks noGrp="1"/>
          </p:cNvSpPr>
          <p:nvPr>
            <p:ph type="sldNum" sz="quarter" idx="5"/>
          </p:nvPr>
        </p:nvSpPr>
        <p:spPr/>
        <p:txBody>
          <a:bodyPr/>
          <a:lstStyle/>
          <a:p>
            <a:fld id="{E3F9F4BA-68A0-4A3E-B7AF-14E52697F56A}" type="slidenum">
              <a:rPr lang="en-US" smtClean="0"/>
              <a:pPr/>
              <a:t>8</a:t>
            </a:fld>
            <a:endParaRPr lang="en-US"/>
          </a:p>
        </p:txBody>
      </p:sp>
    </p:spTree>
    <p:extLst>
      <p:ext uri="{BB962C8B-B14F-4D97-AF65-F5344CB8AC3E}">
        <p14:creationId xmlns:p14="http://schemas.microsoft.com/office/powerpoint/2010/main" val="5878139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Memory is needed to help agent remember its state as well as to store experiences for self-reflection. </a:t>
            </a:r>
          </a:p>
          <a:p>
            <a:r>
              <a:rPr lang="en-US"/>
              <a:t>Here we briefly introduce some attributes of the memory. </a:t>
            </a:r>
          </a:p>
          <a:p>
            <a:r>
              <a:rPr lang="en-US"/>
              <a:t>First, how is memory implemented, </a:t>
            </a:r>
          </a:p>
          <a:p>
            <a:r>
              <a:rPr lang="en-US"/>
              <a:t>Second, what is the scope of the memory</a:t>
            </a:r>
          </a:p>
          <a:p>
            <a:r>
              <a:rPr lang="en-US"/>
              <a:t>And finally, what operations memory should support</a:t>
            </a:r>
          </a:p>
          <a:p>
            <a:endParaRPr lang="en-US"/>
          </a:p>
        </p:txBody>
      </p:sp>
      <p:sp>
        <p:nvSpPr>
          <p:cNvPr id="4" name="Slide Number Placeholder 3"/>
          <p:cNvSpPr>
            <a:spLocks noGrp="1"/>
          </p:cNvSpPr>
          <p:nvPr>
            <p:ph type="sldNum" sz="quarter" idx="5"/>
          </p:nvPr>
        </p:nvSpPr>
        <p:spPr/>
        <p:txBody>
          <a:bodyPr/>
          <a:lstStyle/>
          <a:p>
            <a:fld id="{E3F9F4BA-68A0-4A3E-B7AF-14E52697F56A}" type="slidenum">
              <a:rPr lang="en-US" smtClean="0"/>
              <a:pPr/>
              <a:t>9</a:t>
            </a:fld>
            <a:endParaRPr lang="en-US"/>
          </a:p>
        </p:txBody>
      </p:sp>
    </p:spTree>
    <p:extLst>
      <p:ext uri="{BB962C8B-B14F-4D97-AF65-F5344CB8AC3E}">
        <p14:creationId xmlns:p14="http://schemas.microsoft.com/office/powerpoint/2010/main" val="40883372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LLM is not good at many things, for example math</a:t>
            </a:r>
          </a:p>
          <a:p>
            <a:r>
              <a:rPr lang="en-US"/>
              <a:t>LLM can not interact with external env, need tools to do it</a:t>
            </a:r>
          </a:p>
          <a:p>
            <a:r>
              <a:rPr lang="en-US"/>
              <a:t>Modern LLMs have been trained to call tools when necessary if the tools are specified in the context </a:t>
            </a:r>
          </a:p>
          <a:p>
            <a:endParaRPr lang="en-US"/>
          </a:p>
          <a:p>
            <a:r>
              <a:rPr lang="en-US"/>
              <a:t>The procedure of calling Tools is like following: </a:t>
            </a:r>
          </a:p>
          <a:p>
            <a:r>
              <a:rPr lang="en-US"/>
              <a:t>First, second, third, lastly. </a:t>
            </a:r>
          </a:p>
          <a:p>
            <a:endParaRPr lang="en-US"/>
          </a:p>
          <a:p>
            <a:endParaRPr lang="en-US"/>
          </a:p>
        </p:txBody>
      </p:sp>
      <p:sp>
        <p:nvSpPr>
          <p:cNvPr id="4" name="Slide Number Placeholder 3"/>
          <p:cNvSpPr>
            <a:spLocks noGrp="1"/>
          </p:cNvSpPr>
          <p:nvPr>
            <p:ph type="sldNum" sz="quarter" idx="5"/>
          </p:nvPr>
        </p:nvSpPr>
        <p:spPr/>
        <p:txBody>
          <a:bodyPr/>
          <a:lstStyle/>
          <a:p>
            <a:fld id="{E3F9F4BA-68A0-4A3E-B7AF-14E52697F56A}" type="slidenum">
              <a:rPr lang="en-US" smtClean="0"/>
              <a:pPr/>
              <a:t>10</a:t>
            </a:fld>
            <a:endParaRPr lang="en-US"/>
          </a:p>
        </p:txBody>
      </p:sp>
    </p:spTree>
    <p:extLst>
      <p:ext uri="{BB962C8B-B14F-4D97-AF65-F5344CB8AC3E}">
        <p14:creationId xmlns:p14="http://schemas.microsoft.com/office/powerpoint/2010/main" val="23198752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Previously we discussed planning, memory and tools, which are components of a single agent</a:t>
            </a:r>
          </a:p>
          <a:p>
            <a:r>
              <a:rPr lang="en-US"/>
              <a:t>Agents can be connected together to form multi-agent system</a:t>
            </a:r>
          </a:p>
          <a:p>
            <a:r>
              <a:rPr lang="en-US"/>
              <a:t>For example, we can connect them and let them have conversation together. </a:t>
            </a:r>
          </a:p>
          <a:p>
            <a:r>
              <a:rPr lang="en-US"/>
              <a:t>LLM is trained with conversation skills, therefore, once connected there input and output, they can do free form conversation</a:t>
            </a:r>
          </a:p>
          <a:p>
            <a:r>
              <a:rPr lang="en-US"/>
              <a:t>This is an implicit task decomposition. We only ask each agent to behave like a specific role, then they will automatically accomplish the task collaboratively.</a:t>
            </a:r>
          </a:p>
          <a:p>
            <a:r>
              <a:rPr lang="en-US"/>
              <a:t>No need to explain example</a:t>
            </a:r>
          </a:p>
        </p:txBody>
      </p:sp>
      <p:sp>
        <p:nvSpPr>
          <p:cNvPr id="4" name="Slide Number Placeholder 3"/>
          <p:cNvSpPr>
            <a:spLocks noGrp="1"/>
          </p:cNvSpPr>
          <p:nvPr>
            <p:ph type="sldNum" sz="quarter" idx="5"/>
          </p:nvPr>
        </p:nvSpPr>
        <p:spPr/>
        <p:txBody>
          <a:bodyPr/>
          <a:lstStyle/>
          <a:p>
            <a:fld id="{E3F9F4BA-68A0-4A3E-B7AF-14E52697F56A}" type="slidenum">
              <a:rPr lang="en-US" smtClean="0"/>
              <a:pPr/>
              <a:t>11</a:t>
            </a:fld>
            <a:endParaRPr lang="en-US"/>
          </a:p>
        </p:txBody>
      </p:sp>
    </p:spTree>
    <p:extLst>
      <p:ext uri="{BB962C8B-B14F-4D97-AF65-F5344CB8AC3E}">
        <p14:creationId xmlns:p14="http://schemas.microsoft.com/office/powerpoint/2010/main" val="38645370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When there are more than two agent, usually there is a chat manager to direct conversation traffic. </a:t>
            </a:r>
          </a:p>
          <a:p>
            <a:r>
              <a:rPr lang="en-US"/>
              <a:t>The chat manager should be aware of role of each agent, and will take turn talk to each agent</a:t>
            </a:r>
          </a:p>
          <a:p>
            <a:r>
              <a:rPr lang="en-US"/>
              <a:t>It could use its own intelligence to decide which agent to talk to or you use predefined algorithm like round robin.</a:t>
            </a:r>
          </a:p>
          <a:p>
            <a:endParaRPr lang="en-US"/>
          </a:p>
          <a:p>
            <a:r>
              <a:rPr lang="en-US"/>
              <a:t>No need to explain example</a:t>
            </a:r>
          </a:p>
        </p:txBody>
      </p:sp>
      <p:sp>
        <p:nvSpPr>
          <p:cNvPr id="4" name="Slide Number Placeholder 3"/>
          <p:cNvSpPr>
            <a:spLocks noGrp="1"/>
          </p:cNvSpPr>
          <p:nvPr>
            <p:ph type="sldNum" sz="quarter" idx="5"/>
          </p:nvPr>
        </p:nvSpPr>
        <p:spPr/>
        <p:txBody>
          <a:bodyPr/>
          <a:lstStyle/>
          <a:p>
            <a:fld id="{E3F9F4BA-68A0-4A3E-B7AF-14E52697F56A}" type="slidenum">
              <a:rPr lang="en-US" smtClean="0"/>
              <a:pPr/>
              <a:t>12</a:t>
            </a:fld>
            <a:endParaRPr lang="en-US"/>
          </a:p>
        </p:txBody>
      </p:sp>
    </p:spTree>
    <p:extLst>
      <p:ext uri="{BB962C8B-B14F-4D97-AF65-F5344CB8AC3E}">
        <p14:creationId xmlns:p14="http://schemas.microsoft.com/office/powerpoint/2010/main" val="30299059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When we have specific plan to for the agent to execute,  we can connect agent according a predefined task flow</a:t>
            </a:r>
          </a:p>
          <a:p>
            <a:r>
              <a:rPr lang="en-US"/>
              <a:t>For example, a software development task include Design, coding and testing phases, and each phase might have some subtasks. The </a:t>
            </a:r>
            <a:r>
              <a:rPr lang="en-US" err="1"/>
              <a:t>taskflow</a:t>
            </a:r>
            <a:r>
              <a:rPr lang="en-US"/>
              <a:t> should follow the sequence of phases and sub tasks. </a:t>
            </a:r>
          </a:p>
          <a:p>
            <a:r>
              <a:rPr lang="en-US"/>
              <a:t>This is a form of explicit task decomposition. Unlike previous multi agent system which have its agents just talk to each other without explicit task definition for each agent. </a:t>
            </a:r>
          </a:p>
          <a:p>
            <a:r>
              <a:rPr lang="en-US"/>
              <a:t>You can even use these two methods together. For example, use two agents conversation to accomplish each subtask in the task flow. This is actually a common practice in agent design. </a:t>
            </a:r>
          </a:p>
        </p:txBody>
      </p:sp>
      <p:sp>
        <p:nvSpPr>
          <p:cNvPr id="4" name="Slide Number Placeholder 3"/>
          <p:cNvSpPr>
            <a:spLocks noGrp="1"/>
          </p:cNvSpPr>
          <p:nvPr>
            <p:ph type="sldNum" sz="quarter" idx="5"/>
          </p:nvPr>
        </p:nvSpPr>
        <p:spPr/>
        <p:txBody>
          <a:bodyPr/>
          <a:lstStyle/>
          <a:p>
            <a:fld id="{E3F9F4BA-68A0-4A3E-B7AF-14E52697F56A}" type="slidenum">
              <a:rPr lang="en-US" smtClean="0"/>
              <a:pPr/>
              <a:t>13</a:t>
            </a:fld>
            <a:endParaRPr lang="en-US"/>
          </a:p>
        </p:txBody>
      </p:sp>
    </p:spTree>
    <p:extLst>
      <p:ext uri="{BB962C8B-B14F-4D97-AF65-F5344CB8AC3E}">
        <p14:creationId xmlns:p14="http://schemas.microsoft.com/office/powerpoint/2010/main" val="16098067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Ok, we complete the introduction of key LLM agent concepts, let’s see some real use cases.</a:t>
            </a:r>
          </a:p>
          <a:p>
            <a:r>
              <a:rPr lang="en-US"/>
              <a:t>The first one is a simple use case. We will design an agent to analyze timing report. </a:t>
            </a:r>
          </a:p>
          <a:p>
            <a:r>
              <a:rPr lang="en-US"/>
              <a:t>This timing report includes information like :  corners, </a:t>
            </a:r>
            <a:r>
              <a:rPr lang="en-US" err="1"/>
              <a:t>datacode</a:t>
            </a:r>
            <a:r>
              <a:rPr lang="en-US"/>
              <a:t>, which is the timestamp of a particular timing run, and a list of timing metrics, including WNS, TNS, FEP and slack distributions. </a:t>
            </a:r>
          </a:p>
          <a:p>
            <a:r>
              <a:rPr lang="en-US"/>
              <a:t>The goal of this analysis is to identify which timing run has </a:t>
            </a:r>
            <a:r>
              <a:rPr lang="en-US" err="1"/>
              <a:t>betrer</a:t>
            </a:r>
            <a:r>
              <a:rPr lang="en-US"/>
              <a:t> timing </a:t>
            </a:r>
            <a:r>
              <a:rPr lang="en-US" err="1"/>
              <a:t>charistics</a:t>
            </a:r>
            <a:r>
              <a:rPr lang="en-US"/>
              <a:t>, and provide high level takeaways and design QoR </a:t>
            </a:r>
            <a:r>
              <a:rPr lang="en-US" err="1"/>
              <a:t>summarys</a:t>
            </a:r>
            <a:r>
              <a:rPr lang="en-US"/>
              <a:t> like this. </a:t>
            </a:r>
          </a:p>
        </p:txBody>
      </p:sp>
      <p:sp>
        <p:nvSpPr>
          <p:cNvPr id="4" name="Slide Number Placeholder 3"/>
          <p:cNvSpPr>
            <a:spLocks noGrp="1"/>
          </p:cNvSpPr>
          <p:nvPr>
            <p:ph type="sldNum" sz="quarter" idx="5"/>
          </p:nvPr>
        </p:nvSpPr>
        <p:spPr/>
        <p:txBody>
          <a:bodyPr/>
          <a:lstStyle/>
          <a:p>
            <a:fld id="{E3F9F4BA-68A0-4A3E-B7AF-14E52697F56A}" type="slidenum">
              <a:rPr lang="en-US" smtClean="0"/>
              <a:pPr/>
              <a:t>14</a:t>
            </a:fld>
            <a:endParaRPr lang="en-US"/>
          </a:p>
        </p:txBody>
      </p:sp>
    </p:spTree>
    <p:extLst>
      <p:ext uri="{BB962C8B-B14F-4D97-AF65-F5344CB8AC3E}">
        <p14:creationId xmlns:p14="http://schemas.microsoft.com/office/powerpoint/2010/main" val="33513784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Because LLM not good at math, we need to build some tools to help it. </a:t>
            </a:r>
          </a:p>
          <a:p>
            <a:r>
              <a:rPr lang="en-US"/>
              <a:t>The tools include a timing metric calculation tool which calculate the changes in one of the timing metrics, </a:t>
            </a:r>
          </a:p>
          <a:p>
            <a:r>
              <a:rPr lang="en-US"/>
              <a:t>The other tools is a slack distribution tool which calculate the changes in slack distribution</a:t>
            </a:r>
          </a:p>
          <a:p>
            <a:r>
              <a:rPr lang="en-US"/>
              <a:t>For planning, we use simple </a:t>
            </a:r>
            <a:r>
              <a:rPr lang="en-US" err="1"/>
              <a:t>CoT</a:t>
            </a:r>
            <a:r>
              <a:rPr lang="en-US"/>
              <a:t> and </a:t>
            </a:r>
            <a:r>
              <a:rPr lang="en-US" err="1"/>
              <a:t>ReACT</a:t>
            </a:r>
            <a:r>
              <a:rPr lang="en-US"/>
              <a:t>. The </a:t>
            </a:r>
            <a:r>
              <a:rPr lang="en-US" err="1"/>
              <a:t>CoT</a:t>
            </a:r>
            <a:r>
              <a:rPr lang="en-US"/>
              <a:t> instruct LLM to first , second, third, and finally … The </a:t>
            </a:r>
            <a:r>
              <a:rPr lang="en-US" err="1"/>
              <a:t>ReACT</a:t>
            </a:r>
            <a:r>
              <a:rPr lang="en-US"/>
              <a:t> will call the given tools based on </a:t>
            </a:r>
            <a:r>
              <a:rPr lang="en-US" err="1"/>
              <a:t>CoT</a:t>
            </a:r>
            <a:r>
              <a:rPr lang="en-US"/>
              <a:t> instruction. </a:t>
            </a:r>
          </a:p>
          <a:p>
            <a:r>
              <a:rPr lang="en-US"/>
              <a:t>Note that different planning methods are used, which is commonly used to ensure quality. </a:t>
            </a:r>
          </a:p>
          <a:p>
            <a:endParaRPr lang="en-US"/>
          </a:p>
        </p:txBody>
      </p:sp>
      <p:sp>
        <p:nvSpPr>
          <p:cNvPr id="4" name="Slide Number Placeholder 3"/>
          <p:cNvSpPr>
            <a:spLocks noGrp="1"/>
          </p:cNvSpPr>
          <p:nvPr>
            <p:ph type="sldNum" sz="quarter" idx="5"/>
          </p:nvPr>
        </p:nvSpPr>
        <p:spPr/>
        <p:txBody>
          <a:bodyPr/>
          <a:lstStyle/>
          <a:p>
            <a:fld id="{E3F9F4BA-68A0-4A3E-B7AF-14E52697F56A}" type="slidenum">
              <a:rPr lang="en-US" smtClean="0"/>
              <a:pPr/>
              <a:t>15</a:t>
            </a:fld>
            <a:endParaRPr lang="en-US"/>
          </a:p>
        </p:txBody>
      </p:sp>
    </p:spTree>
    <p:extLst>
      <p:ext uri="{BB962C8B-B14F-4D97-AF65-F5344CB8AC3E}">
        <p14:creationId xmlns:p14="http://schemas.microsoft.com/office/powerpoint/2010/main" val="30177058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second use case is kind of special, it tries to leverage LLM for design optimization. </a:t>
            </a:r>
          </a:p>
          <a:p>
            <a:r>
              <a:rPr lang="en-US"/>
              <a:t>We try to ask LLM to assist in finding optimal device cluster for standard cell layout. </a:t>
            </a:r>
          </a:p>
          <a:p>
            <a:r>
              <a:rPr lang="en-US"/>
              <a:t>Cell layout generator often leverage cluster constraint to optimize the layout. </a:t>
            </a:r>
          </a:p>
          <a:p>
            <a:r>
              <a:rPr lang="en-US"/>
              <a:t>different cluster definition can result in different layout. </a:t>
            </a:r>
          </a:p>
          <a:p>
            <a:r>
              <a:rPr lang="en-US"/>
              <a:t>Compared to the previous use case, It certainly requires a lot of more domain knowledge for LLM to do a good job</a:t>
            </a:r>
          </a:p>
          <a:p>
            <a:endParaRPr lang="en-US"/>
          </a:p>
        </p:txBody>
      </p:sp>
      <p:sp>
        <p:nvSpPr>
          <p:cNvPr id="4" name="Slide Number Placeholder 3"/>
          <p:cNvSpPr>
            <a:spLocks noGrp="1"/>
          </p:cNvSpPr>
          <p:nvPr>
            <p:ph type="sldNum" sz="quarter" idx="5"/>
          </p:nvPr>
        </p:nvSpPr>
        <p:spPr/>
        <p:txBody>
          <a:bodyPr/>
          <a:lstStyle/>
          <a:p>
            <a:fld id="{E3F9F4BA-68A0-4A3E-B7AF-14E52697F56A}" type="slidenum">
              <a:rPr lang="en-US" smtClean="0"/>
              <a:pPr/>
              <a:t>16</a:t>
            </a:fld>
            <a:endParaRPr lang="en-US"/>
          </a:p>
        </p:txBody>
      </p:sp>
    </p:spTree>
    <p:extLst>
      <p:ext uri="{BB962C8B-B14F-4D97-AF65-F5344CB8AC3E}">
        <p14:creationId xmlns:p14="http://schemas.microsoft.com/office/powerpoint/2010/main" val="511664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Therefore we will have an extensive knowledge extraction step in the agent flow. </a:t>
            </a:r>
          </a:p>
          <a:p>
            <a:r>
              <a:rPr lang="en-US"/>
              <a:t>Knowledge such as netlist topology, physical layout and previous </a:t>
            </a:r>
            <a:r>
              <a:rPr lang="en-US" err="1"/>
              <a:t>routability</a:t>
            </a:r>
            <a:r>
              <a:rPr lang="en-US"/>
              <a:t> results are extracted and provided to agent as context</a:t>
            </a:r>
          </a:p>
          <a:p>
            <a:r>
              <a:rPr lang="en-US"/>
              <a:t>For example, important and problematic nets are identified </a:t>
            </a:r>
          </a:p>
          <a:p>
            <a:r>
              <a:rPr lang="en-US"/>
              <a:t>With the knowledge, the agent will then use a regular </a:t>
            </a:r>
            <a:r>
              <a:rPr lang="en-US" err="1"/>
              <a:t>ReACT</a:t>
            </a:r>
            <a:r>
              <a:rPr lang="en-US"/>
              <a:t> flow to call customed tools to accomplish the task</a:t>
            </a:r>
          </a:p>
          <a:p>
            <a:r>
              <a:rPr lang="en-US"/>
              <a:t>Tools include analysis tools and memory related tools: The analysis tools will compute clustering score as feedback to the agent, as well as netlist analysis tools for agent to locate potential clusters, The memory related tools include tools to save a cluster proposal as well as tools to retrieve the best cluster found. </a:t>
            </a:r>
          </a:p>
          <a:p>
            <a:r>
              <a:rPr lang="en-US"/>
              <a:t>Achieved good results</a:t>
            </a:r>
          </a:p>
        </p:txBody>
      </p:sp>
      <p:sp>
        <p:nvSpPr>
          <p:cNvPr id="4" name="Slide Number Placeholder 3"/>
          <p:cNvSpPr>
            <a:spLocks noGrp="1"/>
          </p:cNvSpPr>
          <p:nvPr>
            <p:ph type="sldNum" sz="quarter" idx="5"/>
          </p:nvPr>
        </p:nvSpPr>
        <p:spPr/>
        <p:txBody>
          <a:bodyPr/>
          <a:lstStyle/>
          <a:p>
            <a:fld id="{E3F9F4BA-68A0-4A3E-B7AF-14E52697F56A}" type="slidenum">
              <a:rPr lang="en-US" smtClean="0"/>
              <a:pPr/>
              <a:t>17</a:t>
            </a:fld>
            <a:endParaRPr lang="en-US"/>
          </a:p>
        </p:txBody>
      </p:sp>
    </p:spTree>
    <p:extLst>
      <p:ext uri="{BB962C8B-B14F-4D97-AF65-F5344CB8AC3E}">
        <p14:creationId xmlns:p14="http://schemas.microsoft.com/office/powerpoint/2010/main" val="33840164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is an example on how agent is </a:t>
            </a:r>
            <a:r>
              <a:rPr lang="en-US" err="1"/>
              <a:t>leveraling</a:t>
            </a:r>
            <a:r>
              <a:rPr lang="en-US"/>
              <a:t> domain knowledge and tools to perform optimization. </a:t>
            </a:r>
          </a:p>
          <a:p>
            <a:r>
              <a:rPr lang="en-US"/>
              <a:t>First, the domain knowledge inform the agent, a particular net is important</a:t>
            </a:r>
          </a:p>
          <a:p>
            <a:r>
              <a:rPr lang="en-US"/>
              <a:t>Then  the agent thinks it should call a tool to analyze this net and its connected device</a:t>
            </a:r>
          </a:p>
          <a:p>
            <a:r>
              <a:rPr lang="en-US"/>
              <a:t>The tool will return the new clustering score to the agent, which will decide to either save this cluster proposal or </a:t>
            </a:r>
            <a:r>
              <a:rPr lang="en-US" err="1"/>
              <a:t>abandom</a:t>
            </a:r>
            <a:r>
              <a:rPr lang="en-US"/>
              <a:t> it.</a:t>
            </a:r>
          </a:p>
          <a:p>
            <a:r>
              <a:rPr lang="en-US"/>
              <a:t>It is interesting to see that the agent is able to reason through these tasks given only limited instructions on how to perform optimization. </a:t>
            </a:r>
          </a:p>
        </p:txBody>
      </p:sp>
      <p:sp>
        <p:nvSpPr>
          <p:cNvPr id="4" name="Slide Number Placeholder 3"/>
          <p:cNvSpPr>
            <a:spLocks noGrp="1"/>
          </p:cNvSpPr>
          <p:nvPr>
            <p:ph type="sldNum" sz="quarter" idx="5"/>
          </p:nvPr>
        </p:nvSpPr>
        <p:spPr/>
        <p:txBody>
          <a:bodyPr/>
          <a:lstStyle/>
          <a:p>
            <a:fld id="{E3F9F4BA-68A0-4A3E-B7AF-14E52697F56A}" type="slidenum">
              <a:rPr lang="en-US" smtClean="0"/>
              <a:pPr/>
              <a:t>18</a:t>
            </a:fld>
            <a:endParaRPr lang="en-US"/>
          </a:p>
        </p:txBody>
      </p:sp>
    </p:spTree>
    <p:extLst>
      <p:ext uri="{BB962C8B-B14F-4D97-AF65-F5344CB8AC3E}">
        <p14:creationId xmlns:p14="http://schemas.microsoft.com/office/powerpoint/2010/main" val="31128229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Finally, let’s revisit the Verilog generation use case, which gives super good results on </a:t>
            </a:r>
            <a:r>
              <a:rPr lang="en-US" err="1"/>
              <a:t>VerilogEVal</a:t>
            </a:r>
            <a:endParaRPr lang="en-US"/>
          </a:p>
          <a:p>
            <a:r>
              <a:rPr lang="en-US"/>
              <a:t>Compared to previous two use case, this is a more complicated use case. </a:t>
            </a:r>
          </a:p>
          <a:p>
            <a:r>
              <a:rPr lang="en-US"/>
              <a:t>It uses Multi agents, task flow, custom knowledge graph as well custom tools</a:t>
            </a:r>
          </a:p>
          <a:p>
            <a:r>
              <a:rPr lang="en-US"/>
              <a:t>At high level, it has two stages. it has a task planning stage and a Verilog code implementation stage. The planning stage will generate a plan with multiple tasks for the code implement stage to implement.  The planning stage leverages a custom knowledge graph called TCRG – task-driven circuit relation graph to generate detailed task specification, and the implementation stage leverages a tools called AST guided waveform debug tool to debug the mismatch. </a:t>
            </a:r>
          </a:p>
          <a:p>
            <a:r>
              <a:rPr lang="en-US"/>
              <a:t>Let’s look at details of each stage. </a:t>
            </a:r>
          </a:p>
        </p:txBody>
      </p:sp>
      <p:sp>
        <p:nvSpPr>
          <p:cNvPr id="4" name="Slide Number Placeholder 3"/>
          <p:cNvSpPr>
            <a:spLocks noGrp="1"/>
          </p:cNvSpPr>
          <p:nvPr>
            <p:ph type="sldNum" sz="quarter" idx="5"/>
          </p:nvPr>
        </p:nvSpPr>
        <p:spPr/>
        <p:txBody>
          <a:bodyPr/>
          <a:lstStyle/>
          <a:p>
            <a:fld id="{E3F9F4BA-68A0-4A3E-B7AF-14E52697F56A}" type="slidenum">
              <a:rPr lang="en-US" smtClean="0"/>
              <a:pPr/>
              <a:t>19</a:t>
            </a:fld>
            <a:endParaRPr lang="en-US"/>
          </a:p>
        </p:txBody>
      </p:sp>
    </p:spTree>
    <p:extLst>
      <p:ext uri="{BB962C8B-B14F-4D97-AF65-F5344CB8AC3E}">
        <p14:creationId xmlns:p14="http://schemas.microsoft.com/office/powerpoint/2010/main" val="12731874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task planning, first a two-agent system is used to generate task plan from specification</a:t>
            </a:r>
          </a:p>
          <a:p>
            <a:r>
              <a:rPr lang="en-US"/>
              <a:t>One agent is responsible for plan generation and another for verification</a:t>
            </a:r>
          </a:p>
          <a:p>
            <a:r>
              <a:rPr lang="en-US"/>
              <a:t>However, this generated plan is usually not detailed enough for accurate code generation, so we need to add more specifics from spec</a:t>
            </a:r>
          </a:p>
          <a:p>
            <a:r>
              <a:rPr lang="en-US"/>
              <a:t>This is accomplished by additional two agents, one will extract the relevant circuit information and build a TCRG graph</a:t>
            </a:r>
          </a:p>
          <a:p>
            <a:r>
              <a:rPr lang="en-US"/>
              <a:t>The other will relate the task with nodes in the graph and extract those nodes and add them as spec details to the task specification. </a:t>
            </a:r>
          </a:p>
          <a:p>
            <a:r>
              <a:rPr lang="en-US"/>
              <a:t>Now the task specification is more complete for the implementation stage.</a:t>
            </a:r>
          </a:p>
          <a:p>
            <a:endParaRPr lang="en-US"/>
          </a:p>
        </p:txBody>
      </p:sp>
      <p:sp>
        <p:nvSpPr>
          <p:cNvPr id="4" name="Slide Number Placeholder 3"/>
          <p:cNvSpPr>
            <a:spLocks noGrp="1"/>
          </p:cNvSpPr>
          <p:nvPr>
            <p:ph type="sldNum" sz="quarter" idx="5"/>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A93AD357-0C40-4436-9D38-C47D60C1C9C1}" type="slidenum">
              <a:rPr kumimoji="0" lang="en-US" sz="1200" b="0" i="0" u="none" strike="noStrike" kern="1200" cap="none" spc="0" normalizeH="0" baseline="0" noProof="0" smtClean="0">
                <a:ln>
                  <a:noFill/>
                </a:ln>
                <a:solidFill>
                  <a:prstClr val="black"/>
                </a:solidFill>
                <a:effectLst/>
                <a:uLnTx/>
                <a:uFillTx/>
                <a:latin typeface="NVIDIA Sans" panose="020B0503020203020204" pitchFamily="34" charset="0"/>
                <a:ea typeface="ＭＳ Ｐゴシック" pitchFamily="-16" charset="-128"/>
                <a:cs typeface="NVIDIA Sans" panose="020B0503020203020204" pitchFamily="34" charset="0"/>
              </a:rPr>
              <a:pPr marL="0" marR="0" lvl="0" indent="0" algn="l" defTabSz="4572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NVIDIA Sans" panose="020B0503020203020204" pitchFamily="34" charset="0"/>
              <a:ea typeface="ＭＳ Ｐゴシック" pitchFamily="-16" charset="-128"/>
              <a:cs typeface="NVIDIA Sans" panose="020B0503020203020204" pitchFamily="34" charset="0"/>
            </a:endParaRPr>
          </a:p>
        </p:txBody>
      </p:sp>
    </p:spTree>
    <p:extLst>
      <p:ext uri="{BB962C8B-B14F-4D97-AF65-F5344CB8AC3E}">
        <p14:creationId xmlns:p14="http://schemas.microsoft.com/office/powerpoint/2010/main" val="14577718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Given planed tasks, another two agent chat  is used to generate code. One of the agents writes the code, and the other one fixes Syntax error using an open-source Verilog simulator </a:t>
            </a:r>
            <a:r>
              <a:rPr lang="en-US" err="1"/>
              <a:t>iverilog</a:t>
            </a:r>
            <a:r>
              <a:rPr lang="en-US"/>
              <a:t>. Syntax checking is done with </a:t>
            </a:r>
            <a:r>
              <a:rPr lang="en-US" err="1"/>
              <a:t>ReACT</a:t>
            </a:r>
            <a:r>
              <a:rPr lang="en-US"/>
              <a:t>. </a:t>
            </a:r>
          </a:p>
          <a:p>
            <a:endParaRPr lang="en-US"/>
          </a:p>
          <a:p>
            <a:r>
              <a:rPr lang="en-US"/>
              <a:t>Once all the code generation sub tasks are complete, the complete Verilog code will be sent to the debug agent, which leverage </a:t>
            </a:r>
            <a:r>
              <a:rPr lang="en-US" err="1"/>
              <a:t>ReACT</a:t>
            </a:r>
            <a:r>
              <a:rPr lang="en-US"/>
              <a:t> and an AST-based waveform tracing tools to identify bug. </a:t>
            </a:r>
          </a:p>
        </p:txBody>
      </p:sp>
      <p:sp>
        <p:nvSpPr>
          <p:cNvPr id="4" name="Slide Number Placeholder 3"/>
          <p:cNvSpPr>
            <a:spLocks noGrp="1"/>
          </p:cNvSpPr>
          <p:nvPr>
            <p:ph type="sldNum" sz="quarter" idx="5"/>
          </p:nvPr>
        </p:nvSpPr>
        <p:spPr/>
        <p:txBody>
          <a:bodyPr/>
          <a:lstStyle/>
          <a:p>
            <a:fld id="{E3F9F4BA-68A0-4A3E-B7AF-14E52697F56A}" type="slidenum">
              <a:rPr lang="en-US" smtClean="0"/>
              <a:pPr/>
              <a:t>21</a:t>
            </a:fld>
            <a:endParaRPr lang="en-US"/>
          </a:p>
        </p:txBody>
      </p:sp>
    </p:spTree>
    <p:extLst>
      <p:ext uri="{BB962C8B-B14F-4D97-AF65-F5344CB8AC3E}">
        <p14:creationId xmlns:p14="http://schemas.microsoft.com/office/powerpoint/2010/main" val="46804979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is how the AST –guided waveform tracing tools works. </a:t>
            </a:r>
          </a:p>
          <a:p>
            <a:r>
              <a:rPr lang="en-US"/>
              <a:t>Given a simulation error, the AST analysis will figure out which signals cause the mismatch with golden answer,</a:t>
            </a:r>
          </a:p>
          <a:p>
            <a:r>
              <a:rPr lang="en-US"/>
              <a:t>It will then add the traces of those signals to the prompt and ask LLM to figure out a potential bug</a:t>
            </a:r>
          </a:p>
          <a:p>
            <a:r>
              <a:rPr lang="en-US"/>
              <a:t>If LLM can not find a potential bug, it will increase it AST search radius to find more signals to extract waveforms for analysis until the bug is resolved. </a:t>
            </a:r>
          </a:p>
        </p:txBody>
      </p:sp>
      <p:sp>
        <p:nvSpPr>
          <p:cNvPr id="4" name="Slide Number Placeholder 3"/>
          <p:cNvSpPr>
            <a:spLocks noGrp="1"/>
          </p:cNvSpPr>
          <p:nvPr>
            <p:ph type="sldNum" sz="quarter" idx="5"/>
          </p:nvPr>
        </p:nvSpPr>
        <p:spPr/>
        <p:txBody>
          <a:bodyPr/>
          <a:lstStyle/>
          <a:p>
            <a:fld id="{E3F9F4BA-68A0-4A3E-B7AF-14E52697F56A}" type="slidenum">
              <a:rPr lang="en-US" smtClean="0"/>
              <a:pPr/>
              <a:t>22</a:t>
            </a:fld>
            <a:endParaRPr lang="en-US"/>
          </a:p>
        </p:txBody>
      </p:sp>
    </p:spTree>
    <p:extLst>
      <p:ext uri="{BB962C8B-B14F-4D97-AF65-F5344CB8AC3E}">
        <p14:creationId xmlns:p14="http://schemas.microsoft.com/office/powerpoint/2010/main" val="21368115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I think as we scale system complexity from LLM to </a:t>
            </a:r>
            <a:r>
              <a:rPr lang="en-US" err="1"/>
              <a:t>singal</a:t>
            </a:r>
            <a:r>
              <a:rPr lang="en-US"/>
              <a:t> agent to multi agent, we notice </a:t>
            </a:r>
            <a:r>
              <a:rPr lang="en-US" err="1"/>
              <a:t>signicant</a:t>
            </a:r>
            <a:r>
              <a:rPr lang="en-US"/>
              <a:t> capability enhancements. So perhaps the future agent systems built with many agents as well customized tools would be capable of solving those hard problems. We can also aim to improve the efficiency of agent system by training domain specific models for agent to use, but these are future research topics. </a:t>
            </a:r>
          </a:p>
          <a:p>
            <a:endParaRPr lang="en-US"/>
          </a:p>
        </p:txBody>
      </p:sp>
      <p:sp>
        <p:nvSpPr>
          <p:cNvPr id="4" name="Slide Number Placeholder 3"/>
          <p:cNvSpPr>
            <a:spLocks noGrp="1"/>
          </p:cNvSpPr>
          <p:nvPr>
            <p:ph type="sldNum" sz="quarter" idx="5"/>
          </p:nvPr>
        </p:nvSpPr>
        <p:spPr/>
        <p:txBody>
          <a:bodyPr/>
          <a:lstStyle/>
          <a:p>
            <a:fld id="{A93AD357-0C40-4436-9D38-C47D60C1C9C1}" type="slidenum">
              <a:rPr lang="en-US" smtClean="0"/>
              <a:pPr/>
              <a:t>23</a:t>
            </a:fld>
            <a:endParaRPr lang="en-US"/>
          </a:p>
        </p:txBody>
      </p:sp>
    </p:spTree>
    <p:extLst>
      <p:ext uri="{BB962C8B-B14F-4D97-AF65-F5344CB8AC3E}">
        <p14:creationId xmlns:p14="http://schemas.microsoft.com/office/powerpoint/2010/main" val="35566036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166FB-8933-13B2-1D6D-22833A55F76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E3EF308-11D5-B498-CE42-640230C1BA6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EF209A1-C13B-70A2-DA67-A490C396B8C6}"/>
              </a:ext>
            </a:extLst>
          </p:cNvPr>
          <p:cNvSpPr>
            <a:spLocks noGrp="1"/>
          </p:cNvSpPr>
          <p:nvPr>
            <p:ph type="dt" sz="half" idx="10"/>
          </p:nvPr>
        </p:nvSpPr>
        <p:spPr/>
        <p:txBody>
          <a:bodyPr/>
          <a:lstStyle/>
          <a:p>
            <a:fld id="{7B34B67E-4802-4149-9DCA-55B2D26E04FB}" type="datetimeFigureOut">
              <a:rPr lang="en-US" smtClean="0"/>
              <a:t>8/27/2024</a:t>
            </a:fld>
            <a:endParaRPr lang="en-US"/>
          </a:p>
        </p:txBody>
      </p:sp>
      <p:sp>
        <p:nvSpPr>
          <p:cNvPr id="5" name="Footer Placeholder 4">
            <a:extLst>
              <a:ext uri="{FF2B5EF4-FFF2-40B4-BE49-F238E27FC236}">
                <a16:creationId xmlns:a16="http://schemas.microsoft.com/office/drawing/2014/main" id="{9A64BA67-DBE1-3B6B-E167-5A33124562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31E9FD-733C-A0AC-236D-7E799684A27F}"/>
              </a:ext>
            </a:extLst>
          </p:cNvPr>
          <p:cNvSpPr>
            <a:spLocks noGrp="1"/>
          </p:cNvSpPr>
          <p:nvPr>
            <p:ph type="sldNum" sz="quarter" idx="12"/>
          </p:nvPr>
        </p:nvSpPr>
        <p:spPr/>
        <p:txBody>
          <a:bodyPr/>
          <a:lstStyle/>
          <a:p>
            <a:fld id="{AFE0A023-3CE5-41B8-BFC0-AA81AEC4C60F}" type="slidenum">
              <a:rPr lang="en-US" smtClean="0"/>
              <a:t>‹#›</a:t>
            </a:fld>
            <a:endParaRPr lang="en-US"/>
          </a:p>
        </p:txBody>
      </p:sp>
    </p:spTree>
    <p:extLst>
      <p:ext uri="{BB962C8B-B14F-4D97-AF65-F5344CB8AC3E}">
        <p14:creationId xmlns:p14="http://schemas.microsoft.com/office/powerpoint/2010/main" val="18550396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47193-30CD-3757-C0F5-62FCEF240F9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AF92364-926B-A7BB-5B71-DDD880920F3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ECD560-1ADA-9A2E-14E6-53A6DB5A4DCE}"/>
              </a:ext>
            </a:extLst>
          </p:cNvPr>
          <p:cNvSpPr>
            <a:spLocks noGrp="1"/>
          </p:cNvSpPr>
          <p:nvPr>
            <p:ph type="dt" sz="half" idx="10"/>
          </p:nvPr>
        </p:nvSpPr>
        <p:spPr/>
        <p:txBody>
          <a:bodyPr/>
          <a:lstStyle/>
          <a:p>
            <a:fld id="{7B34B67E-4802-4149-9DCA-55B2D26E04FB}" type="datetimeFigureOut">
              <a:rPr lang="en-US" smtClean="0"/>
              <a:t>8/27/2024</a:t>
            </a:fld>
            <a:endParaRPr lang="en-US"/>
          </a:p>
        </p:txBody>
      </p:sp>
      <p:sp>
        <p:nvSpPr>
          <p:cNvPr id="5" name="Footer Placeholder 4">
            <a:extLst>
              <a:ext uri="{FF2B5EF4-FFF2-40B4-BE49-F238E27FC236}">
                <a16:creationId xmlns:a16="http://schemas.microsoft.com/office/drawing/2014/main" id="{900AED81-E16D-D400-A7D7-EEBCED6D57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EC517F-585A-9FA5-FB6A-EAFD354F6E22}"/>
              </a:ext>
            </a:extLst>
          </p:cNvPr>
          <p:cNvSpPr>
            <a:spLocks noGrp="1"/>
          </p:cNvSpPr>
          <p:nvPr>
            <p:ph type="sldNum" sz="quarter" idx="12"/>
          </p:nvPr>
        </p:nvSpPr>
        <p:spPr>
          <a:xfrm>
            <a:off x="8215545" y="6289482"/>
            <a:ext cx="2743200" cy="365125"/>
          </a:xfrm>
        </p:spPr>
        <p:txBody>
          <a:bodyPr/>
          <a:lstStyle/>
          <a:p>
            <a:fld id="{AFE0A023-3CE5-41B8-BFC0-AA81AEC4C60F}" type="slidenum">
              <a:rPr lang="en-US" smtClean="0"/>
              <a:t>‹#›</a:t>
            </a:fld>
            <a:endParaRPr lang="en-US"/>
          </a:p>
        </p:txBody>
      </p:sp>
    </p:spTree>
    <p:extLst>
      <p:ext uri="{BB962C8B-B14F-4D97-AF65-F5344CB8AC3E}">
        <p14:creationId xmlns:p14="http://schemas.microsoft.com/office/powerpoint/2010/main" val="14389580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F5642-75C0-59DE-6279-FDD91F5C5CA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65DC873-1EA9-4179-F796-A3EB011E2D9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107F366-1E13-840F-77D1-F8DC99F8C386}"/>
              </a:ext>
            </a:extLst>
          </p:cNvPr>
          <p:cNvSpPr>
            <a:spLocks noGrp="1"/>
          </p:cNvSpPr>
          <p:nvPr>
            <p:ph type="dt" sz="half" idx="10"/>
          </p:nvPr>
        </p:nvSpPr>
        <p:spPr/>
        <p:txBody>
          <a:bodyPr/>
          <a:lstStyle/>
          <a:p>
            <a:fld id="{7B34B67E-4802-4149-9DCA-55B2D26E04FB}" type="datetimeFigureOut">
              <a:rPr lang="en-US" smtClean="0"/>
              <a:t>8/27/2024</a:t>
            </a:fld>
            <a:endParaRPr lang="en-US"/>
          </a:p>
        </p:txBody>
      </p:sp>
      <p:sp>
        <p:nvSpPr>
          <p:cNvPr id="5" name="Footer Placeholder 4">
            <a:extLst>
              <a:ext uri="{FF2B5EF4-FFF2-40B4-BE49-F238E27FC236}">
                <a16:creationId xmlns:a16="http://schemas.microsoft.com/office/drawing/2014/main" id="{AFFABA28-6E62-FD02-B7D8-0A7A2AFAB1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0C947D-D8D3-FFC5-C816-DB69E852697A}"/>
              </a:ext>
            </a:extLst>
          </p:cNvPr>
          <p:cNvSpPr>
            <a:spLocks noGrp="1"/>
          </p:cNvSpPr>
          <p:nvPr>
            <p:ph type="sldNum" sz="quarter" idx="12"/>
          </p:nvPr>
        </p:nvSpPr>
        <p:spPr/>
        <p:txBody>
          <a:bodyPr/>
          <a:lstStyle/>
          <a:p>
            <a:fld id="{AFE0A023-3CE5-41B8-BFC0-AA81AEC4C60F}" type="slidenum">
              <a:rPr lang="en-US" smtClean="0"/>
              <a:t>‹#›</a:t>
            </a:fld>
            <a:endParaRPr lang="en-US"/>
          </a:p>
        </p:txBody>
      </p:sp>
    </p:spTree>
    <p:extLst>
      <p:ext uri="{BB962C8B-B14F-4D97-AF65-F5344CB8AC3E}">
        <p14:creationId xmlns:p14="http://schemas.microsoft.com/office/powerpoint/2010/main" val="8714997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ABBE8-9240-ECBE-97B0-0A4CE2D7C4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0ECB28C-206A-C292-0D42-E90A26CABBF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6A812A0-FE9B-8425-F74D-9B620C8037A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66885AD-476A-4DD2-B3AC-1F71BBC0202C}"/>
              </a:ext>
            </a:extLst>
          </p:cNvPr>
          <p:cNvSpPr>
            <a:spLocks noGrp="1"/>
          </p:cNvSpPr>
          <p:nvPr>
            <p:ph type="dt" sz="half" idx="10"/>
          </p:nvPr>
        </p:nvSpPr>
        <p:spPr/>
        <p:txBody>
          <a:bodyPr/>
          <a:lstStyle/>
          <a:p>
            <a:fld id="{7B34B67E-4802-4149-9DCA-55B2D26E04FB}" type="datetimeFigureOut">
              <a:rPr lang="en-US" smtClean="0"/>
              <a:t>8/27/2024</a:t>
            </a:fld>
            <a:endParaRPr lang="en-US"/>
          </a:p>
        </p:txBody>
      </p:sp>
      <p:sp>
        <p:nvSpPr>
          <p:cNvPr id="6" name="Footer Placeholder 5">
            <a:extLst>
              <a:ext uri="{FF2B5EF4-FFF2-40B4-BE49-F238E27FC236}">
                <a16:creationId xmlns:a16="http://schemas.microsoft.com/office/drawing/2014/main" id="{47D70EE4-7258-9DDA-B101-328F0BEE2F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982EE4-9858-6652-564B-07C9BDD58959}"/>
              </a:ext>
            </a:extLst>
          </p:cNvPr>
          <p:cNvSpPr>
            <a:spLocks noGrp="1"/>
          </p:cNvSpPr>
          <p:nvPr>
            <p:ph type="sldNum" sz="quarter" idx="12"/>
          </p:nvPr>
        </p:nvSpPr>
        <p:spPr/>
        <p:txBody>
          <a:bodyPr/>
          <a:lstStyle/>
          <a:p>
            <a:fld id="{AFE0A023-3CE5-41B8-BFC0-AA81AEC4C60F}" type="slidenum">
              <a:rPr lang="en-US" smtClean="0"/>
              <a:t>‹#›</a:t>
            </a:fld>
            <a:endParaRPr lang="en-US"/>
          </a:p>
        </p:txBody>
      </p:sp>
    </p:spTree>
    <p:extLst>
      <p:ext uri="{BB962C8B-B14F-4D97-AF65-F5344CB8AC3E}">
        <p14:creationId xmlns:p14="http://schemas.microsoft.com/office/powerpoint/2010/main" val="21556701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3D977-23D5-F095-E595-A8F5F1E4A43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97A99BE-222E-727D-3BD1-47CD6FCC28A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ACB8747-ABAC-040E-34F0-C87F2FE44E6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16FE2B-46E0-A2C0-24C5-72A0FF812D4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A589460-8973-35CA-C80F-0233D88CD2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1F35D54-17AC-E202-09B7-7822F43072DB}"/>
              </a:ext>
            </a:extLst>
          </p:cNvPr>
          <p:cNvSpPr>
            <a:spLocks noGrp="1"/>
          </p:cNvSpPr>
          <p:nvPr>
            <p:ph type="dt" sz="half" idx="10"/>
          </p:nvPr>
        </p:nvSpPr>
        <p:spPr/>
        <p:txBody>
          <a:bodyPr/>
          <a:lstStyle/>
          <a:p>
            <a:fld id="{7B34B67E-4802-4149-9DCA-55B2D26E04FB}" type="datetimeFigureOut">
              <a:rPr lang="en-US" smtClean="0"/>
              <a:t>8/27/2024</a:t>
            </a:fld>
            <a:endParaRPr lang="en-US"/>
          </a:p>
        </p:txBody>
      </p:sp>
      <p:sp>
        <p:nvSpPr>
          <p:cNvPr id="8" name="Footer Placeholder 7">
            <a:extLst>
              <a:ext uri="{FF2B5EF4-FFF2-40B4-BE49-F238E27FC236}">
                <a16:creationId xmlns:a16="http://schemas.microsoft.com/office/drawing/2014/main" id="{81987B6B-3607-27E1-069E-012E9C83866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BD9C8A5-269C-6636-86F7-22A4528BB1B0}"/>
              </a:ext>
            </a:extLst>
          </p:cNvPr>
          <p:cNvSpPr>
            <a:spLocks noGrp="1"/>
          </p:cNvSpPr>
          <p:nvPr>
            <p:ph type="sldNum" sz="quarter" idx="12"/>
          </p:nvPr>
        </p:nvSpPr>
        <p:spPr/>
        <p:txBody>
          <a:bodyPr/>
          <a:lstStyle/>
          <a:p>
            <a:fld id="{AFE0A023-3CE5-41B8-BFC0-AA81AEC4C60F}" type="slidenum">
              <a:rPr lang="en-US" smtClean="0"/>
              <a:t>‹#›</a:t>
            </a:fld>
            <a:endParaRPr lang="en-US"/>
          </a:p>
        </p:txBody>
      </p:sp>
    </p:spTree>
    <p:extLst>
      <p:ext uri="{BB962C8B-B14F-4D97-AF65-F5344CB8AC3E}">
        <p14:creationId xmlns:p14="http://schemas.microsoft.com/office/powerpoint/2010/main" val="42498218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2FCEB-A2F2-89ED-8271-98880F33BD3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CB702AD-72A3-7BF7-5357-84D3978B3401}"/>
              </a:ext>
            </a:extLst>
          </p:cNvPr>
          <p:cNvSpPr>
            <a:spLocks noGrp="1"/>
          </p:cNvSpPr>
          <p:nvPr>
            <p:ph type="dt" sz="half" idx="10"/>
          </p:nvPr>
        </p:nvSpPr>
        <p:spPr/>
        <p:txBody>
          <a:bodyPr/>
          <a:lstStyle/>
          <a:p>
            <a:fld id="{7B34B67E-4802-4149-9DCA-55B2D26E04FB}" type="datetimeFigureOut">
              <a:rPr lang="en-US" smtClean="0"/>
              <a:t>8/27/2024</a:t>
            </a:fld>
            <a:endParaRPr lang="en-US"/>
          </a:p>
        </p:txBody>
      </p:sp>
      <p:sp>
        <p:nvSpPr>
          <p:cNvPr id="4" name="Footer Placeholder 3">
            <a:extLst>
              <a:ext uri="{FF2B5EF4-FFF2-40B4-BE49-F238E27FC236}">
                <a16:creationId xmlns:a16="http://schemas.microsoft.com/office/drawing/2014/main" id="{93FE06A1-CE22-0F96-F0C4-13A05AB1EB1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269BE95-DAA8-365B-ABBC-E4B923FFBDDA}"/>
              </a:ext>
            </a:extLst>
          </p:cNvPr>
          <p:cNvSpPr>
            <a:spLocks noGrp="1"/>
          </p:cNvSpPr>
          <p:nvPr>
            <p:ph type="sldNum" sz="quarter" idx="12"/>
          </p:nvPr>
        </p:nvSpPr>
        <p:spPr/>
        <p:txBody>
          <a:bodyPr/>
          <a:lstStyle/>
          <a:p>
            <a:fld id="{AFE0A023-3CE5-41B8-BFC0-AA81AEC4C60F}" type="slidenum">
              <a:rPr lang="en-US" smtClean="0"/>
              <a:t>‹#›</a:t>
            </a:fld>
            <a:endParaRPr lang="en-US"/>
          </a:p>
        </p:txBody>
      </p:sp>
    </p:spTree>
    <p:extLst>
      <p:ext uri="{BB962C8B-B14F-4D97-AF65-F5344CB8AC3E}">
        <p14:creationId xmlns:p14="http://schemas.microsoft.com/office/powerpoint/2010/main" val="18434264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1C80675-3E06-5002-8C82-3C938E88EB6B}"/>
              </a:ext>
            </a:extLst>
          </p:cNvPr>
          <p:cNvSpPr>
            <a:spLocks noGrp="1"/>
          </p:cNvSpPr>
          <p:nvPr>
            <p:ph type="dt" sz="half" idx="10"/>
          </p:nvPr>
        </p:nvSpPr>
        <p:spPr/>
        <p:txBody>
          <a:bodyPr/>
          <a:lstStyle/>
          <a:p>
            <a:fld id="{7B34B67E-4802-4149-9DCA-55B2D26E04FB}" type="datetimeFigureOut">
              <a:rPr lang="en-US" smtClean="0"/>
              <a:t>8/27/2024</a:t>
            </a:fld>
            <a:endParaRPr lang="en-US"/>
          </a:p>
        </p:txBody>
      </p:sp>
      <p:sp>
        <p:nvSpPr>
          <p:cNvPr id="3" name="Footer Placeholder 2">
            <a:extLst>
              <a:ext uri="{FF2B5EF4-FFF2-40B4-BE49-F238E27FC236}">
                <a16:creationId xmlns:a16="http://schemas.microsoft.com/office/drawing/2014/main" id="{BFFD01E2-8B71-08CA-772C-532394E0659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163E2BF-98F9-7C02-81D7-59F50FF17B04}"/>
              </a:ext>
            </a:extLst>
          </p:cNvPr>
          <p:cNvSpPr>
            <a:spLocks noGrp="1"/>
          </p:cNvSpPr>
          <p:nvPr>
            <p:ph type="sldNum" sz="quarter" idx="12"/>
          </p:nvPr>
        </p:nvSpPr>
        <p:spPr/>
        <p:txBody>
          <a:bodyPr/>
          <a:lstStyle/>
          <a:p>
            <a:fld id="{AFE0A023-3CE5-41B8-BFC0-AA81AEC4C60F}" type="slidenum">
              <a:rPr lang="en-US" smtClean="0"/>
              <a:t>‹#›</a:t>
            </a:fld>
            <a:endParaRPr lang="en-US"/>
          </a:p>
        </p:txBody>
      </p:sp>
    </p:spTree>
    <p:extLst>
      <p:ext uri="{BB962C8B-B14F-4D97-AF65-F5344CB8AC3E}">
        <p14:creationId xmlns:p14="http://schemas.microsoft.com/office/powerpoint/2010/main" val="2845339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66FF6-2329-050E-FA56-FE397CB1CD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1865C95-D49B-0115-F2C3-739207D67C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EB08F80-7ACF-26A5-F33D-6909813C3D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6DF907-733A-33F1-9550-E2CE9456F730}"/>
              </a:ext>
            </a:extLst>
          </p:cNvPr>
          <p:cNvSpPr>
            <a:spLocks noGrp="1"/>
          </p:cNvSpPr>
          <p:nvPr>
            <p:ph type="dt" sz="half" idx="10"/>
          </p:nvPr>
        </p:nvSpPr>
        <p:spPr/>
        <p:txBody>
          <a:bodyPr/>
          <a:lstStyle/>
          <a:p>
            <a:fld id="{7B34B67E-4802-4149-9DCA-55B2D26E04FB}" type="datetimeFigureOut">
              <a:rPr lang="en-US" smtClean="0"/>
              <a:t>8/27/2024</a:t>
            </a:fld>
            <a:endParaRPr lang="en-US"/>
          </a:p>
        </p:txBody>
      </p:sp>
      <p:sp>
        <p:nvSpPr>
          <p:cNvPr id="6" name="Footer Placeholder 5">
            <a:extLst>
              <a:ext uri="{FF2B5EF4-FFF2-40B4-BE49-F238E27FC236}">
                <a16:creationId xmlns:a16="http://schemas.microsoft.com/office/drawing/2014/main" id="{0DEB9746-3A3A-8093-0F5E-ADEC1AF188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BAADA4-6A66-A415-FF52-09720860FCBA}"/>
              </a:ext>
            </a:extLst>
          </p:cNvPr>
          <p:cNvSpPr>
            <a:spLocks noGrp="1"/>
          </p:cNvSpPr>
          <p:nvPr>
            <p:ph type="sldNum" sz="quarter" idx="12"/>
          </p:nvPr>
        </p:nvSpPr>
        <p:spPr/>
        <p:txBody>
          <a:bodyPr/>
          <a:lstStyle/>
          <a:p>
            <a:fld id="{AFE0A023-3CE5-41B8-BFC0-AA81AEC4C60F}" type="slidenum">
              <a:rPr lang="en-US" smtClean="0"/>
              <a:t>‹#›</a:t>
            </a:fld>
            <a:endParaRPr lang="en-US"/>
          </a:p>
        </p:txBody>
      </p:sp>
    </p:spTree>
    <p:extLst>
      <p:ext uri="{BB962C8B-B14F-4D97-AF65-F5344CB8AC3E}">
        <p14:creationId xmlns:p14="http://schemas.microsoft.com/office/powerpoint/2010/main" val="33330901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2A455-782E-FD94-DEC5-BE9FAE0B74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056F07E-91D6-D8FD-C840-27C2F5B902E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C645C3E-364A-8416-778E-23FB190D86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052668-429F-CB67-4AEA-B478691735E7}"/>
              </a:ext>
            </a:extLst>
          </p:cNvPr>
          <p:cNvSpPr>
            <a:spLocks noGrp="1"/>
          </p:cNvSpPr>
          <p:nvPr>
            <p:ph type="dt" sz="half" idx="10"/>
          </p:nvPr>
        </p:nvSpPr>
        <p:spPr/>
        <p:txBody>
          <a:bodyPr/>
          <a:lstStyle/>
          <a:p>
            <a:fld id="{7B34B67E-4802-4149-9DCA-55B2D26E04FB}" type="datetimeFigureOut">
              <a:rPr lang="en-US" smtClean="0"/>
              <a:t>8/27/2024</a:t>
            </a:fld>
            <a:endParaRPr lang="en-US"/>
          </a:p>
        </p:txBody>
      </p:sp>
      <p:sp>
        <p:nvSpPr>
          <p:cNvPr id="6" name="Footer Placeholder 5">
            <a:extLst>
              <a:ext uri="{FF2B5EF4-FFF2-40B4-BE49-F238E27FC236}">
                <a16:creationId xmlns:a16="http://schemas.microsoft.com/office/drawing/2014/main" id="{CB8E44D5-86EB-F5D4-2FA1-BC7CBDA49FF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71D75D-8F23-7D16-B2CA-F3DD245623C6}"/>
              </a:ext>
            </a:extLst>
          </p:cNvPr>
          <p:cNvSpPr>
            <a:spLocks noGrp="1"/>
          </p:cNvSpPr>
          <p:nvPr>
            <p:ph type="sldNum" sz="quarter" idx="12"/>
          </p:nvPr>
        </p:nvSpPr>
        <p:spPr/>
        <p:txBody>
          <a:bodyPr/>
          <a:lstStyle/>
          <a:p>
            <a:fld id="{AFE0A023-3CE5-41B8-BFC0-AA81AEC4C60F}" type="slidenum">
              <a:rPr lang="en-US" smtClean="0"/>
              <a:t>‹#›</a:t>
            </a:fld>
            <a:endParaRPr lang="en-US"/>
          </a:p>
        </p:txBody>
      </p:sp>
    </p:spTree>
    <p:extLst>
      <p:ext uri="{BB962C8B-B14F-4D97-AF65-F5344CB8AC3E}">
        <p14:creationId xmlns:p14="http://schemas.microsoft.com/office/powerpoint/2010/main" val="3871602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09D92-6A55-E488-C47B-FBCED0E68DD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ACFEF88-8D48-D85D-46F4-871C7E03D7C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89BBAD-6F99-22EB-A74F-7AB229BA394D}"/>
              </a:ext>
            </a:extLst>
          </p:cNvPr>
          <p:cNvSpPr>
            <a:spLocks noGrp="1"/>
          </p:cNvSpPr>
          <p:nvPr>
            <p:ph type="dt" sz="half" idx="10"/>
          </p:nvPr>
        </p:nvSpPr>
        <p:spPr/>
        <p:txBody>
          <a:bodyPr/>
          <a:lstStyle/>
          <a:p>
            <a:fld id="{7B34B67E-4802-4149-9DCA-55B2D26E04FB}" type="datetimeFigureOut">
              <a:rPr lang="en-US" smtClean="0"/>
              <a:t>8/27/2024</a:t>
            </a:fld>
            <a:endParaRPr lang="en-US"/>
          </a:p>
        </p:txBody>
      </p:sp>
      <p:sp>
        <p:nvSpPr>
          <p:cNvPr id="5" name="Footer Placeholder 4">
            <a:extLst>
              <a:ext uri="{FF2B5EF4-FFF2-40B4-BE49-F238E27FC236}">
                <a16:creationId xmlns:a16="http://schemas.microsoft.com/office/drawing/2014/main" id="{7DAAFAA1-E467-4E6B-FAD0-62DECC5484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BFA3A9-8337-8043-1BDD-6CE66B8E8679}"/>
              </a:ext>
            </a:extLst>
          </p:cNvPr>
          <p:cNvSpPr>
            <a:spLocks noGrp="1"/>
          </p:cNvSpPr>
          <p:nvPr>
            <p:ph type="sldNum" sz="quarter" idx="12"/>
          </p:nvPr>
        </p:nvSpPr>
        <p:spPr/>
        <p:txBody>
          <a:bodyPr/>
          <a:lstStyle/>
          <a:p>
            <a:fld id="{AFE0A023-3CE5-41B8-BFC0-AA81AEC4C60F}" type="slidenum">
              <a:rPr lang="en-US" smtClean="0"/>
              <a:t>‹#›</a:t>
            </a:fld>
            <a:endParaRPr lang="en-US"/>
          </a:p>
        </p:txBody>
      </p:sp>
    </p:spTree>
    <p:extLst>
      <p:ext uri="{BB962C8B-B14F-4D97-AF65-F5344CB8AC3E}">
        <p14:creationId xmlns:p14="http://schemas.microsoft.com/office/powerpoint/2010/main" val="33650395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11A5B5-F151-91B9-1B8C-0198A2BF9AA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C1CF1B4-7712-FD49-4120-6DD2C120AA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C46CAB-3760-1DBB-87DE-96A7BCEB9305}"/>
              </a:ext>
            </a:extLst>
          </p:cNvPr>
          <p:cNvSpPr>
            <a:spLocks noGrp="1"/>
          </p:cNvSpPr>
          <p:nvPr>
            <p:ph type="dt" sz="half" idx="10"/>
          </p:nvPr>
        </p:nvSpPr>
        <p:spPr/>
        <p:txBody>
          <a:bodyPr/>
          <a:lstStyle/>
          <a:p>
            <a:fld id="{7B34B67E-4802-4149-9DCA-55B2D26E04FB}" type="datetimeFigureOut">
              <a:rPr lang="en-US" smtClean="0"/>
              <a:t>8/27/2024</a:t>
            </a:fld>
            <a:endParaRPr lang="en-US"/>
          </a:p>
        </p:txBody>
      </p:sp>
      <p:sp>
        <p:nvSpPr>
          <p:cNvPr id="5" name="Footer Placeholder 4">
            <a:extLst>
              <a:ext uri="{FF2B5EF4-FFF2-40B4-BE49-F238E27FC236}">
                <a16:creationId xmlns:a16="http://schemas.microsoft.com/office/drawing/2014/main" id="{92DBA83C-3657-D948-4F03-4F8AA7AA2B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575B0D-0787-2DBD-8CAA-C1A29AFA87BF}"/>
              </a:ext>
            </a:extLst>
          </p:cNvPr>
          <p:cNvSpPr>
            <a:spLocks noGrp="1"/>
          </p:cNvSpPr>
          <p:nvPr>
            <p:ph type="sldNum" sz="quarter" idx="12"/>
          </p:nvPr>
        </p:nvSpPr>
        <p:spPr/>
        <p:txBody>
          <a:bodyPr/>
          <a:lstStyle/>
          <a:p>
            <a:fld id="{AFE0A023-3CE5-41B8-BFC0-AA81AEC4C60F}" type="slidenum">
              <a:rPr lang="en-US" smtClean="0"/>
              <a:t>‹#›</a:t>
            </a:fld>
            <a:endParaRPr lang="en-US"/>
          </a:p>
        </p:txBody>
      </p:sp>
    </p:spTree>
    <p:extLst>
      <p:ext uri="{BB962C8B-B14F-4D97-AF65-F5344CB8AC3E}">
        <p14:creationId xmlns:p14="http://schemas.microsoft.com/office/powerpoint/2010/main" val="29815848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NFIDENTIAL">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0B5A3B7-671E-C83C-D30C-891E7AC206AA}"/>
              </a:ext>
            </a:extLst>
          </p:cNvPr>
          <p:cNvSpPr>
            <a:spLocks noGrp="1"/>
          </p:cNvSpPr>
          <p:nvPr>
            <p:ph type="title" hasCustomPrompt="1"/>
          </p:nvPr>
        </p:nvSpPr>
        <p:spPr>
          <a:xfrm>
            <a:off x="838200" y="0"/>
            <a:ext cx="10515600" cy="838200"/>
          </a:xfrm>
        </p:spPr>
        <p:txBody>
          <a:bodyPr/>
          <a:lstStyle>
            <a:lvl1pPr>
              <a:defRPr sz="2400" b="1" cap="none">
                <a:latin typeface="NVIDIA Sans" panose="020B0503020203020204" pitchFamily="34" charset="0"/>
                <a:cs typeface="NVIDIA Sans" panose="020B0503020203020204" pitchFamily="34" charset="0"/>
              </a:defRPr>
            </a:lvl1pPr>
          </a:lstStyle>
          <a:p>
            <a:r>
              <a:rPr lang="en-US"/>
              <a:t>Click To Add Title</a:t>
            </a:r>
          </a:p>
        </p:txBody>
      </p:sp>
      <p:sp>
        <p:nvSpPr>
          <p:cNvPr id="7" name="Text Placeholder 7">
            <a:extLst>
              <a:ext uri="{FF2B5EF4-FFF2-40B4-BE49-F238E27FC236}">
                <a16:creationId xmlns:a16="http://schemas.microsoft.com/office/drawing/2014/main" id="{B591E553-3F88-CE75-0B41-84F0FCE66A2F}"/>
              </a:ext>
            </a:extLst>
          </p:cNvPr>
          <p:cNvSpPr>
            <a:spLocks noGrp="1"/>
          </p:cNvSpPr>
          <p:nvPr>
            <p:ph type="body" sz="quarter" idx="10" hasCustomPrompt="1"/>
          </p:nvPr>
        </p:nvSpPr>
        <p:spPr>
          <a:xfrm>
            <a:off x="838200" y="829056"/>
            <a:ext cx="10515600" cy="469392"/>
          </a:xfrm>
          <a:prstGeom prst="rect">
            <a:avLst/>
          </a:prstGeom>
        </p:spPr>
        <p:txBody>
          <a:bodyPr/>
          <a:lstStyle>
            <a:lvl1pPr marL="0" indent="0" algn="ctr">
              <a:spcBef>
                <a:spcPts val="0"/>
              </a:spcBef>
              <a:buFontTx/>
              <a:buNone/>
              <a:defRPr sz="1600">
                <a:solidFill>
                  <a:schemeClr val="tx2"/>
                </a:solidFill>
                <a:latin typeface="NVIDIA Sans" panose="020B0503020203020204" pitchFamily="34" charset="0"/>
                <a:cs typeface="NVIDIA Sans" panose="020B0503020203020204" pitchFamily="34" charset="0"/>
              </a:defRPr>
            </a:lvl1pPr>
            <a:lvl2pPr marL="457154" indent="0" algn="ctr">
              <a:buFontTx/>
              <a:buNone/>
              <a:defRPr sz="1467">
                <a:latin typeface="NVIDIA Sans" panose="020B0503020203020204" pitchFamily="34" charset="0"/>
              </a:defRPr>
            </a:lvl2pPr>
            <a:lvl3pPr marL="914309" indent="0" algn="ctr">
              <a:buFontTx/>
              <a:buNone/>
              <a:defRPr sz="1467">
                <a:latin typeface="NVIDIA Sans" panose="020B0503020203020204" pitchFamily="34" charset="0"/>
              </a:defRPr>
            </a:lvl3pPr>
            <a:lvl4pPr marL="1371463" indent="0" algn="ctr">
              <a:buFontTx/>
              <a:buNone/>
              <a:defRPr sz="1467">
                <a:latin typeface="NVIDIA Sans" panose="020B0503020203020204" pitchFamily="34" charset="0"/>
              </a:defRPr>
            </a:lvl4pPr>
            <a:lvl5pPr marL="1828617" indent="0" algn="ctr">
              <a:buFontTx/>
              <a:buNone/>
              <a:defRPr sz="1467">
                <a:latin typeface="NVIDIA Sans" panose="020B0503020203020204" pitchFamily="34" charset="0"/>
              </a:defRPr>
            </a:lvl5pPr>
          </a:lstStyle>
          <a:p>
            <a:pPr lvl="0"/>
            <a:r>
              <a:rPr lang="en-US"/>
              <a:t>Click to add subtitle</a:t>
            </a:r>
          </a:p>
        </p:txBody>
      </p:sp>
      <p:sp>
        <p:nvSpPr>
          <p:cNvPr id="9" name="Content Placeholder 2">
            <a:extLst>
              <a:ext uri="{FF2B5EF4-FFF2-40B4-BE49-F238E27FC236}">
                <a16:creationId xmlns:a16="http://schemas.microsoft.com/office/drawing/2014/main" id="{D74C6155-7E24-522A-D9BC-0187CC5320D6}"/>
              </a:ext>
            </a:extLst>
          </p:cNvPr>
          <p:cNvSpPr>
            <a:spLocks noGrp="1"/>
          </p:cNvSpPr>
          <p:nvPr>
            <p:ph idx="1" hasCustomPrompt="1"/>
          </p:nvPr>
        </p:nvSpPr>
        <p:spPr>
          <a:xfrm>
            <a:off x="838200" y="1615440"/>
            <a:ext cx="10515600" cy="4550664"/>
          </a:xfrm>
          <a:prstGeom prst="rect">
            <a:avLst/>
          </a:prstGeom>
        </p:spPr>
        <p:txBody>
          <a:bodyPr/>
          <a:lstStyle>
            <a:lvl1pPr marL="152385" indent="-152385">
              <a:buClr>
                <a:schemeClr val="tx2"/>
              </a:buClr>
              <a:buFont typeface="NVIDIA Sans" panose="020B0503020203020204" pitchFamily="34" charset="0"/>
              <a:buChar char="•"/>
              <a:defRPr sz="1467">
                <a:solidFill>
                  <a:schemeClr val="bg1"/>
                </a:solidFill>
                <a:latin typeface="NVIDIA Sans" panose="020B0503020203020204" pitchFamily="34" charset="0"/>
                <a:cs typeface="NVIDIA Sans" panose="020B0503020203020204" pitchFamily="34" charset="0"/>
              </a:defRPr>
            </a:lvl1pPr>
            <a:lvl2pPr marL="457154" indent="-152385">
              <a:buClr>
                <a:schemeClr val="tx2"/>
              </a:buClr>
              <a:buFont typeface="NVIDIA Sans" panose="020B0503020203020204" pitchFamily="34" charset="0"/>
              <a:buChar char="•"/>
              <a:defRPr sz="1333">
                <a:solidFill>
                  <a:schemeClr val="bg1"/>
                </a:solidFill>
                <a:latin typeface="NVIDIA Sans" panose="020B0503020203020204" pitchFamily="34" charset="0"/>
                <a:cs typeface="NVIDIA Sans" panose="020B0503020203020204" pitchFamily="34" charset="0"/>
              </a:defRPr>
            </a:lvl2pPr>
            <a:lvl3pPr marL="761924" indent="-152385">
              <a:buClr>
                <a:schemeClr val="tx2"/>
              </a:buClr>
              <a:buFont typeface="NVIDIA Sans" panose="020B0503020203020204" pitchFamily="34" charset="0"/>
              <a:buChar char="•"/>
              <a:defRPr sz="1200">
                <a:solidFill>
                  <a:schemeClr val="bg1"/>
                </a:solidFill>
                <a:latin typeface="NVIDIA Sans" panose="020B0503020203020204" pitchFamily="34" charset="0"/>
                <a:cs typeface="NVIDIA Sans" panose="020B0503020203020204" pitchFamily="34" charset="0"/>
              </a:defRPr>
            </a:lvl3pPr>
            <a:lvl4pPr marL="1066693" indent="-152385">
              <a:buClr>
                <a:schemeClr val="tx2"/>
              </a:buClr>
              <a:buFont typeface="NVIDIA Sans" panose="020B0503020203020204" pitchFamily="34" charset="0"/>
              <a:buChar char="•"/>
              <a:defRPr sz="1067">
                <a:solidFill>
                  <a:schemeClr val="bg1"/>
                </a:solidFill>
                <a:latin typeface="NVIDIA Sans" panose="020B0503020203020204" pitchFamily="34" charset="0"/>
                <a:cs typeface="NVIDIA Sans" panose="020B0503020203020204" pitchFamily="34" charset="0"/>
              </a:defRPr>
            </a:lvl4pPr>
            <a:lvl5pPr marL="1351357" indent="-132278">
              <a:buClr>
                <a:schemeClr val="tx2"/>
              </a:buClr>
              <a:buFont typeface="NVIDIA Sans" panose="020B0503020203020204" pitchFamily="34" charset="0"/>
              <a:buChar char="•"/>
              <a:defRPr sz="933">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0" name="TextBox 9">
            <a:extLst>
              <a:ext uri="{FF2B5EF4-FFF2-40B4-BE49-F238E27FC236}">
                <a16:creationId xmlns:a16="http://schemas.microsoft.com/office/drawing/2014/main" id="{76E4777A-F626-7644-27B7-BFAC0B981393}"/>
              </a:ext>
            </a:extLst>
          </p:cNvPr>
          <p:cNvSpPr txBox="1"/>
          <p:nvPr userDrawn="1"/>
        </p:nvSpPr>
        <p:spPr>
          <a:xfrm>
            <a:off x="236162" y="6545262"/>
            <a:ext cx="2300630" cy="210379"/>
          </a:xfrm>
          <a:prstGeom prst="rect">
            <a:avLst/>
          </a:prstGeom>
          <a:noFill/>
        </p:spPr>
        <p:txBody>
          <a:bodyPr wrap="none" rtlCol="0">
            <a:spAutoFit/>
          </a:bodyPr>
          <a:lstStyle/>
          <a:p>
            <a:r>
              <a:rPr lang="en-US" sz="767">
                <a:solidFill>
                  <a:schemeClr val="bg1"/>
                </a:solidFill>
                <a:latin typeface="NVIDIA Sans Medium" panose="020B0603020203020204" pitchFamily="34" charset="0"/>
                <a:cs typeface="NVIDIA Sans Medium" panose="020B0603020203020204" pitchFamily="34" charset="0"/>
              </a:rPr>
              <a:t>NVIDIA CONFIDENTIAL. DO NOT DISTRIBUTE.</a:t>
            </a:r>
          </a:p>
        </p:txBody>
      </p:sp>
      <p:sp>
        <p:nvSpPr>
          <p:cNvPr id="2" name="Slide Number Placeholder 1">
            <a:extLst>
              <a:ext uri="{FF2B5EF4-FFF2-40B4-BE49-F238E27FC236}">
                <a16:creationId xmlns:a16="http://schemas.microsoft.com/office/drawing/2014/main" id="{BECA672C-09E9-359D-33AE-8BC37142DB9D}"/>
              </a:ext>
            </a:extLst>
          </p:cNvPr>
          <p:cNvSpPr>
            <a:spLocks noGrp="1"/>
          </p:cNvSpPr>
          <p:nvPr>
            <p:ph type="sldNum" sz="quarter" idx="11"/>
          </p:nvPr>
        </p:nvSpPr>
        <p:spPr/>
        <p:txBody>
          <a:bodyPr/>
          <a:lstStyle>
            <a:lvl1pPr>
              <a:defRPr sz="1067">
                <a:solidFill>
                  <a:schemeClr val="bg1"/>
                </a:solidFill>
              </a:defRPr>
            </a:lvl1pPr>
          </a:lstStyle>
          <a:p>
            <a:fld id="{421EF27D-D1EF-455B-BDE7-A9DA1BB417D6}" type="slidenum">
              <a:rPr lang="en-US" smtClean="0"/>
              <a:pPr/>
              <a:t>‹#›</a:t>
            </a:fld>
            <a:endParaRPr lang="en-US"/>
          </a:p>
        </p:txBody>
      </p:sp>
    </p:spTree>
    <p:extLst>
      <p:ext uri="{BB962C8B-B14F-4D97-AF65-F5344CB8AC3E}">
        <p14:creationId xmlns:p14="http://schemas.microsoft.com/office/powerpoint/2010/main" val="69038260"/>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6939" y="303402"/>
            <a:ext cx="9267825" cy="677108"/>
          </a:xfrm>
          <a:prstGeom prst="rect">
            <a:avLst/>
          </a:prstGeom>
        </p:spPr>
        <p:txBody>
          <a:bodyPr wrap="square" lIns="0" tIns="0" rIns="0" bIns="0">
            <a:spAutoFit/>
          </a:bodyPr>
          <a:lstStyle>
            <a:lvl1pPr>
              <a:defRPr sz="4400" b="0" i="0">
                <a:solidFill>
                  <a:srgbClr val="205F9A"/>
                </a:solidFill>
                <a:latin typeface="NVIDIA Sans" panose="020B0503020203020204" pitchFamily="34" charset="0"/>
                <a:cs typeface="NVIDIA Sans" panose="020B0503020203020204" pitchFamily="34" charset="0"/>
              </a:defRPr>
            </a:lvl1pPr>
          </a:lstStyle>
          <a:p>
            <a:endParaRPr/>
          </a:p>
        </p:txBody>
      </p:sp>
      <p:sp>
        <p:nvSpPr>
          <p:cNvPr id="3" name="Holder 3"/>
          <p:cNvSpPr>
            <a:spLocks noGrp="1"/>
          </p:cNvSpPr>
          <p:nvPr>
            <p:ph type="subTitle" idx="4"/>
          </p:nvPr>
        </p:nvSpPr>
        <p:spPr>
          <a:xfrm>
            <a:off x="1828800" y="3840480"/>
            <a:ext cx="8534400" cy="430887"/>
          </a:xfrm>
          <a:prstGeom prst="rect">
            <a:avLst/>
          </a:prstGeom>
        </p:spPr>
        <p:txBody>
          <a:bodyPr wrap="square" lIns="0" tIns="0" rIns="0" bIns="0">
            <a:spAutoFit/>
          </a:bodyPr>
          <a:lstStyle>
            <a:lvl1pPr>
              <a:defRPr sz="2800" b="0" i="0">
                <a:solidFill>
                  <a:schemeClr val="tx1"/>
                </a:solidFill>
                <a:latin typeface="NVIDIA Sans" panose="020B0503020203020204" pitchFamily="34" charset="0"/>
                <a:cs typeface="NVIDIA Sans" panose="020B0503020203020204" pitchFamily="34" charset="0"/>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8/27/2024</a:t>
            </a:fld>
            <a:endParaRPr lang="en-US"/>
          </a:p>
        </p:txBody>
      </p:sp>
      <p:sp>
        <p:nvSpPr>
          <p:cNvPr id="7" name="Holder 6">
            <a:extLst>
              <a:ext uri="{FF2B5EF4-FFF2-40B4-BE49-F238E27FC236}">
                <a16:creationId xmlns:a16="http://schemas.microsoft.com/office/drawing/2014/main" id="{EF0D3A0E-3A64-C615-C017-C6B88AEFBC3E}"/>
              </a:ext>
            </a:extLst>
          </p:cNvPr>
          <p:cNvSpPr>
            <a:spLocks noGrp="1"/>
          </p:cNvSpPr>
          <p:nvPr>
            <p:ph type="sldNum" sz="quarter" idx="10"/>
          </p:nvPr>
        </p:nvSpPr>
        <p:spPr>
          <a:xfrm>
            <a:off x="10671288" y="6395919"/>
            <a:ext cx="251586" cy="211454"/>
          </a:xfrm>
          <a:prstGeom prst="rect">
            <a:avLst/>
          </a:prstGeom>
        </p:spPr>
        <p:txBody>
          <a:bodyPr lIns="0" tIns="0" rIns="0" bIns="0"/>
          <a:lstStyle>
            <a:lvl1pPr>
              <a:defRPr sz="1200" b="0" i="0">
                <a:solidFill>
                  <a:srgbClr val="767676"/>
                </a:solidFill>
                <a:latin typeface="NVIDIA Sans" panose="020B0503020203020204" pitchFamily="34" charset="0"/>
                <a:cs typeface="NVIDIA Sans" panose="020B0503020203020204" pitchFamily="34" charset="0"/>
              </a:defRPr>
            </a:lvl1pPr>
          </a:lstStyle>
          <a:p>
            <a:pPr marL="118745">
              <a:spcBef>
                <a:spcPts val="25"/>
              </a:spcBef>
            </a:pPr>
            <a:fld id="{81D60167-4931-47E6-BA6A-407CBD079E47}" type="slidenum">
              <a:rPr lang="en-US" spc="-50" smtClean="0"/>
              <a:pPr marL="118745">
                <a:spcBef>
                  <a:spcPts val="25"/>
                </a:spcBef>
              </a:pPr>
              <a:t>‹#›</a:t>
            </a:fld>
            <a:endParaRPr lang="en-US" spc="-50"/>
          </a:p>
        </p:txBody>
      </p:sp>
    </p:spTree>
    <p:extLst>
      <p:ext uri="{BB962C8B-B14F-4D97-AF65-F5344CB8AC3E}">
        <p14:creationId xmlns:p14="http://schemas.microsoft.com/office/powerpoint/2010/main" val="33848379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rgbClr val="205F9A"/>
                </a:solidFill>
                <a:latin typeface="NVIDIA Sans" panose="020B0503020203020204" pitchFamily="34" charset="0"/>
                <a:cs typeface="NVIDIA Sans" panose="020B0503020203020204" pitchFamily="34" charset="0"/>
              </a:defRPr>
            </a:lvl1pPr>
          </a:lstStyle>
          <a:p>
            <a:endParaRPr/>
          </a:p>
        </p:txBody>
      </p:sp>
      <p:sp>
        <p:nvSpPr>
          <p:cNvPr id="3" name="Holder 3"/>
          <p:cNvSpPr>
            <a:spLocks noGrp="1"/>
          </p:cNvSpPr>
          <p:nvPr>
            <p:ph type="body" idx="1"/>
          </p:nvPr>
        </p:nvSpPr>
        <p:spPr/>
        <p:txBody>
          <a:bodyPr lIns="0" tIns="0" rIns="0" bIns="0"/>
          <a:lstStyle>
            <a:lvl1pPr>
              <a:defRPr sz="2800" b="0" i="0">
                <a:solidFill>
                  <a:schemeClr val="tx1"/>
                </a:solidFill>
                <a:latin typeface="NVIDIA Sans" panose="020B0503020203020204" pitchFamily="34" charset="0"/>
                <a:cs typeface="NVIDIA Sans" panose="020B0503020203020204" pitchFamily="34" charset="0"/>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8/27/2024</a:t>
            </a:fld>
            <a:endParaRPr lang="en-US"/>
          </a:p>
        </p:txBody>
      </p:sp>
      <p:grpSp>
        <p:nvGrpSpPr>
          <p:cNvPr id="7" name="Group 6">
            <a:extLst>
              <a:ext uri="{FF2B5EF4-FFF2-40B4-BE49-F238E27FC236}">
                <a16:creationId xmlns:a16="http://schemas.microsoft.com/office/drawing/2014/main" id="{9B7357EB-75BD-BDE9-A4BA-5D64BAB5BE17}"/>
              </a:ext>
            </a:extLst>
          </p:cNvPr>
          <p:cNvGrpSpPr>
            <a:grpSpLocks noChangeAspect="1"/>
          </p:cNvGrpSpPr>
          <p:nvPr userDrawn="1"/>
        </p:nvGrpSpPr>
        <p:grpSpPr>
          <a:xfrm>
            <a:off x="11020890" y="6309360"/>
            <a:ext cx="1171110" cy="548640"/>
            <a:chOff x="34227677" y="19504414"/>
            <a:chExt cx="2348323" cy="1072783"/>
          </a:xfrm>
        </p:grpSpPr>
        <p:sp>
          <p:nvSpPr>
            <p:cNvPr id="8" name="Rectangle 7">
              <a:extLst>
                <a:ext uri="{FF2B5EF4-FFF2-40B4-BE49-F238E27FC236}">
                  <a16:creationId xmlns:a16="http://schemas.microsoft.com/office/drawing/2014/main" id="{9AB96415-4782-D733-E526-1409ADB5432A}"/>
                </a:ext>
              </a:extLst>
            </p:cNvPr>
            <p:cNvSpPr/>
            <p:nvPr userDrawn="1"/>
          </p:nvSpPr>
          <p:spPr>
            <a:xfrm>
              <a:off x="36420552" y="19687526"/>
              <a:ext cx="155448" cy="889671"/>
            </a:xfrm>
            <a:prstGeom prst="rect">
              <a:avLst/>
            </a:prstGeom>
            <a:solidFill>
              <a:srgbClr val="76B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pic>
          <p:nvPicPr>
            <p:cNvPr id="9" name="Picture 8" descr="A picture containing shape&#10;&#10;Description automatically generated">
              <a:extLst>
                <a:ext uri="{FF2B5EF4-FFF2-40B4-BE49-F238E27FC236}">
                  <a16:creationId xmlns:a16="http://schemas.microsoft.com/office/drawing/2014/main" id="{51878B2A-823A-F703-CE86-8B3C2EA7EA5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4227677" y="19504414"/>
              <a:ext cx="2003439" cy="690238"/>
            </a:xfrm>
            <a:prstGeom prst="rect">
              <a:avLst/>
            </a:prstGeom>
          </p:spPr>
        </p:pic>
      </p:grpSp>
      <p:sp>
        <p:nvSpPr>
          <p:cNvPr id="10" name="Holder 6">
            <a:extLst>
              <a:ext uri="{FF2B5EF4-FFF2-40B4-BE49-F238E27FC236}">
                <a16:creationId xmlns:a16="http://schemas.microsoft.com/office/drawing/2014/main" id="{4A999D7F-5727-4202-A481-D34622201E95}"/>
              </a:ext>
            </a:extLst>
          </p:cNvPr>
          <p:cNvSpPr>
            <a:spLocks noGrp="1"/>
          </p:cNvSpPr>
          <p:nvPr>
            <p:ph type="sldNum" sz="quarter" idx="4"/>
          </p:nvPr>
        </p:nvSpPr>
        <p:spPr>
          <a:xfrm>
            <a:off x="10671288" y="6395919"/>
            <a:ext cx="251586" cy="211454"/>
          </a:xfrm>
          <a:prstGeom prst="rect">
            <a:avLst/>
          </a:prstGeom>
        </p:spPr>
        <p:txBody>
          <a:bodyPr lIns="0" tIns="0" rIns="0" bIns="0"/>
          <a:lstStyle>
            <a:lvl1pPr>
              <a:defRPr sz="1200" b="0" i="0">
                <a:solidFill>
                  <a:srgbClr val="767676"/>
                </a:solidFill>
                <a:latin typeface="NVIDIA Sans" panose="020B0503020203020204" pitchFamily="34" charset="0"/>
                <a:cs typeface="NVIDIA Sans" panose="020B0503020203020204" pitchFamily="34" charset="0"/>
              </a:defRPr>
            </a:lvl1pPr>
          </a:lstStyle>
          <a:p>
            <a:pPr marL="118745">
              <a:spcBef>
                <a:spcPts val="25"/>
              </a:spcBef>
            </a:pPr>
            <a:fld id="{81D60167-4931-47E6-BA6A-407CBD079E47}" type="slidenum">
              <a:rPr lang="en-US" spc="-50" smtClean="0"/>
              <a:pPr marL="118745">
                <a:spcBef>
                  <a:spcPts val="25"/>
                </a:spcBef>
              </a:pPr>
              <a:t>‹#›</a:t>
            </a:fld>
            <a:endParaRPr lang="en-US" spc="-50"/>
          </a:p>
        </p:txBody>
      </p:sp>
    </p:spTree>
    <p:extLst>
      <p:ext uri="{BB962C8B-B14F-4D97-AF65-F5344CB8AC3E}">
        <p14:creationId xmlns:p14="http://schemas.microsoft.com/office/powerpoint/2010/main" val="13959769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rgbClr val="205F9A"/>
                </a:solidFill>
                <a:latin typeface="NVIDIA Sans" panose="020B0503020203020204" pitchFamily="34" charset="0"/>
                <a:cs typeface="NVIDIA Sans" panose="020B0503020203020204" pitchFamily="34" charset="0"/>
              </a:defRPr>
            </a:lvl1pPr>
          </a:lstStyle>
          <a:p>
            <a:endParaRPr/>
          </a:p>
        </p:txBody>
      </p:sp>
      <p:sp>
        <p:nvSpPr>
          <p:cNvPr id="3" name="Holder 3"/>
          <p:cNvSpPr>
            <a:spLocks noGrp="1"/>
          </p:cNvSpPr>
          <p:nvPr>
            <p:ph sz="half" idx="2"/>
          </p:nvPr>
        </p:nvSpPr>
        <p:spPr>
          <a:xfrm>
            <a:off x="609600" y="1577340"/>
            <a:ext cx="5303520" cy="430887"/>
          </a:xfrm>
          <a:prstGeom prst="rect">
            <a:avLst/>
          </a:prstGeom>
        </p:spPr>
        <p:txBody>
          <a:bodyPr wrap="square" lIns="0" tIns="0" rIns="0" bIns="0">
            <a:spAutoFit/>
          </a:bodyPr>
          <a:lstStyle>
            <a:lvl1pPr>
              <a:defRPr>
                <a:latin typeface="NVIDIA Sans" panose="020B0503020203020204" pitchFamily="34" charset="0"/>
                <a:cs typeface="NVIDIA Sans" panose="020B0503020203020204" pitchFamily="34" charset="0"/>
              </a:defRPr>
            </a:lvl1pPr>
          </a:lstStyle>
          <a:p>
            <a:endParaRPr/>
          </a:p>
        </p:txBody>
      </p:sp>
      <p:sp>
        <p:nvSpPr>
          <p:cNvPr id="4" name="Holder 4"/>
          <p:cNvSpPr>
            <a:spLocks noGrp="1"/>
          </p:cNvSpPr>
          <p:nvPr>
            <p:ph sz="half" idx="3"/>
          </p:nvPr>
        </p:nvSpPr>
        <p:spPr>
          <a:xfrm>
            <a:off x="6278880" y="1577340"/>
            <a:ext cx="5303520" cy="430887"/>
          </a:xfrm>
          <a:prstGeom prst="rect">
            <a:avLst/>
          </a:prstGeom>
        </p:spPr>
        <p:txBody>
          <a:bodyPr wrap="square" lIns="0" tIns="0" rIns="0" bIns="0">
            <a:spAutoFit/>
          </a:bodyPr>
          <a:lstStyle>
            <a:lvl1pPr>
              <a:defRPr>
                <a:latin typeface="NVIDIA Sans" panose="020B0503020203020204" pitchFamily="34" charset="0"/>
                <a:cs typeface="NVIDIA Sans" panose="020B0503020203020204" pitchFamily="34" charset="0"/>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8/27/2024</a:t>
            </a:fld>
            <a:endParaRPr lang="en-US"/>
          </a:p>
        </p:txBody>
      </p:sp>
      <p:sp>
        <p:nvSpPr>
          <p:cNvPr id="9" name="Holder 6">
            <a:extLst>
              <a:ext uri="{FF2B5EF4-FFF2-40B4-BE49-F238E27FC236}">
                <a16:creationId xmlns:a16="http://schemas.microsoft.com/office/drawing/2014/main" id="{9B484C86-708C-6F9F-61DD-160D2E40C757}"/>
              </a:ext>
            </a:extLst>
          </p:cNvPr>
          <p:cNvSpPr>
            <a:spLocks noGrp="1"/>
          </p:cNvSpPr>
          <p:nvPr>
            <p:ph type="sldNum" sz="quarter" idx="4"/>
          </p:nvPr>
        </p:nvSpPr>
        <p:spPr>
          <a:xfrm>
            <a:off x="10671288" y="6395919"/>
            <a:ext cx="251586" cy="211454"/>
          </a:xfrm>
          <a:prstGeom prst="rect">
            <a:avLst/>
          </a:prstGeom>
        </p:spPr>
        <p:txBody>
          <a:bodyPr lIns="0" tIns="0" rIns="0" bIns="0"/>
          <a:lstStyle>
            <a:lvl1pPr>
              <a:defRPr sz="1200" b="0" i="0">
                <a:solidFill>
                  <a:srgbClr val="767676"/>
                </a:solidFill>
                <a:latin typeface="NVIDIA Sans" panose="020B0503020203020204" pitchFamily="34" charset="0"/>
                <a:cs typeface="NVIDIA Sans" panose="020B0503020203020204" pitchFamily="34" charset="0"/>
              </a:defRPr>
            </a:lvl1pPr>
          </a:lstStyle>
          <a:p>
            <a:pPr marL="118745">
              <a:spcBef>
                <a:spcPts val="25"/>
              </a:spcBef>
            </a:pPr>
            <a:fld id="{81D60167-4931-47E6-BA6A-407CBD079E47}" type="slidenum">
              <a:rPr lang="en-US" spc="-50" smtClean="0"/>
              <a:pPr marL="118745">
                <a:spcBef>
                  <a:spcPts val="25"/>
                </a:spcBef>
              </a:pPr>
              <a:t>‹#›</a:t>
            </a:fld>
            <a:endParaRPr lang="en-US" spc="-50"/>
          </a:p>
        </p:txBody>
      </p:sp>
    </p:spTree>
    <p:extLst>
      <p:ext uri="{BB962C8B-B14F-4D97-AF65-F5344CB8AC3E}">
        <p14:creationId xmlns:p14="http://schemas.microsoft.com/office/powerpoint/2010/main" val="17942178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rgbClr val="205F9A"/>
                </a:solidFill>
                <a:latin typeface="NVIDIA Sans" panose="020B0503020203020204" pitchFamily="34" charset="0"/>
                <a:cs typeface="NVIDIA Sans" panose="020B0503020203020204" pitchFamily="34" charset="0"/>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8/27/2024</a:t>
            </a:fld>
            <a:endParaRPr lang="en-US"/>
          </a:p>
        </p:txBody>
      </p:sp>
      <p:sp>
        <p:nvSpPr>
          <p:cNvPr id="7" name="Holder 6">
            <a:extLst>
              <a:ext uri="{FF2B5EF4-FFF2-40B4-BE49-F238E27FC236}">
                <a16:creationId xmlns:a16="http://schemas.microsoft.com/office/drawing/2014/main" id="{F63A1143-7D5B-F1E0-AD39-AEA744A68823}"/>
              </a:ext>
            </a:extLst>
          </p:cNvPr>
          <p:cNvSpPr>
            <a:spLocks noGrp="1"/>
          </p:cNvSpPr>
          <p:nvPr>
            <p:ph type="sldNum" sz="quarter" idx="4"/>
          </p:nvPr>
        </p:nvSpPr>
        <p:spPr>
          <a:xfrm>
            <a:off x="10671288" y="6395919"/>
            <a:ext cx="251586" cy="211454"/>
          </a:xfrm>
          <a:prstGeom prst="rect">
            <a:avLst/>
          </a:prstGeom>
        </p:spPr>
        <p:txBody>
          <a:bodyPr lIns="0" tIns="0" rIns="0" bIns="0"/>
          <a:lstStyle>
            <a:lvl1pPr>
              <a:defRPr sz="1200" b="0" i="0">
                <a:solidFill>
                  <a:srgbClr val="767676"/>
                </a:solidFill>
                <a:latin typeface="NVIDIA Sans" panose="020B0503020203020204" pitchFamily="34" charset="0"/>
                <a:cs typeface="NVIDIA Sans" panose="020B0503020203020204" pitchFamily="34" charset="0"/>
              </a:defRPr>
            </a:lvl1pPr>
          </a:lstStyle>
          <a:p>
            <a:pPr marL="118745">
              <a:spcBef>
                <a:spcPts val="25"/>
              </a:spcBef>
            </a:pPr>
            <a:fld id="{81D60167-4931-47E6-BA6A-407CBD079E47}" type="slidenum">
              <a:rPr lang="en-US" spc="-50" smtClean="0"/>
              <a:pPr marL="118745">
                <a:spcBef>
                  <a:spcPts val="25"/>
                </a:spcBef>
              </a:pPr>
              <a:t>‹#›</a:t>
            </a:fld>
            <a:endParaRPr lang="en-US" spc="-50"/>
          </a:p>
        </p:txBody>
      </p:sp>
    </p:spTree>
    <p:extLst>
      <p:ext uri="{BB962C8B-B14F-4D97-AF65-F5344CB8AC3E}">
        <p14:creationId xmlns:p14="http://schemas.microsoft.com/office/powerpoint/2010/main" val="31109599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8/27/2024</a:t>
            </a:fld>
            <a:endParaRPr lang="en-US"/>
          </a:p>
        </p:txBody>
      </p:sp>
      <p:sp>
        <p:nvSpPr>
          <p:cNvPr id="6" name="Holder 6">
            <a:extLst>
              <a:ext uri="{FF2B5EF4-FFF2-40B4-BE49-F238E27FC236}">
                <a16:creationId xmlns:a16="http://schemas.microsoft.com/office/drawing/2014/main" id="{2455A3EA-8240-2CBB-7CD4-7B89711FE109}"/>
              </a:ext>
            </a:extLst>
          </p:cNvPr>
          <p:cNvSpPr>
            <a:spLocks noGrp="1"/>
          </p:cNvSpPr>
          <p:nvPr>
            <p:ph type="sldNum" sz="quarter" idx="4"/>
          </p:nvPr>
        </p:nvSpPr>
        <p:spPr>
          <a:xfrm>
            <a:off x="10671288" y="6395919"/>
            <a:ext cx="251586" cy="211454"/>
          </a:xfrm>
          <a:prstGeom prst="rect">
            <a:avLst/>
          </a:prstGeom>
        </p:spPr>
        <p:txBody>
          <a:bodyPr lIns="0" tIns="0" rIns="0" bIns="0"/>
          <a:lstStyle>
            <a:lvl1pPr>
              <a:defRPr sz="1200" b="0" i="0">
                <a:solidFill>
                  <a:srgbClr val="767676"/>
                </a:solidFill>
                <a:latin typeface="NVIDIA Sans" panose="020B0503020203020204" pitchFamily="34" charset="0"/>
                <a:cs typeface="NVIDIA Sans" panose="020B0503020203020204" pitchFamily="34" charset="0"/>
              </a:defRPr>
            </a:lvl1pPr>
          </a:lstStyle>
          <a:p>
            <a:pPr marL="118745">
              <a:spcBef>
                <a:spcPts val="25"/>
              </a:spcBef>
            </a:pPr>
            <a:fld id="{81D60167-4931-47E6-BA6A-407CBD079E47}" type="slidenum">
              <a:rPr lang="en-US" spc="-50" smtClean="0"/>
              <a:pPr marL="118745">
                <a:spcBef>
                  <a:spcPts val="25"/>
                </a:spcBef>
              </a:pPr>
              <a:t>‹#›</a:t>
            </a:fld>
            <a:endParaRPr lang="en-US" spc="-50"/>
          </a:p>
        </p:txBody>
      </p:sp>
    </p:spTree>
    <p:extLst>
      <p:ext uri="{BB962C8B-B14F-4D97-AF65-F5344CB8AC3E}">
        <p14:creationId xmlns:p14="http://schemas.microsoft.com/office/powerpoint/2010/main" val="10827731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7" Type="http://schemas.openxmlformats.org/officeDocument/2006/relationships/image" Target="../media/image1.png"/><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theme" Target="../theme/theme2.xml"/><Relationship Id="rId5" Type="http://schemas.openxmlformats.org/officeDocument/2006/relationships/slideLayout" Target="../slideLayouts/slideLayout17.xml"/><Relationship Id="rId4"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B2F508-28D5-9E61-5D84-0E864B4A34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E778B1C-D8A9-2684-5B02-85554EDBAC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C5134F-E6E2-6CB3-D0E5-1289B808E97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latin typeface="NVIDIA Sans" panose="020B0503020203020204" pitchFamily="34" charset="0"/>
              </a:defRPr>
            </a:lvl1pPr>
          </a:lstStyle>
          <a:p>
            <a:fld id="{7B34B67E-4802-4149-9DCA-55B2D26E04FB}" type="datetimeFigureOut">
              <a:rPr lang="en-US" smtClean="0"/>
              <a:pPr/>
              <a:t>8/27/2024</a:t>
            </a:fld>
            <a:endParaRPr lang="en-US"/>
          </a:p>
        </p:txBody>
      </p:sp>
      <p:sp>
        <p:nvSpPr>
          <p:cNvPr id="5" name="Footer Placeholder 4">
            <a:extLst>
              <a:ext uri="{FF2B5EF4-FFF2-40B4-BE49-F238E27FC236}">
                <a16:creationId xmlns:a16="http://schemas.microsoft.com/office/drawing/2014/main" id="{F8FA383D-1B95-50B1-FB0E-7E71D9C7320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latin typeface="NVIDIA Sans" panose="020B0503020203020204" pitchFamily="34" charset="0"/>
              </a:defRPr>
            </a:lvl1pPr>
          </a:lstStyle>
          <a:p>
            <a:endParaRPr lang="en-US"/>
          </a:p>
        </p:txBody>
      </p:sp>
      <p:sp>
        <p:nvSpPr>
          <p:cNvPr id="6" name="Slide Number Placeholder 5">
            <a:extLst>
              <a:ext uri="{FF2B5EF4-FFF2-40B4-BE49-F238E27FC236}">
                <a16:creationId xmlns:a16="http://schemas.microsoft.com/office/drawing/2014/main" id="{2A1CF730-69DB-16EA-7C7B-3073E4DD520C}"/>
              </a:ext>
            </a:extLst>
          </p:cNvPr>
          <p:cNvSpPr>
            <a:spLocks noGrp="1"/>
          </p:cNvSpPr>
          <p:nvPr>
            <p:ph type="sldNum" sz="quarter" idx="4"/>
          </p:nvPr>
        </p:nvSpPr>
        <p:spPr>
          <a:xfrm>
            <a:off x="8183218" y="6310312"/>
            <a:ext cx="2743200" cy="365125"/>
          </a:xfrm>
          <a:prstGeom prst="rect">
            <a:avLst/>
          </a:prstGeom>
        </p:spPr>
        <p:txBody>
          <a:bodyPr vert="horz" lIns="91440" tIns="45720" rIns="91440" bIns="45720" rtlCol="0" anchor="ctr"/>
          <a:lstStyle>
            <a:lvl1pPr algn="r">
              <a:defRPr sz="1200">
                <a:solidFill>
                  <a:schemeClr val="tx1">
                    <a:tint val="82000"/>
                  </a:schemeClr>
                </a:solidFill>
                <a:latin typeface="NVIDIA Sans" panose="020B0503020203020204" pitchFamily="34" charset="0"/>
              </a:defRPr>
            </a:lvl1pPr>
          </a:lstStyle>
          <a:p>
            <a:fld id="{AFE0A023-3CE5-41B8-BFC0-AA81AEC4C60F}" type="slidenum">
              <a:rPr lang="en-US" smtClean="0"/>
              <a:pPr/>
              <a:t>‹#›</a:t>
            </a:fld>
            <a:endParaRPr lang="en-US"/>
          </a:p>
        </p:txBody>
      </p:sp>
      <p:grpSp>
        <p:nvGrpSpPr>
          <p:cNvPr id="7" name="Group 6">
            <a:extLst>
              <a:ext uri="{FF2B5EF4-FFF2-40B4-BE49-F238E27FC236}">
                <a16:creationId xmlns:a16="http://schemas.microsoft.com/office/drawing/2014/main" id="{5C35C9DF-2DCD-A628-E9FB-64983EB10968}"/>
              </a:ext>
            </a:extLst>
          </p:cNvPr>
          <p:cNvGrpSpPr>
            <a:grpSpLocks noChangeAspect="1"/>
          </p:cNvGrpSpPr>
          <p:nvPr userDrawn="1"/>
        </p:nvGrpSpPr>
        <p:grpSpPr>
          <a:xfrm>
            <a:off x="11020890" y="6309360"/>
            <a:ext cx="1171110" cy="548640"/>
            <a:chOff x="34227677" y="19504414"/>
            <a:chExt cx="2348323" cy="1072783"/>
          </a:xfrm>
        </p:grpSpPr>
        <p:sp>
          <p:nvSpPr>
            <p:cNvPr id="8" name="Rectangle 7">
              <a:extLst>
                <a:ext uri="{FF2B5EF4-FFF2-40B4-BE49-F238E27FC236}">
                  <a16:creationId xmlns:a16="http://schemas.microsoft.com/office/drawing/2014/main" id="{110EA018-3AF6-BC94-130B-21E0C5A50960}"/>
                </a:ext>
              </a:extLst>
            </p:cNvPr>
            <p:cNvSpPr/>
            <p:nvPr userDrawn="1"/>
          </p:nvSpPr>
          <p:spPr>
            <a:xfrm>
              <a:off x="36420552" y="19687526"/>
              <a:ext cx="155448" cy="889671"/>
            </a:xfrm>
            <a:prstGeom prst="rect">
              <a:avLst/>
            </a:prstGeom>
            <a:solidFill>
              <a:srgbClr val="76B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pic>
          <p:nvPicPr>
            <p:cNvPr id="9" name="Picture 8" descr="A picture containing shape&#10;&#10;Description automatically generated">
              <a:extLst>
                <a:ext uri="{FF2B5EF4-FFF2-40B4-BE49-F238E27FC236}">
                  <a16:creationId xmlns:a16="http://schemas.microsoft.com/office/drawing/2014/main" id="{1AE5DC22-46D2-91E3-2D98-08EEF1388C59}"/>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34227677" y="19504414"/>
              <a:ext cx="2003439" cy="690238"/>
            </a:xfrm>
            <a:prstGeom prst="rect">
              <a:avLst/>
            </a:prstGeom>
          </p:spPr>
        </p:pic>
      </p:grpSp>
    </p:spTree>
    <p:extLst>
      <p:ext uri="{BB962C8B-B14F-4D97-AF65-F5344CB8AC3E}">
        <p14:creationId xmlns:p14="http://schemas.microsoft.com/office/powerpoint/2010/main" val="12681951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NVIDIA Sans" panose="020B0503020203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NVIDIA Sans" panose="020B0503020203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NVIDIA Sans" panose="020B0503020203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NVIDIA Sans" panose="020B0503020203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NVIDIA Sans" panose="020B0503020203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NVIDIA Sans" panose="020B0503020203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916939" y="605155"/>
            <a:ext cx="10222230" cy="696594"/>
          </a:xfrm>
          <a:prstGeom prst="rect">
            <a:avLst/>
          </a:prstGeom>
        </p:spPr>
        <p:txBody>
          <a:bodyPr wrap="square" lIns="0" tIns="0" rIns="0" bIns="0">
            <a:spAutoFit/>
          </a:bodyPr>
          <a:lstStyle>
            <a:lvl1pPr>
              <a:defRPr sz="4400" b="0" i="0">
                <a:solidFill>
                  <a:srgbClr val="205F9A"/>
                </a:solidFill>
                <a:latin typeface="Calibri"/>
                <a:cs typeface="Calibri"/>
              </a:defRPr>
            </a:lvl1pPr>
          </a:lstStyle>
          <a:p>
            <a:endParaRPr/>
          </a:p>
        </p:txBody>
      </p:sp>
      <p:sp>
        <p:nvSpPr>
          <p:cNvPr id="3" name="Holder 3"/>
          <p:cNvSpPr>
            <a:spLocks noGrp="1"/>
          </p:cNvSpPr>
          <p:nvPr>
            <p:ph type="body" idx="1"/>
          </p:nvPr>
        </p:nvSpPr>
        <p:spPr>
          <a:xfrm>
            <a:off x="916939" y="1707917"/>
            <a:ext cx="10250805" cy="430887"/>
          </a:xfrm>
          <a:prstGeom prst="rect">
            <a:avLst/>
          </a:prstGeom>
        </p:spPr>
        <p:txBody>
          <a:bodyPr wrap="square" lIns="0" tIns="0" rIns="0" bIns="0">
            <a:spAutoFit/>
          </a:bodyPr>
          <a:lstStyle>
            <a:lvl1pPr>
              <a:defRPr sz="28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8/27/2024</a:t>
            </a:fld>
            <a:endParaRPr lang="en-US"/>
          </a:p>
        </p:txBody>
      </p:sp>
      <p:grpSp>
        <p:nvGrpSpPr>
          <p:cNvPr id="8" name="Group 7">
            <a:extLst>
              <a:ext uri="{FF2B5EF4-FFF2-40B4-BE49-F238E27FC236}">
                <a16:creationId xmlns:a16="http://schemas.microsoft.com/office/drawing/2014/main" id="{C68A37BE-990A-C8C0-73CC-645924B2F5E6}"/>
              </a:ext>
            </a:extLst>
          </p:cNvPr>
          <p:cNvGrpSpPr>
            <a:grpSpLocks noChangeAspect="1"/>
          </p:cNvGrpSpPr>
          <p:nvPr userDrawn="1"/>
        </p:nvGrpSpPr>
        <p:grpSpPr>
          <a:xfrm>
            <a:off x="11020890" y="6309360"/>
            <a:ext cx="1171110" cy="548640"/>
            <a:chOff x="34227677" y="19504414"/>
            <a:chExt cx="2348323" cy="1072783"/>
          </a:xfrm>
        </p:grpSpPr>
        <p:sp>
          <p:nvSpPr>
            <p:cNvPr id="9" name="Rectangle 8">
              <a:extLst>
                <a:ext uri="{FF2B5EF4-FFF2-40B4-BE49-F238E27FC236}">
                  <a16:creationId xmlns:a16="http://schemas.microsoft.com/office/drawing/2014/main" id="{D6578F1E-5DD6-1D79-C6D2-E186793D0A94}"/>
                </a:ext>
              </a:extLst>
            </p:cNvPr>
            <p:cNvSpPr/>
            <p:nvPr userDrawn="1"/>
          </p:nvSpPr>
          <p:spPr>
            <a:xfrm>
              <a:off x="36420552" y="19687526"/>
              <a:ext cx="155448" cy="889671"/>
            </a:xfrm>
            <a:prstGeom prst="rect">
              <a:avLst/>
            </a:prstGeom>
            <a:solidFill>
              <a:srgbClr val="76B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pic>
          <p:nvPicPr>
            <p:cNvPr id="10" name="Picture 9" descr="A picture containing shape&#10;&#10;Description automatically generated">
              <a:extLst>
                <a:ext uri="{FF2B5EF4-FFF2-40B4-BE49-F238E27FC236}">
                  <a16:creationId xmlns:a16="http://schemas.microsoft.com/office/drawing/2014/main" id="{0F1D8256-55A2-A0FD-7D5F-493F681B98C9}"/>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34227677" y="19504414"/>
              <a:ext cx="2003439" cy="690238"/>
            </a:xfrm>
            <a:prstGeom prst="rect">
              <a:avLst/>
            </a:prstGeom>
          </p:spPr>
        </p:pic>
      </p:grpSp>
      <p:sp>
        <p:nvSpPr>
          <p:cNvPr id="11" name="Holder 6">
            <a:extLst>
              <a:ext uri="{FF2B5EF4-FFF2-40B4-BE49-F238E27FC236}">
                <a16:creationId xmlns:a16="http://schemas.microsoft.com/office/drawing/2014/main" id="{9AE19EAB-3C35-5DB4-88CB-D5B338902899}"/>
              </a:ext>
            </a:extLst>
          </p:cNvPr>
          <p:cNvSpPr>
            <a:spLocks noGrp="1"/>
          </p:cNvSpPr>
          <p:nvPr>
            <p:ph type="sldNum" sz="quarter" idx="4"/>
          </p:nvPr>
        </p:nvSpPr>
        <p:spPr>
          <a:xfrm>
            <a:off x="10671288" y="6395919"/>
            <a:ext cx="251586" cy="211454"/>
          </a:xfrm>
          <a:prstGeom prst="rect">
            <a:avLst/>
          </a:prstGeom>
        </p:spPr>
        <p:txBody>
          <a:bodyPr lIns="0" tIns="0" rIns="0" bIns="0"/>
          <a:lstStyle>
            <a:lvl1pPr>
              <a:defRPr sz="1200" b="0" i="0">
                <a:solidFill>
                  <a:srgbClr val="767676"/>
                </a:solidFill>
                <a:latin typeface="NVIDIA Sans" panose="020B0503020203020204" pitchFamily="34" charset="0"/>
                <a:cs typeface="NVIDIA Sans" panose="020B0503020203020204" pitchFamily="34" charset="0"/>
              </a:defRPr>
            </a:lvl1pPr>
          </a:lstStyle>
          <a:p>
            <a:pPr marL="118745">
              <a:spcBef>
                <a:spcPts val="25"/>
              </a:spcBef>
            </a:pPr>
            <a:fld id="{81D60167-4931-47E6-BA6A-407CBD079E47}" type="slidenum">
              <a:rPr lang="en-US" spc="-50" smtClean="0"/>
              <a:pPr marL="118745">
                <a:spcBef>
                  <a:spcPts val="25"/>
                </a:spcBef>
              </a:pPr>
              <a:t>‹#›</a:t>
            </a:fld>
            <a:endParaRPr lang="en-US" spc="-50"/>
          </a:p>
        </p:txBody>
      </p:sp>
    </p:spTree>
    <p:extLst>
      <p:ext uri="{BB962C8B-B14F-4D97-AF65-F5344CB8AC3E}">
        <p14:creationId xmlns:p14="http://schemas.microsoft.com/office/powerpoint/2010/main" val="3343719134"/>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Lst>
  <p:txStyles>
    <p:titleStyle>
      <a:lvl1pPr>
        <a:defRPr>
          <a:latin typeface="NVIDIA Sans" panose="020B0503020203020204" pitchFamily="34" charset="0"/>
          <a:ea typeface="+mj-ea"/>
          <a:cs typeface="NVIDIA Sans" panose="020B0503020203020204" pitchFamily="34" charset="0"/>
        </a:defRPr>
      </a:lvl1pPr>
    </p:titleStyle>
    <p:bodyStyle>
      <a:lvl1pPr marL="0">
        <a:defRPr>
          <a:latin typeface="NVIDIA Sans" panose="020B0503020203020204" pitchFamily="34" charset="0"/>
          <a:ea typeface="+mn-ea"/>
          <a:cs typeface="NVIDIA Sans" panose="020B0503020203020204" pitchFamily="34" charset="0"/>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green and white background&#10;&#10;Description automatically generated">
            <a:extLst>
              <a:ext uri="{FF2B5EF4-FFF2-40B4-BE49-F238E27FC236}">
                <a16:creationId xmlns:a16="http://schemas.microsoft.com/office/drawing/2014/main" id="{70127DDD-C9DF-2D62-027B-101BB05271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3" name="Picture 2" descr="A picture containing graphics, logo, symbol, graphic design&#10;&#10;Description automatically generated">
            <a:extLst>
              <a:ext uri="{FF2B5EF4-FFF2-40B4-BE49-F238E27FC236}">
                <a16:creationId xmlns:a16="http://schemas.microsoft.com/office/drawing/2014/main" id="{BB9163A6-809C-9C71-A11D-655D37E8AC4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96387" y="381000"/>
            <a:ext cx="2788664" cy="960770"/>
          </a:xfrm>
          <a:prstGeom prst="rect">
            <a:avLst/>
          </a:prstGeom>
        </p:spPr>
      </p:pic>
      <p:sp>
        <p:nvSpPr>
          <p:cNvPr id="4" name="Title 1">
            <a:extLst>
              <a:ext uri="{FF2B5EF4-FFF2-40B4-BE49-F238E27FC236}">
                <a16:creationId xmlns:a16="http://schemas.microsoft.com/office/drawing/2014/main" id="{46B390E7-7C9D-04FF-F62A-6FBEB9F97434}"/>
              </a:ext>
            </a:extLst>
          </p:cNvPr>
          <p:cNvSpPr txBox="1">
            <a:spLocks/>
          </p:cNvSpPr>
          <p:nvPr/>
        </p:nvSpPr>
        <p:spPr>
          <a:xfrm>
            <a:off x="606217" y="640080"/>
            <a:ext cx="8690183" cy="1645920"/>
          </a:xfrm>
          <a:prstGeom prst="rect">
            <a:avLst/>
          </a:prstGeom>
        </p:spPr>
        <p:txBody>
          <a:bodyPr anchor="b">
            <a:normAutofit/>
          </a:bodyPr>
          <a:lstStyle>
            <a:lvl1pPr algn="l">
              <a:defRPr sz="8800" b="1" cap="none" baseline="0">
                <a:latin typeface="NVIDIA Sans" panose="020B0503020203020204" pitchFamily="34" charset="0"/>
                <a:ea typeface="+mj-ea"/>
                <a:cs typeface="NVIDIA Sans" panose="020B0503020203020204" pitchFamily="34" charset="0"/>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4000" b="1" i="0" u="none" strike="noStrike" kern="0" cap="none" spc="-110" normalizeH="0" baseline="0" noProof="0">
                <a:ln>
                  <a:noFill/>
                </a:ln>
                <a:solidFill>
                  <a:srgbClr val="000000"/>
                </a:solidFill>
                <a:effectLst/>
                <a:uLnTx/>
                <a:uFillTx/>
                <a:latin typeface="NVIDIA Sans" panose="020B0503020203020204" pitchFamily="34" charset="0"/>
                <a:ea typeface="+mj-ea"/>
                <a:cs typeface="NVIDIA Sans" panose="020B0503020203020204" pitchFamily="34" charset="0"/>
              </a:rPr>
              <a:t>LLM Agents for Chip Design</a:t>
            </a:r>
            <a:endParaRPr kumimoji="0" lang="en-US" sz="4000" b="1" i="0" u="none" strike="noStrike" kern="0" cap="none" spc="0" normalizeH="0" baseline="0" noProof="0">
              <a:ln>
                <a:noFill/>
              </a:ln>
              <a:solidFill>
                <a:sysClr val="windowText" lastClr="000000"/>
              </a:solidFill>
              <a:effectLst/>
              <a:uLnTx/>
              <a:uFillTx/>
              <a:latin typeface="NVIDIA Sans" panose="020B0503020203020204" pitchFamily="34" charset="0"/>
              <a:ea typeface="+mj-ea"/>
              <a:cs typeface="NVIDIA Sans" panose="020B0503020203020204" pitchFamily="34" charset="0"/>
            </a:endParaRPr>
          </a:p>
        </p:txBody>
      </p:sp>
      <p:sp>
        <p:nvSpPr>
          <p:cNvPr id="5" name="Subtitle 2">
            <a:extLst>
              <a:ext uri="{FF2B5EF4-FFF2-40B4-BE49-F238E27FC236}">
                <a16:creationId xmlns:a16="http://schemas.microsoft.com/office/drawing/2014/main" id="{F61BC18A-0372-69A3-BFF7-AAD3E41A34CC}"/>
              </a:ext>
            </a:extLst>
          </p:cNvPr>
          <p:cNvSpPr txBox="1">
            <a:spLocks/>
          </p:cNvSpPr>
          <p:nvPr/>
        </p:nvSpPr>
        <p:spPr>
          <a:xfrm>
            <a:off x="606217" y="2209800"/>
            <a:ext cx="8156783" cy="567944"/>
          </a:xfrm>
          <a:prstGeom prst="rect">
            <a:avLst/>
          </a:prstGeom>
        </p:spPr>
        <p:txBody>
          <a:bodyPr>
            <a:noAutofit/>
          </a:bodyPr>
          <a:lstStyle>
            <a:lvl1pPr marL="0" indent="0" algn="l">
              <a:buNone/>
              <a:defRPr sz="4400" b="0" cap="none" baseline="0">
                <a:solidFill>
                  <a:schemeClr val="bg1"/>
                </a:solidFill>
                <a:latin typeface="NVIDIA Sans" panose="020B0503020203020204" pitchFamily="34" charset="0"/>
                <a:ea typeface="+mn-ea"/>
                <a:cs typeface="NVIDIA Sans" panose="020B0503020203020204" pitchFamily="34" charset="0"/>
              </a:defRPr>
            </a:lvl1pPr>
            <a:lvl2pPr marL="1371600" indent="0" algn="ctr">
              <a:buNone/>
              <a:defRPr sz="6000">
                <a:latin typeface="+mn-lt"/>
                <a:ea typeface="+mn-ea"/>
                <a:cs typeface="+mn-cs"/>
              </a:defRPr>
            </a:lvl2pPr>
            <a:lvl3pPr marL="2743200" indent="0" algn="ctr">
              <a:buNone/>
              <a:defRPr sz="5400">
                <a:latin typeface="+mn-lt"/>
                <a:ea typeface="+mn-ea"/>
                <a:cs typeface="+mn-cs"/>
              </a:defRPr>
            </a:lvl3pPr>
            <a:lvl4pPr marL="4114800" indent="0" algn="ctr">
              <a:buNone/>
              <a:defRPr sz="4800">
                <a:latin typeface="+mn-lt"/>
                <a:ea typeface="+mn-ea"/>
                <a:cs typeface="+mn-cs"/>
              </a:defRPr>
            </a:lvl4pPr>
            <a:lvl5pPr marL="5486400" indent="0" algn="ctr">
              <a:buNone/>
              <a:defRPr sz="4800">
                <a:latin typeface="+mn-lt"/>
                <a:ea typeface="+mn-ea"/>
                <a:cs typeface="+mn-cs"/>
              </a:defRPr>
            </a:lvl5pPr>
            <a:lvl6pPr marL="6858000" indent="0" algn="ctr">
              <a:buNone/>
              <a:defRPr sz="4800">
                <a:latin typeface="+mn-lt"/>
                <a:ea typeface="+mn-ea"/>
                <a:cs typeface="+mn-cs"/>
              </a:defRPr>
            </a:lvl6pPr>
            <a:lvl7pPr marL="8229600" indent="0" algn="ctr">
              <a:buNone/>
              <a:defRPr sz="4800">
                <a:latin typeface="+mn-lt"/>
                <a:ea typeface="+mn-ea"/>
                <a:cs typeface="+mn-cs"/>
              </a:defRPr>
            </a:lvl7pPr>
            <a:lvl8pPr marL="9601200" indent="0" algn="ctr">
              <a:buNone/>
              <a:defRPr sz="4800">
                <a:latin typeface="+mn-lt"/>
                <a:ea typeface="+mn-ea"/>
                <a:cs typeface="+mn-cs"/>
              </a:defRPr>
            </a:lvl8pPr>
            <a:lvl9pPr marL="10972800" indent="0" algn="ctr">
              <a:buNone/>
              <a:defRPr sz="4800">
                <a:latin typeface="+mn-lt"/>
                <a:ea typeface="+mn-ea"/>
                <a:cs typeface="+mn-cs"/>
              </a:defRPr>
            </a:lvl9pPr>
          </a:lstStyle>
          <a:p>
            <a:pPr marL="0" marR="0" lvl="0" indent="0" algn="l" defTabSz="914400" eaLnBrk="1" fontAlgn="auto" latinLnBrk="0" hangingPunct="1">
              <a:lnSpc>
                <a:spcPct val="120000"/>
              </a:lnSpc>
              <a:spcBef>
                <a:spcPts val="0"/>
              </a:spcBef>
              <a:spcAft>
                <a:spcPts val="0"/>
              </a:spcAft>
              <a:buClrTx/>
              <a:buSzTx/>
              <a:buFontTx/>
              <a:buNone/>
              <a:tabLst/>
              <a:defRPr/>
            </a:pPr>
            <a:r>
              <a:rPr kumimoji="0" lang="en-US" sz="1800" b="0" i="0" u="none" strike="noStrike" kern="0" cap="none" spc="55" normalizeH="0" baseline="0" noProof="0" err="1">
                <a:ln>
                  <a:noFill/>
                </a:ln>
                <a:solidFill>
                  <a:srgbClr val="000000"/>
                </a:solidFill>
                <a:effectLst/>
                <a:uLnTx/>
                <a:uFillTx/>
                <a:latin typeface="NVIDIA Sans" panose="020B0503020203020204" pitchFamily="34" charset="0"/>
                <a:ea typeface="+mn-ea"/>
                <a:cs typeface="NVIDIA Sans" panose="020B0503020203020204" pitchFamily="34" charset="0"/>
              </a:rPr>
              <a:t>Haoxing</a:t>
            </a:r>
            <a:r>
              <a:rPr kumimoji="0" lang="en-US" sz="1800" b="0" i="0" u="none" strike="noStrike" kern="0" cap="none" spc="20" normalizeH="0" baseline="0" noProof="0">
                <a:ln>
                  <a:noFill/>
                </a:ln>
                <a:solidFill>
                  <a:srgbClr val="000000"/>
                </a:solidFill>
                <a:effectLst/>
                <a:uLnTx/>
                <a:uFillTx/>
                <a:latin typeface="NVIDIA Sans" panose="020B0503020203020204" pitchFamily="34" charset="0"/>
                <a:ea typeface="+mn-ea"/>
                <a:cs typeface="NVIDIA Sans" panose="020B0503020203020204" pitchFamily="34" charset="0"/>
              </a:rPr>
              <a:t> </a:t>
            </a:r>
            <a:r>
              <a:rPr kumimoji="0" lang="en-US" sz="1800" b="0" i="0" u="none" strike="noStrike" kern="0" cap="none" spc="0" normalizeH="0" baseline="0" noProof="0">
                <a:ln>
                  <a:noFill/>
                </a:ln>
                <a:solidFill>
                  <a:srgbClr val="000000"/>
                </a:solidFill>
                <a:effectLst/>
                <a:uLnTx/>
                <a:uFillTx/>
                <a:latin typeface="NVIDIA Sans" panose="020B0503020203020204" pitchFamily="34" charset="0"/>
                <a:ea typeface="+mn-ea"/>
                <a:cs typeface="NVIDIA Sans" panose="020B0503020203020204" pitchFamily="34" charset="0"/>
              </a:rPr>
              <a:t>(Mark) </a:t>
            </a:r>
            <a:r>
              <a:rPr kumimoji="0" lang="en-US" sz="1800" b="0" i="0" u="none" strike="noStrike" kern="0" cap="none" spc="80" normalizeH="0" baseline="0" noProof="0">
                <a:ln>
                  <a:noFill/>
                </a:ln>
                <a:solidFill>
                  <a:srgbClr val="000000"/>
                </a:solidFill>
                <a:effectLst/>
                <a:uLnTx/>
                <a:uFillTx/>
                <a:latin typeface="NVIDIA Sans" panose="020B0503020203020204" pitchFamily="34" charset="0"/>
                <a:ea typeface="+mn-ea"/>
                <a:cs typeface="NVIDIA Sans" panose="020B0503020203020204" pitchFamily="34" charset="0"/>
              </a:rPr>
              <a:t>Ren,</a:t>
            </a:r>
            <a:r>
              <a:rPr kumimoji="0" lang="en-US" sz="1800" b="0" i="0" u="none" strike="noStrike" kern="0" cap="none" spc="10" normalizeH="0" baseline="0" noProof="0">
                <a:ln>
                  <a:noFill/>
                </a:ln>
                <a:solidFill>
                  <a:srgbClr val="000000"/>
                </a:solidFill>
                <a:effectLst/>
                <a:uLnTx/>
                <a:uFillTx/>
                <a:latin typeface="NVIDIA Sans" panose="020B0503020203020204" pitchFamily="34" charset="0"/>
                <a:ea typeface="+mn-ea"/>
                <a:cs typeface="NVIDIA Sans" panose="020B0503020203020204" pitchFamily="34" charset="0"/>
              </a:rPr>
              <a:t> </a:t>
            </a:r>
            <a:r>
              <a:rPr kumimoji="0" lang="en-US" sz="1800" b="0" i="0" u="none" strike="noStrike" kern="0" cap="none" spc="45" normalizeH="0" baseline="0" noProof="0">
                <a:ln>
                  <a:noFill/>
                </a:ln>
                <a:solidFill>
                  <a:srgbClr val="000000"/>
                </a:solidFill>
                <a:effectLst/>
                <a:uLnTx/>
                <a:uFillTx/>
                <a:latin typeface="NVIDIA Sans" panose="020B0503020203020204" pitchFamily="34" charset="0"/>
                <a:ea typeface="+mn-ea"/>
                <a:cs typeface="NVIDIA Sans" panose="020B0503020203020204" pitchFamily="34" charset="0"/>
              </a:rPr>
              <a:t>Director</a:t>
            </a:r>
            <a:r>
              <a:rPr kumimoji="0" lang="en-US" sz="1800" b="0" i="0" u="none" strike="noStrike" kern="0" cap="none" spc="0" normalizeH="0" baseline="0" noProof="0">
                <a:ln>
                  <a:noFill/>
                </a:ln>
                <a:solidFill>
                  <a:srgbClr val="000000"/>
                </a:solidFill>
                <a:effectLst/>
                <a:uLnTx/>
                <a:uFillTx/>
                <a:latin typeface="NVIDIA Sans" panose="020B0503020203020204" pitchFamily="34" charset="0"/>
                <a:ea typeface="+mn-ea"/>
                <a:cs typeface="NVIDIA Sans" panose="020B0503020203020204" pitchFamily="34" charset="0"/>
              </a:rPr>
              <a:t> of</a:t>
            </a:r>
            <a:r>
              <a:rPr kumimoji="0" lang="en-US" sz="1800" b="0" i="0" u="none" strike="noStrike" kern="0" cap="none" spc="15" normalizeH="0" baseline="0" noProof="0">
                <a:ln>
                  <a:noFill/>
                </a:ln>
                <a:solidFill>
                  <a:srgbClr val="000000"/>
                </a:solidFill>
                <a:effectLst/>
                <a:uLnTx/>
                <a:uFillTx/>
                <a:latin typeface="NVIDIA Sans" panose="020B0503020203020204" pitchFamily="34" charset="0"/>
                <a:ea typeface="+mn-ea"/>
                <a:cs typeface="NVIDIA Sans" panose="020B0503020203020204" pitchFamily="34" charset="0"/>
              </a:rPr>
              <a:t> </a:t>
            </a:r>
            <a:r>
              <a:rPr kumimoji="0" lang="en-US" sz="1800" b="0" i="0" u="none" strike="noStrike" kern="0" cap="none" spc="85" normalizeH="0" baseline="0" noProof="0">
                <a:ln>
                  <a:noFill/>
                </a:ln>
                <a:solidFill>
                  <a:srgbClr val="000000"/>
                </a:solidFill>
                <a:effectLst/>
                <a:uLnTx/>
                <a:uFillTx/>
                <a:latin typeface="NVIDIA Sans" panose="020B0503020203020204" pitchFamily="34" charset="0"/>
                <a:ea typeface="+mn-ea"/>
                <a:cs typeface="NVIDIA Sans" panose="020B0503020203020204" pitchFamily="34" charset="0"/>
              </a:rPr>
              <a:t>Design</a:t>
            </a:r>
            <a:r>
              <a:rPr kumimoji="0" lang="en-US" sz="1800" b="0" i="0" u="none" strike="noStrike" kern="0" cap="none" spc="5" normalizeH="0" baseline="0" noProof="0">
                <a:ln>
                  <a:noFill/>
                </a:ln>
                <a:solidFill>
                  <a:srgbClr val="000000"/>
                </a:solidFill>
                <a:effectLst/>
                <a:uLnTx/>
                <a:uFillTx/>
                <a:latin typeface="NVIDIA Sans" panose="020B0503020203020204" pitchFamily="34" charset="0"/>
                <a:ea typeface="+mn-ea"/>
                <a:cs typeface="NVIDIA Sans" panose="020B0503020203020204" pitchFamily="34" charset="0"/>
              </a:rPr>
              <a:t> </a:t>
            </a:r>
            <a:r>
              <a:rPr kumimoji="0" lang="en-US" sz="1800" b="0" i="0" u="none" strike="noStrike" kern="0" cap="none" spc="0" normalizeH="0" baseline="0" noProof="0">
                <a:ln>
                  <a:noFill/>
                </a:ln>
                <a:solidFill>
                  <a:srgbClr val="000000"/>
                </a:solidFill>
                <a:effectLst/>
                <a:uLnTx/>
                <a:uFillTx/>
                <a:latin typeface="NVIDIA Sans" panose="020B0503020203020204" pitchFamily="34" charset="0"/>
                <a:ea typeface="+mn-ea"/>
                <a:cs typeface="NVIDIA Sans" panose="020B0503020203020204" pitchFamily="34" charset="0"/>
              </a:rPr>
              <a:t>Automation</a:t>
            </a:r>
            <a:r>
              <a:rPr kumimoji="0" lang="en-US" sz="1800" b="0" i="0" u="none" strike="noStrike" kern="0" cap="none" spc="5" normalizeH="0" baseline="0" noProof="0">
                <a:ln>
                  <a:noFill/>
                </a:ln>
                <a:solidFill>
                  <a:srgbClr val="000000"/>
                </a:solidFill>
                <a:effectLst/>
                <a:uLnTx/>
                <a:uFillTx/>
                <a:latin typeface="NVIDIA Sans" panose="020B0503020203020204" pitchFamily="34" charset="0"/>
                <a:ea typeface="+mn-ea"/>
                <a:cs typeface="NVIDIA Sans" panose="020B0503020203020204" pitchFamily="34" charset="0"/>
              </a:rPr>
              <a:t> </a:t>
            </a:r>
            <a:r>
              <a:rPr kumimoji="0" lang="en-US" sz="1800" b="0" i="0" u="none" strike="noStrike" kern="0" cap="none" spc="90" normalizeH="0" baseline="0" noProof="0">
                <a:ln>
                  <a:noFill/>
                </a:ln>
                <a:solidFill>
                  <a:srgbClr val="000000"/>
                </a:solidFill>
                <a:effectLst/>
                <a:uLnTx/>
                <a:uFillTx/>
                <a:latin typeface="NVIDIA Sans" panose="020B0503020203020204" pitchFamily="34" charset="0"/>
                <a:ea typeface="+mn-ea"/>
                <a:cs typeface="NVIDIA Sans" panose="020B0503020203020204" pitchFamily="34" charset="0"/>
              </a:rPr>
              <a:t>Research, </a:t>
            </a:r>
            <a:r>
              <a:rPr kumimoji="0" lang="en-US" sz="1800" b="0" i="0" u="none" strike="noStrike" kern="0" cap="none" spc="50" normalizeH="0" baseline="0" noProof="0">
                <a:ln>
                  <a:noFill/>
                </a:ln>
                <a:solidFill>
                  <a:srgbClr val="000000"/>
                </a:solidFill>
                <a:effectLst/>
                <a:uLnTx/>
                <a:uFillTx/>
                <a:latin typeface="NVIDIA Sans" panose="020B0503020203020204" pitchFamily="34" charset="0"/>
                <a:ea typeface="+mn-ea"/>
                <a:cs typeface="NVIDIA Sans" panose="020B0503020203020204" pitchFamily="34" charset="0"/>
              </a:rPr>
              <a:t>NVIDIA</a:t>
            </a:r>
          </a:p>
          <a:p>
            <a:pPr marL="0" marR="0" lvl="0" indent="0" algn="l" defTabSz="914400" eaLnBrk="1" fontAlgn="auto" latinLnBrk="0" hangingPunct="1">
              <a:lnSpc>
                <a:spcPct val="120000"/>
              </a:lnSpc>
              <a:spcBef>
                <a:spcPts val="0"/>
              </a:spcBef>
              <a:spcAft>
                <a:spcPts val="0"/>
              </a:spcAft>
              <a:buClrTx/>
              <a:buSzTx/>
              <a:buFontTx/>
              <a:buNone/>
              <a:tabLst/>
              <a:defRPr/>
            </a:pPr>
            <a:r>
              <a:rPr kumimoji="0" lang="en-US" sz="1800" b="0" i="0" u="none" strike="noStrike" kern="0" cap="none" spc="0" normalizeH="0" baseline="0" noProof="0">
                <a:ln>
                  <a:noFill/>
                </a:ln>
                <a:solidFill>
                  <a:prstClr val="black"/>
                </a:solidFill>
                <a:effectLst/>
                <a:uLnTx/>
                <a:uFillTx/>
                <a:latin typeface="NVIDIA Sans" panose="020B0503020203020204" pitchFamily="34" charset="0"/>
                <a:ea typeface="+mn-ea"/>
                <a:cs typeface="NVIDIA Sans" panose="020B0503020203020204" pitchFamily="34" charset="0"/>
              </a:rPr>
              <a:t>08/25/2024</a:t>
            </a:r>
          </a:p>
        </p:txBody>
      </p:sp>
    </p:spTree>
    <p:extLst>
      <p:ext uri="{BB962C8B-B14F-4D97-AF65-F5344CB8AC3E}">
        <p14:creationId xmlns:p14="http://schemas.microsoft.com/office/powerpoint/2010/main" val="15122650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50506-912D-DF64-7815-786106F6FE25}"/>
              </a:ext>
            </a:extLst>
          </p:cNvPr>
          <p:cNvSpPr>
            <a:spLocks noGrp="1"/>
          </p:cNvSpPr>
          <p:nvPr>
            <p:ph type="title"/>
          </p:nvPr>
        </p:nvSpPr>
        <p:spPr/>
        <p:txBody>
          <a:bodyPr>
            <a:normAutofit/>
          </a:bodyPr>
          <a:lstStyle/>
          <a:p>
            <a:pPr algn="ctr"/>
            <a:r>
              <a:rPr lang="en-US" sz="4000" b="1"/>
              <a:t>Agent Advantage</a:t>
            </a:r>
          </a:p>
        </p:txBody>
      </p:sp>
      <p:sp>
        <p:nvSpPr>
          <p:cNvPr id="9" name="TextBox 8">
            <a:extLst>
              <a:ext uri="{FF2B5EF4-FFF2-40B4-BE49-F238E27FC236}">
                <a16:creationId xmlns:a16="http://schemas.microsoft.com/office/drawing/2014/main" id="{AE2CC00A-A7F3-3088-C117-FC8E3999F251}"/>
              </a:ext>
            </a:extLst>
          </p:cNvPr>
          <p:cNvSpPr txBox="1"/>
          <p:nvPr/>
        </p:nvSpPr>
        <p:spPr>
          <a:xfrm>
            <a:off x="1368452" y="2723027"/>
            <a:ext cx="1035861" cy="369332"/>
          </a:xfrm>
          <a:prstGeom prst="rect">
            <a:avLst/>
          </a:prstGeom>
          <a:noFill/>
        </p:spPr>
        <p:txBody>
          <a:bodyPr wrap="none" rtlCol="0">
            <a:spAutoFit/>
          </a:bodyPr>
          <a:lstStyle/>
          <a:p>
            <a:r>
              <a:rPr lang="en-US">
                <a:latin typeface="NVIDIA Sans" panose="020B0503020203020204" pitchFamily="34" charset="0"/>
              </a:rPr>
              <a:t>LLama3</a:t>
            </a:r>
          </a:p>
        </p:txBody>
      </p:sp>
      <p:sp>
        <p:nvSpPr>
          <p:cNvPr id="11" name="TextBox 10">
            <a:extLst>
              <a:ext uri="{FF2B5EF4-FFF2-40B4-BE49-F238E27FC236}">
                <a16:creationId xmlns:a16="http://schemas.microsoft.com/office/drawing/2014/main" id="{CFFD3EF7-A898-C862-1495-C5BC7828DF7B}"/>
              </a:ext>
            </a:extLst>
          </p:cNvPr>
          <p:cNvSpPr txBox="1"/>
          <p:nvPr/>
        </p:nvSpPr>
        <p:spPr>
          <a:xfrm>
            <a:off x="1160017" y="4031220"/>
            <a:ext cx="1367682" cy="369332"/>
          </a:xfrm>
          <a:prstGeom prst="rect">
            <a:avLst/>
          </a:prstGeom>
          <a:noFill/>
        </p:spPr>
        <p:txBody>
          <a:bodyPr wrap="none" rtlCol="0">
            <a:spAutoFit/>
          </a:bodyPr>
          <a:lstStyle/>
          <a:p>
            <a:r>
              <a:rPr lang="en-US">
                <a:latin typeface="NVIDIA Sans" panose="020B0503020203020204" pitchFamily="34" charset="0"/>
              </a:rPr>
              <a:t>GPT4turbo</a:t>
            </a:r>
          </a:p>
        </p:txBody>
      </p:sp>
      <p:graphicFrame>
        <p:nvGraphicFramePr>
          <p:cNvPr id="16" name="Chart 15">
            <a:extLst>
              <a:ext uri="{FF2B5EF4-FFF2-40B4-BE49-F238E27FC236}">
                <a16:creationId xmlns:a16="http://schemas.microsoft.com/office/drawing/2014/main" id="{72E01246-5AFB-960B-64B6-02148CF237D2}"/>
              </a:ext>
            </a:extLst>
          </p:cNvPr>
          <p:cNvGraphicFramePr>
            <a:graphicFrameLocks/>
          </p:cNvGraphicFramePr>
          <p:nvPr>
            <p:extLst>
              <p:ext uri="{D42A27DB-BD31-4B8C-83A1-F6EECF244321}">
                <p14:modId xmlns:p14="http://schemas.microsoft.com/office/powerpoint/2010/main" val="3924604887"/>
              </p:ext>
            </p:extLst>
          </p:nvPr>
        </p:nvGraphicFramePr>
        <p:xfrm>
          <a:off x="2294166" y="2072268"/>
          <a:ext cx="6923443" cy="3971300"/>
        </p:xfrm>
        <a:graphic>
          <a:graphicData uri="http://schemas.openxmlformats.org/drawingml/2006/chart">
            <c:chart xmlns:c="http://schemas.openxmlformats.org/drawingml/2006/chart" xmlns:r="http://schemas.openxmlformats.org/officeDocument/2006/relationships" r:id="rId3"/>
          </a:graphicData>
        </a:graphic>
      </p:graphicFrame>
      <p:cxnSp>
        <p:nvCxnSpPr>
          <p:cNvPr id="22" name="Straight Connector 21">
            <a:extLst>
              <a:ext uri="{FF2B5EF4-FFF2-40B4-BE49-F238E27FC236}">
                <a16:creationId xmlns:a16="http://schemas.microsoft.com/office/drawing/2014/main" id="{8968686F-97FC-CE0E-95A3-09D60525CD4F}"/>
              </a:ext>
            </a:extLst>
          </p:cNvPr>
          <p:cNvCxnSpPr/>
          <p:nvPr/>
        </p:nvCxnSpPr>
        <p:spPr>
          <a:xfrm>
            <a:off x="2408436" y="2898800"/>
            <a:ext cx="6355310" cy="0"/>
          </a:xfrm>
          <a:prstGeom prst="line">
            <a:avLst/>
          </a:prstGeom>
          <a:ln>
            <a:prstDash val="sysDot"/>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3B20582E-FF81-5A6F-B028-1883B9A53D17}"/>
              </a:ext>
            </a:extLst>
          </p:cNvPr>
          <p:cNvCxnSpPr/>
          <p:nvPr/>
        </p:nvCxnSpPr>
        <p:spPr>
          <a:xfrm>
            <a:off x="2460719" y="4237032"/>
            <a:ext cx="6355310" cy="0"/>
          </a:xfrm>
          <a:prstGeom prst="line">
            <a:avLst/>
          </a:prstGeom>
          <a:ln>
            <a:prstDash val="sysDot"/>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DF524D58-19AA-0A55-0D51-C7B302E2544D}"/>
              </a:ext>
            </a:extLst>
          </p:cNvPr>
          <p:cNvSpPr txBox="1"/>
          <p:nvPr/>
        </p:nvSpPr>
        <p:spPr>
          <a:xfrm>
            <a:off x="4484881" y="1803857"/>
            <a:ext cx="1529971" cy="646331"/>
          </a:xfrm>
          <a:prstGeom prst="rect">
            <a:avLst/>
          </a:prstGeom>
          <a:noFill/>
        </p:spPr>
        <p:txBody>
          <a:bodyPr wrap="none" rtlCol="0">
            <a:spAutoFit/>
          </a:bodyPr>
          <a:lstStyle/>
          <a:p>
            <a:r>
              <a:rPr lang="en-US">
                <a:latin typeface="NVIDIA Sans" panose="020B0503020203020204" pitchFamily="34" charset="0"/>
              </a:rPr>
              <a:t>Non-agentic</a:t>
            </a:r>
          </a:p>
          <a:p>
            <a:pPr algn="ctr"/>
            <a:r>
              <a:rPr lang="en-US">
                <a:latin typeface="NVIDIA Sans" panose="020B0503020203020204" pitchFamily="34" charset="0"/>
              </a:rPr>
              <a:t>41.7%</a:t>
            </a:r>
          </a:p>
        </p:txBody>
      </p:sp>
      <p:sp>
        <p:nvSpPr>
          <p:cNvPr id="25" name="TextBox 24">
            <a:extLst>
              <a:ext uri="{FF2B5EF4-FFF2-40B4-BE49-F238E27FC236}">
                <a16:creationId xmlns:a16="http://schemas.microsoft.com/office/drawing/2014/main" id="{803025D9-E9F7-02BA-1F37-14674454EA44}"/>
              </a:ext>
            </a:extLst>
          </p:cNvPr>
          <p:cNvSpPr txBox="1"/>
          <p:nvPr/>
        </p:nvSpPr>
        <p:spPr>
          <a:xfrm>
            <a:off x="6065973" y="1803857"/>
            <a:ext cx="1751377" cy="923330"/>
          </a:xfrm>
          <a:prstGeom prst="rect">
            <a:avLst/>
          </a:prstGeom>
          <a:noFill/>
        </p:spPr>
        <p:txBody>
          <a:bodyPr wrap="none" rtlCol="0">
            <a:spAutoFit/>
          </a:bodyPr>
          <a:lstStyle/>
          <a:p>
            <a:pPr algn="ctr"/>
            <a:r>
              <a:rPr lang="en-US">
                <a:latin typeface="NVIDIA Sans" panose="020B0503020203020204" pitchFamily="34" charset="0"/>
              </a:rPr>
              <a:t>Agentic</a:t>
            </a:r>
          </a:p>
          <a:p>
            <a:pPr algn="ctr"/>
            <a:r>
              <a:rPr lang="en-US">
                <a:latin typeface="NVIDIA Sans" panose="020B0503020203020204" pitchFamily="34" charset="0"/>
              </a:rPr>
              <a:t>67.3%</a:t>
            </a:r>
            <a:br>
              <a:rPr lang="en-US">
                <a:latin typeface="NVIDIA Sans" panose="020B0503020203020204" pitchFamily="34" charset="0"/>
              </a:rPr>
            </a:br>
            <a:r>
              <a:rPr lang="en-US">
                <a:latin typeface="NVIDIA Sans" panose="020B0503020203020204" pitchFamily="34" charset="0"/>
              </a:rPr>
              <a:t>(</a:t>
            </a:r>
            <a:r>
              <a:rPr lang="en-US" b="1" err="1">
                <a:latin typeface="NVIDIA Sans" panose="020B0503020203020204" pitchFamily="34" charset="0"/>
              </a:rPr>
              <a:t>VerilogCoder</a:t>
            </a:r>
            <a:r>
              <a:rPr lang="en-US">
                <a:latin typeface="NVIDIA Sans" panose="020B0503020203020204" pitchFamily="34" charset="0"/>
              </a:rPr>
              <a:t>)</a:t>
            </a:r>
          </a:p>
        </p:txBody>
      </p:sp>
      <p:sp>
        <p:nvSpPr>
          <p:cNvPr id="26" name="TextBox 25">
            <a:extLst>
              <a:ext uri="{FF2B5EF4-FFF2-40B4-BE49-F238E27FC236}">
                <a16:creationId xmlns:a16="http://schemas.microsoft.com/office/drawing/2014/main" id="{C3A31A77-28A3-1A1F-9216-7A47D8544ABD}"/>
              </a:ext>
            </a:extLst>
          </p:cNvPr>
          <p:cNvSpPr txBox="1"/>
          <p:nvPr/>
        </p:nvSpPr>
        <p:spPr>
          <a:xfrm>
            <a:off x="5586091" y="3260979"/>
            <a:ext cx="1529971" cy="646331"/>
          </a:xfrm>
          <a:prstGeom prst="rect">
            <a:avLst/>
          </a:prstGeom>
          <a:noFill/>
        </p:spPr>
        <p:txBody>
          <a:bodyPr wrap="none" rtlCol="0">
            <a:spAutoFit/>
          </a:bodyPr>
          <a:lstStyle/>
          <a:p>
            <a:r>
              <a:rPr lang="en-US">
                <a:latin typeface="NVIDIA Sans" panose="020B0503020203020204" pitchFamily="34" charset="0"/>
              </a:rPr>
              <a:t>Non-agentic</a:t>
            </a:r>
          </a:p>
          <a:p>
            <a:pPr algn="ctr"/>
            <a:r>
              <a:rPr lang="en-US">
                <a:latin typeface="NVIDIA Sans" panose="020B0503020203020204" pitchFamily="34" charset="0"/>
              </a:rPr>
              <a:t>60.3%</a:t>
            </a:r>
          </a:p>
        </p:txBody>
      </p:sp>
      <p:sp>
        <p:nvSpPr>
          <p:cNvPr id="28" name="TextBox 27">
            <a:extLst>
              <a:ext uri="{FF2B5EF4-FFF2-40B4-BE49-F238E27FC236}">
                <a16:creationId xmlns:a16="http://schemas.microsoft.com/office/drawing/2014/main" id="{E7487AFD-38AA-07F3-E528-DD2730ADDB40}"/>
              </a:ext>
            </a:extLst>
          </p:cNvPr>
          <p:cNvSpPr txBox="1"/>
          <p:nvPr/>
        </p:nvSpPr>
        <p:spPr>
          <a:xfrm>
            <a:off x="7614962" y="3263668"/>
            <a:ext cx="1751377" cy="923330"/>
          </a:xfrm>
          <a:prstGeom prst="rect">
            <a:avLst/>
          </a:prstGeom>
          <a:noFill/>
        </p:spPr>
        <p:txBody>
          <a:bodyPr wrap="none" rtlCol="0">
            <a:spAutoFit/>
          </a:bodyPr>
          <a:lstStyle/>
          <a:p>
            <a:pPr algn="ctr"/>
            <a:r>
              <a:rPr lang="en-US">
                <a:latin typeface="NVIDIA Sans" panose="020B0503020203020204" pitchFamily="34" charset="0"/>
              </a:rPr>
              <a:t>Agentic</a:t>
            </a:r>
          </a:p>
          <a:p>
            <a:pPr algn="ctr"/>
            <a:r>
              <a:rPr lang="en-US">
                <a:latin typeface="NVIDIA Sans" panose="020B0503020203020204" pitchFamily="34" charset="0"/>
              </a:rPr>
              <a:t>94.2% </a:t>
            </a:r>
            <a:br>
              <a:rPr lang="en-US">
                <a:latin typeface="NVIDIA Sans" panose="020B0503020203020204" pitchFamily="34" charset="0"/>
              </a:rPr>
            </a:br>
            <a:r>
              <a:rPr lang="en-US">
                <a:latin typeface="NVIDIA Sans" panose="020B0503020203020204" pitchFamily="34" charset="0"/>
              </a:rPr>
              <a:t>(</a:t>
            </a:r>
            <a:r>
              <a:rPr lang="en-US" b="1" err="1">
                <a:latin typeface="NVIDIA Sans" panose="020B0503020203020204" pitchFamily="34" charset="0"/>
              </a:rPr>
              <a:t>VerilogCoder</a:t>
            </a:r>
            <a:r>
              <a:rPr lang="en-US">
                <a:latin typeface="NVIDIA Sans" panose="020B0503020203020204" pitchFamily="34" charset="0"/>
              </a:rPr>
              <a:t>)</a:t>
            </a:r>
          </a:p>
        </p:txBody>
      </p:sp>
      <p:sp>
        <p:nvSpPr>
          <p:cNvPr id="29" name="TextBox 28">
            <a:extLst>
              <a:ext uri="{FF2B5EF4-FFF2-40B4-BE49-F238E27FC236}">
                <a16:creationId xmlns:a16="http://schemas.microsoft.com/office/drawing/2014/main" id="{83D72D09-BAF7-C8AB-00D7-09965BFC71E0}"/>
              </a:ext>
            </a:extLst>
          </p:cNvPr>
          <p:cNvSpPr txBox="1"/>
          <p:nvPr/>
        </p:nvSpPr>
        <p:spPr>
          <a:xfrm>
            <a:off x="9230489" y="5378398"/>
            <a:ext cx="2388411" cy="646331"/>
          </a:xfrm>
          <a:prstGeom prst="rect">
            <a:avLst/>
          </a:prstGeom>
          <a:noFill/>
        </p:spPr>
        <p:txBody>
          <a:bodyPr wrap="none" rtlCol="0">
            <a:spAutoFit/>
          </a:bodyPr>
          <a:lstStyle/>
          <a:p>
            <a:r>
              <a:rPr lang="en-US">
                <a:latin typeface="NVIDIA Sans" panose="020B0503020203020204" pitchFamily="34" charset="0"/>
              </a:rPr>
              <a:t>Pass@1 (%)</a:t>
            </a:r>
          </a:p>
          <a:p>
            <a:r>
              <a:rPr lang="en-US" err="1">
                <a:latin typeface="NVIDIA Sans" panose="020B0503020203020204" pitchFamily="34" charset="0"/>
              </a:rPr>
              <a:t>VerilogEval</a:t>
            </a:r>
            <a:r>
              <a:rPr lang="en-US">
                <a:latin typeface="NVIDIA Sans" panose="020B0503020203020204" pitchFamily="34" charset="0"/>
              </a:rPr>
              <a:t> (Human) </a:t>
            </a:r>
          </a:p>
        </p:txBody>
      </p:sp>
      <p:sp>
        <p:nvSpPr>
          <p:cNvPr id="3" name="TextBox 2">
            <a:extLst>
              <a:ext uri="{FF2B5EF4-FFF2-40B4-BE49-F238E27FC236}">
                <a16:creationId xmlns:a16="http://schemas.microsoft.com/office/drawing/2014/main" id="{DC8A04D4-FBB7-CB61-877F-709AB76919A9}"/>
              </a:ext>
            </a:extLst>
          </p:cNvPr>
          <p:cNvSpPr txBox="1"/>
          <p:nvPr/>
        </p:nvSpPr>
        <p:spPr>
          <a:xfrm>
            <a:off x="476220" y="6141397"/>
            <a:ext cx="6957609" cy="523220"/>
          </a:xfrm>
          <a:prstGeom prst="rect">
            <a:avLst/>
          </a:prstGeom>
          <a:noFill/>
        </p:spPr>
        <p:txBody>
          <a:bodyPr wrap="square">
            <a:spAutoFit/>
          </a:bodyPr>
          <a:lstStyle/>
          <a:p>
            <a:r>
              <a:rPr lang="en-US" sz="1400" i="1">
                <a:latin typeface="NVIDIA Sans" panose="020B0503020203020204" pitchFamily="34" charset="0"/>
              </a:rPr>
              <a:t>C.-T. Ho et al, </a:t>
            </a:r>
            <a:r>
              <a:rPr lang="en-US" sz="1400" i="1" err="1">
                <a:latin typeface="NVIDIA Sans" panose="020B0503020203020204" pitchFamily="34" charset="0"/>
              </a:rPr>
              <a:t>VerilogCoder</a:t>
            </a:r>
            <a:r>
              <a:rPr lang="en-US" sz="1400" i="1">
                <a:latin typeface="NVIDIA Sans" panose="020B0503020203020204" pitchFamily="34" charset="0"/>
              </a:rPr>
              <a:t>: Autonomous Verilog Coding Agents with Graph-based Planning and Abstract Syntax Tree (AST)-based Waveform Tracing Tool</a:t>
            </a:r>
          </a:p>
        </p:txBody>
      </p:sp>
      <p:sp>
        <p:nvSpPr>
          <p:cNvPr id="4" name="object 4">
            <a:extLst>
              <a:ext uri="{FF2B5EF4-FFF2-40B4-BE49-F238E27FC236}">
                <a16:creationId xmlns:a16="http://schemas.microsoft.com/office/drawing/2014/main" id="{EA588C1E-24D6-837C-CC0D-8033BC504783}"/>
              </a:ext>
            </a:extLst>
          </p:cNvPr>
          <p:cNvSpPr txBox="1">
            <a:spLocks/>
          </p:cNvSpPr>
          <p:nvPr/>
        </p:nvSpPr>
        <p:spPr>
          <a:xfrm>
            <a:off x="10722243" y="6391299"/>
            <a:ext cx="251586" cy="218650"/>
          </a:xfrm>
          <a:prstGeom prst="rect">
            <a:avLst/>
          </a:prstGeom>
        </p:spPr>
        <p:txBody>
          <a:bodyPr vert="horz" wrap="square" lIns="0" tIns="317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18745">
              <a:spcBef>
                <a:spcPts val="25"/>
              </a:spcBef>
            </a:pPr>
            <a:fld id="{81D60167-4931-47E6-BA6A-407CBD079E47}" type="slidenum">
              <a:rPr lang="en-US" sz="1400" spc="-50" smtClean="0">
                <a:latin typeface="NVIDIA Sans" panose="020B0503020203020204" pitchFamily="34" charset="0"/>
              </a:rPr>
              <a:pPr marL="118745">
                <a:spcBef>
                  <a:spcPts val="25"/>
                </a:spcBef>
              </a:pPr>
              <a:t>2</a:t>
            </a:fld>
            <a:endParaRPr lang="en-US" sz="1400" spc="-50">
              <a:latin typeface="NVIDIA Sans" panose="020B0503020203020204" pitchFamily="34" charset="0"/>
            </a:endParaRPr>
          </a:p>
        </p:txBody>
      </p:sp>
    </p:spTree>
    <p:extLst>
      <p:ext uri="{BB962C8B-B14F-4D97-AF65-F5344CB8AC3E}">
        <p14:creationId xmlns:p14="http://schemas.microsoft.com/office/powerpoint/2010/main" val="21900370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3F1AB500-447A-3A8C-E2B1-96F4F98F05DE}"/>
              </a:ext>
            </a:extLst>
          </p:cNvPr>
          <p:cNvPicPr>
            <a:picLocks noChangeAspect="1"/>
          </p:cNvPicPr>
          <p:nvPr/>
        </p:nvPicPr>
        <p:blipFill>
          <a:blip r:embed="rId3"/>
          <a:stretch>
            <a:fillRect/>
          </a:stretch>
        </p:blipFill>
        <p:spPr>
          <a:xfrm>
            <a:off x="9375304" y="2437106"/>
            <a:ext cx="1359437" cy="1253508"/>
          </a:xfrm>
          <a:prstGeom prst="rect">
            <a:avLst/>
          </a:prstGeom>
        </p:spPr>
      </p:pic>
      <p:pic>
        <p:nvPicPr>
          <p:cNvPr id="12" name="Picture 11">
            <a:extLst>
              <a:ext uri="{FF2B5EF4-FFF2-40B4-BE49-F238E27FC236}">
                <a16:creationId xmlns:a16="http://schemas.microsoft.com/office/drawing/2014/main" id="{6A9916BD-C1ED-54F4-0E99-46C26D2567BC}"/>
              </a:ext>
            </a:extLst>
          </p:cNvPr>
          <p:cNvPicPr>
            <a:picLocks noChangeAspect="1"/>
          </p:cNvPicPr>
          <p:nvPr/>
        </p:nvPicPr>
        <p:blipFill>
          <a:blip r:embed="rId4"/>
          <a:stretch>
            <a:fillRect/>
          </a:stretch>
        </p:blipFill>
        <p:spPr>
          <a:xfrm>
            <a:off x="9349111" y="4615798"/>
            <a:ext cx="1329269" cy="1091399"/>
          </a:xfrm>
          <a:prstGeom prst="rect">
            <a:avLst/>
          </a:prstGeom>
        </p:spPr>
      </p:pic>
      <p:pic>
        <p:nvPicPr>
          <p:cNvPr id="13" name="Picture 12">
            <a:extLst>
              <a:ext uri="{FF2B5EF4-FFF2-40B4-BE49-F238E27FC236}">
                <a16:creationId xmlns:a16="http://schemas.microsoft.com/office/drawing/2014/main" id="{0319F7D6-492B-011F-50C9-C80D97574A90}"/>
              </a:ext>
            </a:extLst>
          </p:cNvPr>
          <p:cNvPicPr>
            <a:picLocks noChangeAspect="1"/>
          </p:cNvPicPr>
          <p:nvPr/>
        </p:nvPicPr>
        <p:blipFill>
          <a:blip r:embed="rId5"/>
          <a:stretch>
            <a:fillRect/>
          </a:stretch>
        </p:blipFill>
        <p:spPr>
          <a:xfrm>
            <a:off x="10678380" y="3443315"/>
            <a:ext cx="1268668" cy="1130770"/>
          </a:xfrm>
          <a:prstGeom prst="rect">
            <a:avLst/>
          </a:prstGeom>
        </p:spPr>
      </p:pic>
      <p:pic>
        <p:nvPicPr>
          <p:cNvPr id="1026" name="Picture 2" descr="Vector Graphics &amp; Clip Art ...">
            <a:extLst>
              <a:ext uri="{FF2B5EF4-FFF2-40B4-BE49-F238E27FC236}">
                <a16:creationId xmlns:a16="http://schemas.microsoft.com/office/drawing/2014/main" id="{02407AC6-EDE0-BA8E-F868-190521E4781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69789" y="3832116"/>
            <a:ext cx="1253508" cy="125350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3DB1871-0E66-C893-D47E-48F679B611EC}"/>
              </a:ext>
            </a:extLst>
          </p:cNvPr>
          <p:cNvSpPr>
            <a:spLocks noGrp="1"/>
          </p:cNvSpPr>
          <p:nvPr>
            <p:ph type="title"/>
          </p:nvPr>
        </p:nvSpPr>
        <p:spPr/>
        <p:txBody>
          <a:bodyPr>
            <a:normAutofit/>
          </a:bodyPr>
          <a:lstStyle/>
          <a:p>
            <a:pPr algn="ctr"/>
            <a:r>
              <a:rPr lang="en-US" sz="4000" b="1"/>
              <a:t>Agentic Concepts</a:t>
            </a:r>
          </a:p>
        </p:txBody>
      </p:sp>
      <p:sp>
        <p:nvSpPr>
          <p:cNvPr id="5" name="Content Placeholder 4">
            <a:extLst>
              <a:ext uri="{FF2B5EF4-FFF2-40B4-BE49-F238E27FC236}">
                <a16:creationId xmlns:a16="http://schemas.microsoft.com/office/drawing/2014/main" id="{003609B2-CD4B-565C-5CC6-7C9FC4F1AC18}"/>
              </a:ext>
            </a:extLst>
          </p:cNvPr>
          <p:cNvSpPr>
            <a:spLocks noGrp="1"/>
          </p:cNvSpPr>
          <p:nvPr>
            <p:ph sz="half" idx="1"/>
          </p:nvPr>
        </p:nvSpPr>
        <p:spPr>
          <a:xfrm>
            <a:off x="350978" y="1902293"/>
            <a:ext cx="2716172" cy="552451"/>
          </a:xfrm>
        </p:spPr>
        <p:txBody>
          <a:bodyPr>
            <a:normAutofit lnSpcReduction="10000"/>
          </a:bodyPr>
          <a:lstStyle/>
          <a:p>
            <a:pPr marL="0" indent="0" algn="ctr">
              <a:buNone/>
            </a:pPr>
            <a:r>
              <a:rPr lang="en-US" b="1"/>
              <a:t>Non-Agentic</a:t>
            </a:r>
          </a:p>
        </p:txBody>
      </p:sp>
      <p:sp>
        <p:nvSpPr>
          <p:cNvPr id="6" name="Content Placeholder 5">
            <a:extLst>
              <a:ext uri="{FF2B5EF4-FFF2-40B4-BE49-F238E27FC236}">
                <a16:creationId xmlns:a16="http://schemas.microsoft.com/office/drawing/2014/main" id="{149D8ACF-D817-387E-00C5-D30C2E374C36}"/>
              </a:ext>
            </a:extLst>
          </p:cNvPr>
          <p:cNvSpPr>
            <a:spLocks noGrp="1"/>
          </p:cNvSpPr>
          <p:nvPr>
            <p:ph sz="half" idx="2"/>
          </p:nvPr>
        </p:nvSpPr>
        <p:spPr>
          <a:xfrm>
            <a:off x="7041156" y="1820484"/>
            <a:ext cx="1648134" cy="465000"/>
          </a:xfrm>
        </p:spPr>
        <p:txBody>
          <a:bodyPr>
            <a:normAutofit lnSpcReduction="10000"/>
          </a:bodyPr>
          <a:lstStyle/>
          <a:p>
            <a:pPr marL="0" indent="0" algn="ctr">
              <a:buNone/>
            </a:pPr>
            <a:r>
              <a:rPr lang="en-US" b="1"/>
              <a:t>Agentic</a:t>
            </a:r>
          </a:p>
          <a:p>
            <a:pPr marL="0" indent="0" algn="ctr">
              <a:buNone/>
            </a:pPr>
            <a:endParaRPr lang="en-US" sz="2000"/>
          </a:p>
        </p:txBody>
      </p:sp>
      <p:sp>
        <p:nvSpPr>
          <p:cNvPr id="8" name="TextBox 7">
            <a:extLst>
              <a:ext uri="{FF2B5EF4-FFF2-40B4-BE49-F238E27FC236}">
                <a16:creationId xmlns:a16="http://schemas.microsoft.com/office/drawing/2014/main" id="{17EBF006-4BFC-1465-92C2-0492861B427F}"/>
              </a:ext>
            </a:extLst>
          </p:cNvPr>
          <p:cNvSpPr txBox="1"/>
          <p:nvPr/>
        </p:nvSpPr>
        <p:spPr>
          <a:xfrm>
            <a:off x="482064" y="2821738"/>
            <a:ext cx="2012089" cy="369332"/>
          </a:xfrm>
          <a:prstGeom prst="rect">
            <a:avLst/>
          </a:prstGeom>
          <a:noFill/>
        </p:spPr>
        <p:txBody>
          <a:bodyPr wrap="none" rtlCol="0">
            <a:spAutoFit/>
          </a:bodyPr>
          <a:lstStyle/>
          <a:p>
            <a:r>
              <a:rPr lang="en-US">
                <a:latin typeface="NVIDIA Sans" panose="020B0503020203020204" pitchFamily="34" charset="0"/>
              </a:rPr>
              <a:t>Simple Question </a:t>
            </a:r>
          </a:p>
        </p:txBody>
      </p:sp>
      <p:sp>
        <p:nvSpPr>
          <p:cNvPr id="9" name="Rectangle: Rounded Corners 8">
            <a:extLst>
              <a:ext uri="{FF2B5EF4-FFF2-40B4-BE49-F238E27FC236}">
                <a16:creationId xmlns:a16="http://schemas.microsoft.com/office/drawing/2014/main" id="{5A3E10C9-840A-9563-A4E0-EBE5C2914FDE}"/>
              </a:ext>
            </a:extLst>
          </p:cNvPr>
          <p:cNvSpPr/>
          <p:nvPr/>
        </p:nvSpPr>
        <p:spPr>
          <a:xfrm>
            <a:off x="767125" y="4016675"/>
            <a:ext cx="1441968" cy="552450"/>
          </a:xfrm>
          <a:prstGeom prst="round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NVIDIA Sans" panose="020B0503020203020204" pitchFamily="34" charset="0"/>
              </a:rPr>
              <a:t>LLM</a:t>
            </a:r>
          </a:p>
        </p:txBody>
      </p:sp>
      <p:sp>
        <p:nvSpPr>
          <p:cNvPr id="10" name="TextBox 9">
            <a:extLst>
              <a:ext uri="{FF2B5EF4-FFF2-40B4-BE49-F238E27FC236}">
                <a16:creationId xmlns:a16="http://schemas.microsoft.com/office/drawing/2014/main" id="{7127AA81-A860-4DA6-0DD0-473ED1FFF152}"/>
              </a:ext>
            </a:extLst>
          </p:cNvPr>
          <p:cNvSpPr txBox="1"/>
          <p:nvPr/>
        </p:nvSpPr>
        <p:spPr>
          <a:xfrm>
            <a:off x="992666" y="5433581"/>
            <a:ext cx="985463" cy="369332"/>
          </a:xfrm>
          <a:prstGeom prst="rect">
            <a:avLst/>
          </a:prstGeom>
          <a:noFill/>
        </p:spPr>
        <p:txBody>
          <a:bodyPr wrap="none" rtlCol="0">
            <a:spAutoFit/>
          </a:bodyPr>
          <a:lstStyle/>
          <a:p>
            <a:r>
              <a:rPr lang="en-US">
                <a:latin typeface="NVIDIA Sans" panose="020B0503020203020204" pitchFamily="34" charset="0"/>
              </a:rPr>
              <a:t>Answer</a:t>
            </a:r>
          </a:p>
        </p:txBody>
      </p:sp>
      <p:sp>
        <p:nvSpPr>
          <p:cNvPr id="17" name="TextBox 16">
            <a:extLst>
              <a:ext uri="{FF2B5EF4-FFF2-40B4-BE49-F238E27FC236}">
                <a16:creationId xmlns:a16="http://schemas.microsoft.com/office/drawing/2014/main" id="{903C48CD-09D5-BDE4-CAE9-575DBA68E793}"/>
              </a:ext>
            </a:extLst>
          </p:cNvPr>
          <p:cNvSpPr txBox="1"/>
          <p:nvPr/>
        </p:nvSpPr>
        <p:spPr>
          <a:xfrm>
            <a:off x="4380597" y="2454744"/>
            <a:ext cx="2220480" cy="369332"/>
          </a:xfrm>
          <a:prstGeom prst="rect">
            <a:avLst/>
          </a:prstGeom>
          <a:noFill/>
        </p:spPr>
        <p:txBody>
          <a:bodyPr wrap="none" rtlCol="0">
            <a:spAutoFit/>
          </a:bodyPr>
          <a:lstStyle/>
          <a:p>
            <a:r>
              <a:rPr lang="en-US">
                <a:latin typeface="NVIDIA Sans" panose="020B0503020203020204" pitchFamily="34" charset="0"/>
              </a:rPr>
              <a:t>Complex Question </a:t>
            </a:r>
          </a:p>
        </p:txBody>
      </p:sp>
      <p:sp>
        <p:nvSpPr>
          <p:cNvPr id="20" name="Rectangle: Rounded Corners 19">
            <a:extLst>
              <a:ext uri="{FF2B5EF4-FFF2-40B4-BE49-F238E27FC236}">
                <a16:creationId xmlns:a16="http://schemas.microsoft.com/office/drawing/2014/main" id="{F7A1D2A6-491F-6FB7-DE0C-7A69F1B7AE1C}"/>
              </a:ext>
            </a:extLst>
          </p:cNvPr>
          <p:cNvSpPr/>
          <p:nvPr/>
        </p:nvSpPr>
        <p:spPr>
          <a:xfrm>
            <a:off x="4698010" y="3267736"/>
            <a:ext cx="1441968" cy="552450"/>
          </a:xfrm>
          <a:prstGeom prst="round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NVIDIA Sans" panose="020B0503020203020204" pitchFamily="34" charset="0"/>
              </a:rPr>
              <a:t>Planning</a:t>
            </a:r>
          </a:p>
        </p:txBody>
      </p:sp>
      <p:sp>
        <p:nvSpPr>
          <p:cNvPr id="21" name="TextBox 20">
            <a:extLst>
              <a:ext uri="{FF2B5EF4-FFF2-40B4-BE49-F238E27FC236}">
                <a16:creationId xmlns:a16="http://schemas.microsoft.com/office/drawing/2014/main" id="{8A7E83A9-A786-8A1E-8E0B-81706442F4EF}"/>
              </a:ext>
            </a:extLst>
          </p:cNvPr>
          <p:cNvSpPr txBox="1"/>
          <p:nvPr/>
        </p:nvSpPr>
        <p:spPr>
          <a:xfrm>
            <a:off x="4868411" y="5521715"/>
            <a:ext cx="1044773" cy="369332"/>
          </a:xfrm>
          <a:prstGeom prst="rect">
            <a:avLst/>
          </a:prstGeom>
          <a:noFill/>
        </p:spPr>
        <p:txBody>
          <a:bodyPr wrap="none" rtlCol="0">
            <a:spAutoFit/>
          </a:bodyPr>
          <a:lstStyle/>
          <a:p>
            <a:r>
              <a:rPr lang="en-US">
                <a:latin typeface="NVIDIA Sans" panose="020B0503020203020204" pitchFamily="34" charset="0"/>
              </a:rPr>
              <a:t>Answer </a:t>
            </a:r>
          </a:p>
        </p:txBody>
      </p:sp>
      <p:sp>
        <p:nvSpPr>
          <p:cNvPr id="22" name="Rectangle: Rounded Corners 21">
            <a:extLst>
              <a:ext uri="{FF2B5EF4-FFF2-40B4-BE49-F238E27FC236}">
                <a16:creationId xmlns:a16="http://schemas.microsoft.com/office/drawing/2014/main" id="{B5346107-4BCD-CE8C-48D7-04582093D8BD}"/>
              </a:ext>
            </a:extLst>
          </p:cNvPr>
          <p:cNvSpPr/>
          <p:nvPr/>
        </p:nvSpPr>
        <p:spPr>
          <a:xfrm>
            <a:off x="4702030" y="4609048"/>
            <a:ext cx="1441968" cy="552450"/>
          </a:xfrm>
          <a:prstGeom prst="round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NVIDIA Sans" panose="020B0503020203020204" pitchFamily="34" charset="0"/>
              </a:rPr>
              <a:t>Tools</a:t>
            </a:r>
          </a:p>
        </p:txBody>
      </p:sp>
      <p:sp>
        <p:nvSpPr>
          <p:cNvPr id="3" name="Rectangle: Rounded Corners 2">
            <a:extLst>
              <a:ext uri="{FF2B5EF4-FFF2-40B4-BE49-F238E27FC236}">
                <a16:creationId xmlns:a16="http://schemas.microsoft.com/office/drawing/2014/main" id="{0636DA95-9AAD-E7C2-0F49-B65AD31F381F}"/>
              </a:ext>
            </a:extLst>
          </p:cNvPr>
          <p:cNvSpPr/>
          <p:nvPr/>
        </p:nvSpPr>
        <p:spPr>
          <a:xfrm>
            <a:off x="4702030" y="3946621"/>
            <a:ext cx="1441968" cy="552450"/>
          </a:xfrm>
          <a:prstGeom prst="round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NVIDIA Sans" panose="020B0503020203020204" pitchFamily="34" charset="0"/>
              </a:rPr>
              <a:t>Memory</a:t>
            </a:r>
          </a:p>
        </p:txBody>
      </p:sp>
      <p:sp>
        <p:nvSpPr>
          <p:cNvPr id="15" name="Rectangle: Rounded Corners 14">
            <a:extLst>
              <a:ext uri="{FF2B5EF4-FFF2-40B4-BE49-F238E27FC236}">
                <a16:creationId xmlns:a16="http://schemas.microsoft.com/office/drawing/2014/main" id="{5F8DF5CD-C8A9-1874-1E5A-ADBB04BC143C}"/>
              </a:ext>
            </a:extLst>
          </p:cNvPr>
          <p:cNvSpPr/>
          <p:nvPr/>
        </p:nvSpPr>
        <p:spPr>
          <a:xfrm>
            <a:off x="3204793" y="3111856"/>
            <a:ext cx="4556727" cy="2152627"/>
          </a:xfrm>
          <a:prstGeom prst="roundRect">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NVIDIA Sans" panose="020B0503020203020204" pitchFamily="34" charset="0"/>
            </a:endParaRPr>
          </a:p>
        </p:txBody>
      </p:sp>
      <p:cxnSp>
        <p:nvCxnSpPr>
          <p:cNvPr id="19" name="Straight Arrow Connector 18">
            <a:extLst>
              <a:ext uri="{FF2B5EF4-FFF2-40B4-BE49-F238E27FC236}">
                <a16:creationId xmlns:a16="http://schemas.microsoft.com/office/drawing/2014/main" id="{B29D910B-7146-09D6-DC59-A436D7C91B7B}"/>
              </a:ext>
            </a:extLst>
          </p:cNvPr>
          <p:cNvCxnSpPr>
            <a:cxnSpLocks/>
            <a:stCxn id="8" idx="2"/>
            <a:endCxn id="9" idx="0"/>
          </p:cNvCxnSpPr>
          <p:nvPr/>
        </p:nvCxnSpPr>
        <p:spPr>
          <a:xfrm>
            <a:off x="1488109" y="3191070"/>
            <a:ext cx="0" cy="825605"/>
          </a:xfrm>
          <a:prstGeom prst="straightConnector1">
            <a:avLst/>
          </a:prstGeom>
          <a:ln w="254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F498C198-9A4E-9BCE-7CC2-CC22B84B3A85}"/>
              </a:ext>
            </a:extLst>
          </p:cNvPr>
          <p:cNvCxnSpPr>
            <a:cxnSpLocks/>
            <a:stCxn id="9" idx="2"/>
            <a:endCxn id="10" idx="0"/>
          </p:cNvCxnSpPr>
          <p:nvPr/>
        </p:nvCxnSpPr>
        <p:spPr>
          <a:xfrm flipH="1">
            <a:off x="1485398" y="4569125"/>
            <a:ext cx="2711" cy="864456"/>
          </a:xfrm>
          <a:prstGeom prst="straightConnector1">
            <a:avLst/>
          </a:prstGeom>
          <a:ln w="254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72EE02B0-35AA-503B-D147-4AF70532C814}"/>
              </a:ext>
            </a:extLst>
          </p:cNvPr>
          <p:cNvCxnSpPr>
            <a:cxnSpLocks/>
          </p:cNvCxnSpPr>
          <p:nvPr/>
        </p:nvCxnSpPr>
        <p:spPr>
          <a:xfrm>
            <a:off x="5390799" y="2815123"/>
            <a:ext cx="0" cy="319198"/>
          </a:xfrm>
          <a:prstGeom prst="straightConnector1">
            <a:avLst/>
          </a:prstGeom>
          <a:ln w="254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E7C4A456-730C-F09A-1203-80DC571C431E}"/>
              </a:ext>
            </a:extLst>
          </p:cNvPr>
          <p:cNvCxnSpPr>
            <a:cxnSpLocks/>
          </p:cNvCxnSpPr>
          <p:nvPr/>
        </p:nvCxnSpPr>
        <p:spPr>
          <a:xfrm>
            <a:off x="5390798" y="5264484"/>
            <a:ext cx="0" cy="319198"/>
          </a:xfrm>
          <a:prstGeom prst="straightConnector1">
            <a:avLst/>
          </a:prstGeom>
          <a:ln w="254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9" name="Arrow: Quad 38">
            <a:extLst>
              <a:ext uri="{FF2B5EF4-FFF2-40B4-BE49-F238E27FC236}">
                <a16:creationId xmlns:a16="http://schemas.microsoft.com/office/drawing/2014/main" id="{E42EF79B-A2BB-0ABB-B5A9-33F8E7C60220}"/>
              </a:ext>
            </a:extLst>
          </p:cNvPr>
          <p:cNvSpPr/>
          <p:nvPr/>
        </p:nvSpPr>
        <p:spPr>
          <a:xfrm>
            <a:off x="9535854" y="3651303"/>
            <a:ext cx="1176243" cy="1014608"/>
          </a:xfrm>
          <a:prstGeom prst="quadArrow">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1373EF7F-9672-0E6F-B9C1-51879768A484}"/>
              </a:ext>
            </a:extLst>
          </p:cNvPr>
          <p:cNvSpPr txBox="1"/>
          <p:nvPr/>
        </p:nvSpPr>
        <p:spPr>
          <a:xfrm>
            <a:off x="6625434" y="3710620"/>
            <a:ext cx="787067" cy="369332"/>
          </a:xfrm>
          <a:prstGeom prst="rect">
            <a:avLst/>
          </a:prstGeom>
          <a:noFill/>
        </p:spPr>
        <p:txBody>
          <a:bodyPr wrap="square" rtlCol="0">
            <a:spAutoFit/>
          </a:bodyPr>
          <a:lstStyle/>
          <a:p>
            <a:r>
              <a:rPr lang="en-US">
                <a:latin typeface="NVIDIA Sans" panose="020B0503020203020204" pitchFamily="34" charset="0"/>
                <a:cs typeface="NVIDIA Sans" panose="020B0503020203020204" pitchFamily="34" charset="0"/>
              </a:rPr>
              <a:t>LLM</a:t>
            </a:r>
          </a:p>
        </p:txBody>
      </p:sp>
      <p:sp>
        <p:nvSpPr>
          <p:cNvPr id="49" name="TextBox 48">
            <a:extLst>
              <a:ext uri="{FF2B5EF4-FFF2-40B4-BE49-F238E27FC236}">
                <a16:creationId xmlns:a16="http://schemas.microsoft.com/office/drawing/2014/main" id="{AC3F6F93-515E-57C9-4E38-2091ACFB965C}"/>
              </a:ext>
            </a:extLst>
          </p:cNvPr>
          <p:cNvSpPr txBox="1"/>
          <p:nvPr/>
        </p:nvSpPr>
        <p:spPr>
          <a:xfrm>
            <a:off x="9214495" y="5963179"/>
            <a:ext cx="1486369" cy="369332"/>
          </a:xfrm>
          <a:prstGeom prst="rect">
            <a:avLst/>
          </a:prstGeom>
          <a:noFill/>
        </p:spPr>
        <p:txBody>
          <a:bodyPr wrap="none" rtlCol="0">
            <a:spAutoFit/>
          </a:bodyPr>
          <a:lstStyle/>
          <a:p>
            <a:r>
              <a:rPr lang="en-US">
                <a:latin typeface="NVIDIA Sans" panose="020B0503020203020204" pitchFamily="34" charset="0"/>
              </a:rPr>
              <a:t>Multi-Agent</a:t>
            </a:r>
          </a:p>
        </p:txBody>
      </p:sp>
      <p:sp>
        <p:nvSpPr>
          <p:cNvPr id="50" name="object 4">
            <a:extLst>
              <a:ext uri="{FF2B5EF4-FFF2-40B4-BE49-F238E27FC236}">
                <a16:creationId xmlns:a16="http://schemas.microsoft.com/office/drawing/2014/main" id="{85C9A281-20CC-F6ED-1534-99DF6014827C}"/>
              </a:ext>
            </a:extLst>
          </p:cNvPr>
          <p:cNvSpPr txBox="1">
            <a:spLocks/>
          </p:cNvSpPr>
          <p:nvPr/>
        </p:nvSpPr>
        <p:spPr>
          <a:xfrm>
            <a:off x="10722243" y="6391299"/>
            <a:ext cx="251586" cy="218650"/>
          </a:xfrm>
          <a:prstGeom prst="rect">
            <a:avLst/>
          </a:prstGeom>
        </p:spPr>
        <p:txBody>
          <a:bodyPr vert="horz" wrap="square" lIns="0" tIns="317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18745">
              <a:spcBef>
                <a:spcPts val="25"/>
              </a:spcBef>
            </a:pPr>
            <a:fld id="{81D60167-4931-47E6-BA6A-407CBD079E47}" type="slidenum">
              <a:rPr lang="en-US" sz="1400" spc="-50" smtClean="0">
                <a:latin typeface="NVIDIA Sans" panose="020B0503020203020204" pitchFamily="34" charset="0"/>
              </a:rPr>
              <a:pPr marL="118745">
                <a:spcBef>
                  <a:spcPts val="25"/>
                </a:spcBef>
              </a:pPr>
              <a:t>3</a:t>
            </a:fld>
            <a:endParaRPr lang="en-US" sz="1400" spc="-50">
              <a:latin typeface="NVIDIA Sans" panose="020B0503020203020204" pitchFamily="34" charset="0"/>
            </a:endParaRPr>
          </a:p>
        </p:txBody>
      </p:sp>
      <p:sp>
        <p:nvSpPr>
          <p:cNvPr id="51" name="TextBox 50">
            <a:extLst>
              <a:ext uri="{FF2B5EF4-FFF2-40B4-BE49-F238E27FC236}">
                <a16:creationId xmlns:a16="http://schemas.microsoft.com/office/drawing/2014/main" id="{D2C2878D-EB21-AC02-0663-1CFC2FAE5462}"/>
              </a:ext>
            </a:extLst>
          </p:cNvPr>
          <p:cNvSpPr txBox="1"/>
          <p:nvPr/>
        </p:nvSpPr>
        <p:spPr>
          <a:xfrm>
            <a:off x="4612507" y="5963179"/>
            <a:ext cx="1556580" cy="369332"/>
          </a:xfrm>
          <a:prstGeom prst="rect">
            <a:avLst/>
          </a:prstGeom>
          <a:noFill/>
        </p:spPr>
        <p:txBody>
          <a:bodyPr wrap="none" rtlCol="0">
            <a:spAutoFit/>
          </a:bodyPr>
          <a:lstStyle/>
          <a:p>
            <a:r>
              <a:rPr lang="en-US">
                <a:latin typeface="NVIDIA Sans" panose="020B0503020203020204" pitchFamily="34" charset="0"/>
              </a:rPr>
              <a:t>Single Agent</a:t>
            </a:r>
          </a:p>
        </p:txBody>
      </p:sp>
      <p:pic>
        <p:nvPicPr>
          <p:cNvPr id="4" name="Picture 3">
            <a:extLst>
              <a:ext uri="{FF2B5EF4-FFF2-40B4-BE49-F238E27FC236}">
                <a16:creationId xmlns:a16="http://schemas.microsoft.com/office/drawing/2014/main" id="{C7314C9D-8790-51D0-C388-244E81C2E364}"/>
              </a:ext>
            </a:extLst>
          </p:cNvPr>
          <p:cNvPicPr>
            <a:picLocks noChangeAspect="1"/>
          </p:cNvPicPr>
          <p:nvPr/>
        </p:nvPicPr>
        <p:blipFill>
          <a:blip r:embed="rId3"/>
          <a:stretch>
            <a:fillRect/>
          </a:stretch>
        </p:blipFill>
        <p:spPr>
          <a:xfrm>
            <a:off x="3253070" y="3550234"/>
            <a:ext cx="1359437" cy="1253508"/>
          </a:xfrm>
          <a:prstGeom prst="rect">
            <a:avLst/>
          </a:prstGeom>
        </p:spPr>
      </p:pic>
      <p:pic>
        <p:nvPicPr>
          <p:cNvPr id="25" name="Picture 24">
            <a:extLst>
              <a:ext uri="{FF2B5EF4-FFF2-40B4-BE49-F238E27FC236}">
                <a16:creationId xmlns:a16="http://schemas.microsoft.com/office/drawing/2014/main" id="{46202602-2AB1-2F45-F106-E5DBFF6F3BAC}"/>
              </a:ext>
            </a:extLst>
          </p:cNvPr>
          <p:cNvPicPr>
            <a:picLocks noChangeAspect="1"/>
          </p:cNvPicPr>
          <p:nvPr/>
        </p:nvPicPr>
        <p:blipFill>
          <a:blip r:embed="rId7"/>
          <a:stretch>
            <a:fillRect/>
          </a:stretch>
        </p:blipFill>
        <p:spPr>
          <a:xfrm>
            <a:off x="8191351" y="3443315"/>
            <a:ext cx="1242983" cy="1091399"/>
          </a:xfrm>
          <a:prstGeom prst="rect">
            <a:avLst/>
          </a:prstGeom>
        </p:spPr>
      </p:pic>
    </p:spTree>
    <p:extLst>
      <p:ext uri="{BB962C8B-B14F-4D97-AF65-F5344CB8AC3E}">
        <p14:creationId xmlns:p14="http://schemas.microsoft.com/office/powerpoint/2010/main" val="32398973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C1113-398F-9192-206C-9EDE629C73DA}"/>
              </a:ext>
            </a:extLst>
          </p:cNvPr>
          <p:cNvSpPr>
            <a:spLocks noGrp="1"/>
          </p:cNvSpPr>
          <p:nvPr>
            <p:ph type="title"/>
          </p:nvPr>
        </p:nvSpPr>
        <p:spPr/>
        <p:txBody>
          <a:bodyPr>
            <a:normAutofit/>
          </a:bodyPr>
          <a:lstStyle/>
          <a:p>
            <a:pPr algn="ctr"/>
            <a:r>
              <a:rPr lang="en-US" sz="4000" b="1"/>
              <a:t>Planning</a:t>
            </a:r>
          </a:p>
        </p:txBody>
      </p:sp>
      <p:sp>
        <p:nvSpPr>
          <p:cNvPr id="3" name="Content Placeholder 2">
            <a:extLst>
              <a:ext uri="{FF2B5EF4-FFF2-40B4-BE49-F238E27FC236}">
                <a16:creationId xmlns:a16="http://schemas.microsoft.com/office/drawing/2014/main" id="{9D17D2BB-1396-5644-4D86-1E4A56B3D104}"/>
              </a:ext>
            </a:extLst>
          </p:cNvPr>
          <p:cNvSpPr>
            <a:spLocks noGrp="1"/>
          </p:cNvSpPr>
          <p:nvPr>
            <p:ph idx="1"/>
          </p:nvPr>
        </p:nvSpPr>
        <p:spPr/>
        <p:txBody>
          <a:bodyPr>
            <a:normAutofit/>
          </a:bodyPr>
          <a:lstStyle/>
          <a:p>
            <a:r>
              <a:rPr lang="en-US"/>
              <a:t>Without feedback</a:t>
            </a:r>
          </a:p>
          <a:p>
            <a:pPr lvl="1"/>
            <a:r>
              <a:rPr lang="en-US">
                <a:sym typeface="Wingdings" panose="05000000000000000000" pitchFamily="2" charset="2"/>
              </a:rPr>
              <a:t>Chain-of-Thought</a:t>
            </a:r>
          </a:p>
          <a:p>
            <a:pPr lvl="1"/>
            <a:r>
              <a:rPr lang="en-US">
                <a:sym typeface="Wingdings" panose="05000000000000000000" pitchFamily="2" charset="2"/>
              </a:rPr>
              <a:t>Tree-of-Thought</a:t>
            </a:r>
          </a:p>
          <a:p>
            <a:r>
              <a:rPr lang="en-US">
                <a:sym typeface="Wingdings" panose="05000000000000000000" pitchFamily="2" charset="2"/>
              </a:rPr>
              <a:t>With feedback</a:t>
            </a:r>
          </a:p>
          <a:p>
            <a:pPr lvl="1"/>
            <a:r>
              <a:rPr lang="en-US" err="1">
                <a:sym typeface="Wingdings" panose="05000000000000000000" pitchFamily="2" charset="2"/>
              </a:rPr>
              <a:t>ReACT</a:t>
            </a:r>
            <a:endParaRPr lang="en-US">
              <a:sym typeface="Wingdings" panose="05000000000000000000" pitchFamily="2" charset="2"/>
            </a:endParaRPr>
          </a:p>
          <a:p>
            <a:pPr lvl="1"/>
            <a:r>
              <a:rPr lang="en-US">
                <a:sym typeface="Wingdings" panose="05000000000000000000" pitchFamily="2" charset="2"/>
              </a:rPr>
              <a:t>Self-Reflection</a:t>
            </a:r>
          </a:p>
        </p:txBody>
      </p:sp>
      <p:sp>
        <p:nvSpPr>
          <p:cNvPr id="5" name="object 4">
            <a:extLst>
              <a:ext uri="{FF2B5EF4-FFF2-40B4-BE49-F238E27FC236}">
                <a16:creationId xmlns:a16="http://schemas.microsoft.com/office/drawing/2014/main" id="{4B50701C-2943-8B6C-F877-D77C1527572B}"/>
              </a:ext>
            </a:extLst>
          </p:cNvPr>
          <p:cNvSpPr txBox="1">
            <a:spLocks/>
          </p:cNvSpPr>
          <p:nvPr/>
        </p:nvSpPr>
        <p:spPr>
          <a:xfrm>
            <a:off x="10722243" y="6391299"/>
            <a:ext cx="251586" cy="218650"/>
          </a:xfrm>
          <a:prstGeom prst="rect">
            <a:avLst/>
          </a:prstGeom>
        </p:spPr>
        <p:txBody>
          <a:bodyPr vert="horz" wrap="square" lIns="0" tIns="317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18745">
              <a:spcBef>
                <a:spcPts val="25"/>
              </a:spcBef>
            </a:pPr>
            <a:fld id="{81D60167-4931-47E6-BA6A-407CBD079E47}" type="slidenum">
              <a:rPr lang="en-US" sz="1400" spc="-50" smtClean="0">
                <a:latin typeface="NVIDIA Sans" panose="020B0503020203020204" pitchFamily="34" charset="0"/>
              </a:rPr>
              <a:pPr marL="118745">
                <a:spcBef>
                  <a:spcPts val="25"/>
                </a:spcBef>
              </a:pPr>
              <a:t>4</a:t>
            </a:fld>
            <a:endParaRPr lang="en-US" sz="1400" spc="-50">
              <a:latin typeface="NVIDIA Sans" panose="020B0503020203020204" pitchFamily="34" charset="0"/>
            </a:endParaRPr>
          </a:p>
        </p:txBody>
      </p:sp>
    </p:spTree>
    <p:extLst>
      <p:ext uri="{BB962C8B-B14F-4D97-AF65-F5344CB8AC3E}">
        <p14:creationId xmlns:p14="http://schemas.microsoft.com/office/powerpoint/2010/main" val="38824481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7D614-7F87-BFF3-DFFD-21082A9555BB}"/>
              </a:ext>
            </a:extLst>
          </p:cNvPr>
          <p:cNvSpPr>
            <a:spLocks noGrp="1"/>
          </p:cNvSpPr>
          <p:nvPr>
            <p:ph type="title"/>
          </p:nvPr>
        </p:nvSpPr>
        <p:spPr/>
        <p:txBody>
          <a:bodyPr>
            <a:normAutofit/>
          </a:bodyPr>
          <a:lstStyle/>
          <a:p>
            <a:pPr algn="ctr"/>
            <a:r>
              <a:rPr lang="en-US" sz="4000" b="1"/>
              <a:t>Planning – Without Feedback</a:t>
            </a:r>
          </a:p>
        </p:txBody>
      </p:sp>
      <p:sp>
        <p:nvSpPr>
          <p:cNvPr id="5" name="Content Placeholder 4">
            <a:extLst>
              <a:ext uri="{FF2B5EF4-FFF2-40B4-BE49-F238E27FC236}">
                <a16:creationId xmlns:a16="http://schemas.microsoft.com/office/drawing/2014/main" id="{22D5ECA7-BA87-0FA6-3C79-54E1AF22E842}"/>
              </a:ext>
            </a:extLst>
          </p:cNvPr>
          <p:cNvSpPr>
            <a:spLocks noGrp="1"/>
          </p:cNvSpPr>
          <p:nvPr>
            <p:ph idx="1"/>
          </p:nvPr>
        </p:nvSpPr>
        <p:spPr>
          <a:xfrm>
            <a:off x="819150" y="2873347"/>
            <a:ext cx="4864100" cy="2124075"/>
          </a:xfrm>
          <a:ln w="25400">
            <a:solidFill>
              <a:schemeClr val="accent5"/>
            </a:solidFill>
          </a:ln>
        </p:spPr>
        <p:txBody>
          <a:bodyPr>
            <a:normAutofit lnSpcReduction="10000"/>
          </a:bodyPr>
          <a:lstStyle/>
          <a:p>
            <a:pPr marL="0" indent="0">
              <a:buNone/>
            </a:pPr>
            <a:r>
              <a:rPr lang="en-US" sz="1800"/>
              <a:t>Design a RISC-V processor core, follow the following steps:</a:t>
            </a:r>
          </a:p>
          <a:p>
            <a:pPr marL="0" indent="0">
              <a:buNone/>
            </a:pPr>
            <a:r>
              <a:rPr lang="en-US" sz="1800"/>
              <a:t>1. define the microarchitecture of the processor.</a:t>
            </a:r>
          </a:p>
          <a:p>
            <a:pPr marL="0" indent="0">
              <a:buNone/>
            </a:pPr>
            <a:r>
              <a:rPr lang="en-US" sz="1800"/>
              <a:t>2. give the function specification of each microarchitecture component.</a:t>
            </a:r>
          </a:p>
          <a:p>
            <a:pPr marL="0" indent="0">
              <a:buNone/>
            </a:pPr>
            <a:r>
              <a:rPr lang="en-US" sz="1800"/>
              <a:t>3. Implement each function in RTL</a:t>
            </a:r>
          </a:p>
        </p:txBody>
      </p:sp>
      <p:sp>
        <p:nvSpPr>
          <p:cNvPr id="9" name="TextBox 8">
            <a:extLst>
              <a:ext uri="{FF2B5EF4-FFF2-40B4-BE49-F238E27FC236}">
                <a16:creationId xmlns:a16="http://schemas.microsoft.com/office/drawing/2014/main" id="{2A976393-59FE-5F8C-102C-D7991044881B}"/>
              </a:ext>
            </a:extLst>
          </p:cNvPr>
          <p:cNvSpPr txBox="1"/>
          <p:nvPr/>
        </p:nvSpPr>
        <p:spPr>
          <a:xfrm>
            <a:off x="597499" y="6358852"/>
            <a:ext cx="9049310" cy="307777"/>
          </a:xfrm>
          <a:prstGeom prst="rect">
            <a:avLst/>
          </a:prstGeom>
          <a:noFill/>
        </p:spPr>
        <p:txBody>
          <a:bodyPr wrap="square">
            <a:spAutoFit/>
          </a:bodyPr>
          <a:lstStyle/>
          <a:p>
            <a:r>
              <a:rPr lang="en-US" sz="1400" i="1">
                <a:latin typeface="NVIDIA Sans" panose="020B0503020203020204" pitchFamily="34" charset="0"/>
              </a:rPr>
              <a:t>J. Wei et al, Chain-of-Thought Prompting Elicits Reasoning in Large Language Models</a:t>
            </a:r>
          </a:p>
        </p:txBody>
      </p:sp>
      <p:sp>
        <p:nvSpPr>
          <p:cNvPr id="11" name="TextBox 10">
            <a:extLst>
              <a:ext uri="{FF2B5EF4-FFF2-40B4-BE49-F238E27FC236}">
                <a16:creationId xmlns:a16="http://schemas.microsoft.com/office/drawing/2014/main" id="{5C360995-91AF-D5F3-CC8F-3E058883D1A8}"/>
              </a:ext>
            </a:extLst>
          </p:cNvPr>
          <p:cNvSpPr txBox="1"/>
          <p:nvPr/>
        </p:nvSpPr>
        <p:spPr>
          <a:xfrm>
            <a:off x="6862784" y="2859825"/>
            <a:ext cx="4644981" cy="3255009"/>
          </a:xfrm>
          <a:prstGeom prst="rect">
            <a:avLst/>
          </a:prstGeom>
          <a:ln w="25400">
            <a:solidFill>
              <a:schemeClr val="accent5"/>
            </a:solidFill>
          </a:ln>
        </p:spPr>
        <p:txBody>
          <a:bodyPr vert="horz" lIns="91440" tIns="45720" rIns="91440" bIns="45720" rtlCol="0">
            <a:normAutofit fontScale="92500" lnSpcReduction="10000"/>
          </a:bodyPr>
          <a:lstStyle>
            <a:lvl1pPr indent="0">
              <a:lnSpc>
                <a:spcPct val="90000"/>
              </a:lnSpc>
              <a:spcBef>
                <a:spcPts val="1000"/>
              </a:spcBef>
              <a:buFont typeface="Arial" panose="020B0604020202020204" pitchFamily="34" charset="0"/>
              <a:buNone/>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atin typeface="NVIDIA Sans" panose="020B0503020203020204" pitchFamily="34" charset="0"/>
              </a:rPr>
              <a:t>Implement a SPARC processor core :</a:t>
            </a:r>
          </a:p>
          <a:p>
            <a:r>
              <a:rPr lang="en-US">
                <a:latin typeface="NVIDIA Sans" panose="020B0503020203020204" pitchFamily="34" charset="0"/>
              </a:rPr>
              <a:t>The SPARC processor core is divided into 7 main blocks: Instruction fetch unit (IFU), Execution unit (EXU), Load/Store unit (LSU), …</a:t>
            </a:r>
          </a:p>
          <a:p>
            <a:r>
              <a:rPr lang="en-US">
                <a:latin typeface="NVIDIA Sans" panose="020B0503020203020204" pitchFamily="34" charset="0"/>
              </a:rPr>
              <a:t>IFU: The instruction fetch unit (IFU) is responsible for maintaining the program counters (PC) of different threads and fetching the corresponding instructions. </a:t>
            </a:r>
          </a:p>
          <a:p>
            <a:r>
              <a:rPr lang="en-US">
                <a:latin typeface="NVIDIA Sans" panose="020B0503020203020204" pitchFamily="34" charset="0"/>
              </a:rPr>
              <a:t>…</a:t>
            </a:r>
          </a:p>
          <a:p>
            <a:r>
              <a:rPr lang="en-US">
                <a:latin typeface="NVIDIA Sans" panose="020B0503020203020204" pitchFamily="34" charset="0"/>
              </a:rPr>
              <a:t>RTL code for IFU:  …</a:t>
            </a:r>
          </a:p>
          <a:p>
            <a:r>
              <a:rPr lang="en-US">
                <a:latin typeface="NVIDIA Sans" panose="020B0503020203020204" pitchFamily="34" charset="0"/>
              </a:rPr>
              <a:t>Now design a RISC-V processor core:</a:t>
            </a:r>
          </a:p>
        </p:txBody>
      </p:sp>
      <p:sp>
        <p:nvSpPr>
          <p:cNvPr id="13" name="Content Placeholder 4">
            <a:extLst>
              <a:ext uri="{FF2B5EF4-FFF2-40B4-BE49-F238E27FC236}">
                <a16:creationId xmlns:a16="http://schemas.microsoft.com/office/drawing/2014/main" id="{F438CF4E-5EBD-A6B7-EE7E-56CCF29FC471}"/>
              </a:ext>
            </a:extLst>
          </p:cNvPr>
          <p:cNvSpPr txBox="1">
            <a:spLocks/>
          </p:cNvSpPr>
          <p:nvPr/>
        </p:nvSpPr>
        <p:spPr>
          <a:xfrm>
            <a:off x="838200" y="5635656"/>
            <a:ext cx="4864100" cy="479178"/>
          </a:xfrm>
          <a:prstGeom prst="rect">
            <a:avLst/>
          </a:prstGeom>
          <a:ln w="25400">
            <a:solidFill>
              <a:schemeClr val="accent5"/>
            </a:solidFill>
          </a:ln>
        </p:spPr>
        <p:txBody>
          <a:bodyPr vert="horz" lIns="91440" tIns="45720" rIns="91440" bIns="45720" rtlCol="0">
            <a:normAutofit fontScale="92500" lnSpcReduction="20000"/>
          </a:bodyPr>
          <a:lstStyle>
            <a:lvl1pPr indent="0">
              <a:lnSpc>
                <a:spcPct val="90000"/>
              </a:lnSpc>
              <a:spcBef>
                <a:spcPts val="1000"/>
              </a:spcBef>
              <a:buFont typeface="Arial" panose="020B0604020202020204" pitchFamily="34" charset="0"/>
              <a:buNone/>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1800">
                <a:latin typeface="NVIDIA Sans" panose="020B0503020203020204" pitchFamily="34" charset="0"/>
              </a:rPr>
              <a:t>Design a RISC-V processor core. </a:t>
            </a:r>
            <a:r>
              <a:rPr lang="en-US">
                <a:latin typeface="NVIDIA Sans" panose="020B0503020203020204" pitchFamily="34" charset="0"/>
              </a:rPr>
              <a:t>Let’s think step by step as a design engineer.</a:t>
            </a:r>
          </a:p>
        </p:txBody>
      </p:sp>
      <p:sp>
        <p:nvSpPr>
          <p:cNvPr id="14" name="TextBox 13">
            <a:extLst>
              <a:ext uri="{FF2B5EF4-FFF2-40B4-BE49-F238E27FC236}">
                <a16:creationId xmlns:a16="http://schemas.microsoft.com/office/drawing/2014/main" id="{CEA748F5-687E-5241-6B61-ECB8F0E26D96}"/>
              </a:ext>
            </a:extLst>
          </p:cNvPr>
          <p:cNvSpPr txBox="1"/>
          <p:nvPr/>
        </p:nvSpPr>
        <p:spPr>
          <a:xfrm>
            <a:off x="2133040" y="2419779"/>
            <a:ext cx="2215671" cy="369332"/>
          </a:xfrm>
          <a:prstGeom prst="rect">
            <a:avLst/>
          </a:prstGeom>
          <a:noFill/>
        </p:spPr>
        <p:txBody>
          <a:bodyPr wrap="none" rtlCol="0">
            <a:spAutoFit/>
          </a:bodyPr>
          <a:lstStyle/>
          <a:p>
            <a:r>
              <a:rPr lang="en-US">
                <a:solidFill>
                  <a:schemeClr val="accent6"/>
                </a:solidFill>
                <a:latin typeface="NVIDIA Sans" panose="020B0503020203020204" pitchFamily="34" charset="0"/>
              </a:rPr>
              <a:t>Explicit Instruction</a:t>
            </a:r>
          </a:p>
        </p:txBody>
      </p:sp>
      <p:sp>
        <p:nvSpPr>
          <p:cNvPr id="15" name="TextBox 14">
            <a:extLst>
              <a:ext uri="{FF2B5EF4-FFF2-40B4-BE49-F238E27FC236}">
                <a16:creationId xmlns:a16="http://schemas.microsoft.com/office/drawing/2014/main" id="{8421FBED-39B9-FE6F-6850-B8993EDBF14D}"/>
              </a:ext>
            </a:extLst>
          </p:cNvPr>
          <p:cNvSpPr txBox="1"/>
          <p:nvPr/>
        </p:nvSpPr>
        <p:spPr>
          <a:xfrm>
            <a:off x="2322605" y="5266324"/>
            <a:ext cx="2231701" cy="369332"/>
          </a:xfrm>
          <a:prstGeom prst="rect">
            <a:avLst/>
          </a:prstGeom>
          <a:noFill/>
        </p:spPr>
        <p:txBody>
          <a:bodyPr wrap="none" rtlCol="0">
            <a:spAutoFit/>
          </a:bodyPr>
          <a:lstStyle/>
          <a:p>
            <a:r>
              <a:rPr lang="en-US">
                <a:solidFill>
                  <a:schemeClr val="accent6"/>
                </a:solidFill>
                <a:latin typeface="NVIDIA Sans" panose="020B0503020203020204" pitchFamily="34" charset="0"/>
              </a:rPr>
              <a:t>Implicit Instruction</a:t>
            </a:r>
          </a:p>
        </p:txBody>
      </p:sp>
      <p:sp>
        <p:nvSpPr>
          <p:cNvPr id="16" name="TextBox 15">
            <a:extLst>
              <a:ext uri="{FF2B5EF4-FFF2-40B4-BE49-F238E27FC236}">
                <a16:creationId xmlns:a16="http://schemas.microsoft.com/office/drawing/2014/main" id="{67B8CFB5-D6C3-AE61-CD29-3F627E5C6F4C}"/>
              </a:ext>
            </a:extLst>
          </p:cNvPr>
          <p:cNvSpPr txBox="1"/>
          <p:nvPr/>
        </p:nvSpPr>
        <p:spPr>
          <a:xfrm>
            <a:off x="7596754" y="2428364"/>
            <a:ext cx="2860398" cy="369332"/>
          </a:xfrm>
          <a:prstGeom prst="rect">
            <a:avLst/>
          </a:prstGeom>
          <a:noFill/>
        </p:spPr>
        <p:txBody>
          <a:bodyPr wrap="none" rtlCol="0">
            <a:spAutoFit/>
          </a:bodyPr>
          <a:lstStyle/>
          <a:p>
            <a:r>
              <a:rPr lang="en-US">
                <a:solidFill>
                  <a:schemeClr val="accent6"/>
                </a:solidFill>
                <a:latin typeface="NVIDIA Sans" panose="020B0503020203020204" pitchFamily="34" charset="0"/>
              </a:rPr>
              <a:t>Demonstrative Examples</a:t>
            </a:r>
          </a:p>
        </p:txBody>
      </p:sp>
      <p:sp>
        <p:nvSpPr>
          <p:cNvPr id="17" name="Content Placeholder 11">
            <a:extLst>
              <a:ext uri="{FF2B5EF4-FFF2-40B4-BE49-F238E27FC236}">
                <a16:creationId xmlns:a16="http://schemas.microsoft.com/office/drawing/2014/main" id="{25B728FF-17C4-9B1D-8CE8-F3435034B043}"/>
              </a:ext>
            </a:extLst>
          </p:cNvPr>
          <p:cNvSpPr txBox="1">
            <a:spLocks/>
          </p:cNvSpPr>
          <p:nvPr/>
        </p:nvSpPr>
        <p:spPr>
          <a:xfrm>
            <a:off x="838200" y="1515101"/>
            <a:ext cx="10515600" cy="46618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sz="2400">
                <a:latin typeface="NVIDIA Sans" panose="020B0503020203020204" pitchFamily="34" charset="0"/>
              </a:rPr>
              <a:t>Chain-of-Thought (</a:t>
            </a:r>
            <a:r>
              <a:rPr lang="en-US" altLang="zh-CN" sz="2400" err="1">
                <a:latin typeface="NVIDIA Sans" panose="020B0503020203020204" pitchFamily="34" charset="0"/>
              </a:rPr>
              <a:t>CoT</a:t>
            </a:r>
            <a:r>
              <a:rPr lang="en-US" altLang="zh-CN" sz="2400">
                <a:latin typeface="NVIDIA Sans" panose="020B0503020203020204" pitchFamily="34" charset="0"/>
              </a:rPr>
              <a:t>): Step-by-step planning with one-shot task decomposition</a:t>
            </a:r>
            <a:endParaRPr lang="en-US" sz="2400">
              <a:latin typeface="NVIDIA Sans" panose="020B0503020203020204" pitchFamily="34" charset="0"/>
            </a:endParaRPr>
          </a:p>
        </p:txBody>
      </p:sp>
      <p:sp>
        <p:nvSpPr>
          <p:cNvPr id="3" name="object 4">
            <a:extLst>
              <a:ext uri="{FF2B5EF4-FFF2-40B4-BE49-F238E27FC236}">
                <a16:creationId xmlns:a16="http://schemas.microsoft.com/office/drawing/2014/main" id="{71D4C6A2-02CB-4C78-5F76-1167A849C76D}"/>
              </a:ext>
            </a:extLst>
          </p:cNvPr>
          <p:cNvSpPr txBox="1">
            <a:spLocks/>
          </p:cNvSpPr>
          <p:nvPr/>
        </p:nvSpPr>
        <p:spPr>
          <a:xfrm>
            <a:off x="10722243" y="6391299"/>
            <a:ext cx="251586" cy="218650"/>
          </a:xfrm>
          <a:prstGeom prst="rect">
            <a:avLst/>
          </a:prstGeom>
        </p:spPr>
        <p:txBody>
          <a:bodyPr vert="horz" wrap="square" lIns="0" tIns="317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18745">
              <a:spcBef>
                <a:spcPts val="25"/>
              </a:spcBef>
            </a:pPr>
            <a:fld id="{81D60167-4931-47E6-BA6A-407CBD079E47}" type="slidenum">
              <a:rPr lang="en-US" sz="1400" spc="-50" smtClean="0">
                <a:latin typeface="NVIDIA Sans" panose="020B0503020203020204" pitchFamily="34" charset="0"/>
              </a:rPr>
              <a:pPr marL="118745">
                <a:spcBef>
                  <a:spcPts val="25"/>
                </a:spcBef>
              </a:pPr>
              <a:t>5</a:t>
            </a:fld>
            <a:endParaRPr lang="en-US" sz="1400" spc="-50">
              <a:latin typeface="NVIDIA Sans" panose="020B0503020203020204" pitchFamily="34" charset="0"/>
            </a:endParaRPr>
          </a:p>
        </p:txBody>
      </p:sp>
    </p:spTree>
    <p:extLst>
      <p:ext uri="{BB962C8B-B14F-4D97-AF65-F5344CB8AC3E}">
        <p14:creationId xmlns:p14="http://schemas.microsoft.com/office/powerpoint/2010/main" val="30938208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7D614-7F87-BFF3-DFFD-21082A9555BB}"/>
              </a:ext>
            </a:extLst>
          </p:cNvPr>
          <p:cNvSpPr>
            <a:spLocks noGrp="1"/>
          </p:cNvSpPr>
          <p:nvPr>
            <p:ph type="title"/>
          </p:nvPr>
        </p:nvSpPr>
        <p:spPr/>
        <p:txBody>
          <a:bodyPr>
            <a:normAutofit/>
          </a:bodyPr>
          <a:lstStyle/>
          <a:p>
            <a:pPr algn="ctr"/>
            <a:r>
              <a:rPr lang="en-US" sz="4000" b="1"/>
              <a:t>Planning – Without Feedback</a:t>
            </a:r>
          </a:p>
        </p:txBody>
      </p:sp>
      <p:sp>
        <p:nvSpPr>
          <p:cNvPr id="12" name="Content Placeholder 11">
            <a:extLst>
              <a:ext uri="{FF2B5EF4-FFF2-40B4-BE49-F238E27FC236}">
                <a16:creationId xmlns:a16="http://schemas.microsoft.com/office/drawing/2014/main" id="{105D30B6-6BC0-C133-6672-6519166F486D}"/>
              </a:ext>
            </a:extLst>
          </p:cNvPr>
          <p:cNvSpPr>
            <a:spLocks noGrp="1"/>
          </p:cNvSpPr>
          <p:nvPr>
            <p:ph idx="1"/>
          </p:nvPr>
        </p:nvSpPr>
        <p:spPr>
          <a:xfrm>
            <a:off x="838200" y="1530414"/>
            <a:ext cx="10515600" cy="4351338"/>
          </a:xfrm>
        </p:spPr>
        <p:txBody>
          <a:bodyPr>
            <a:normAutofit/>
          </a:bodyPr>
          <a:lstStyle/>
          <a:p>
            <a:pPr marL="0" indent="0">
              <a:buNone/>
            </a:pPr>
            <a:r>
              <a:rPr lang="en-US" altLang="zh-CN" sz="2400"/>
              <a:t>Tree-of-Thought (</a:t>
            </a:r>
            <a:r>
              <a:rPr lang="en-US" altLang="zh-CN" sz="2400" err="1"/>
              <a:t>ToT</a:t>
            </a:r>
            <a:r>
              <a:rPr lang="en-US" altLang="zh-CN" sz="2400"/>
              <a:t>): plan one step at a time, choose best from multiple choices at each step, extend with BFS or DFS, or Graph</a:t>
            </a:r>
            <a:endParaRPr lang="en-US" sz="2400"/>
          </a:p>
        </p:txBody>
      </p:sp>
      <p:sp>
        <p:nvSpPr>
          <p:cNvPr id="10" name="TextBox 9">
            <a:extLst>
              <a:ext uri="{FF2B5EF4-FFF2-40B4-BE49-F238E27FC236}">
                <a16:creationId xmlns:a16="http://schemas.microsoft.com/office/drawing/2014/main" id="{58E2AAA3-77FD-3F22-13CB-04B3E73679D4}"/>
              </a:ext>
            </a:extLst>
          </p:cNvPr>
          <p:cNvSpPr txBox="1"/>
          <p:nvPr/>
        </p:nvSpPr>
        <p:spPr>
          <a:xfrm>
            <a:off x="458538" y="6369544"/>
            <a:ext cx="8739639" cy="307777"/>
          </a:xfrm>
          <a:prstGeom prst="rect">
            <a:avLst/>
          </a:prstGeom>
          <a:noFill/>
        </p:spPr>
        <p:txBody>
          <a:bodyPr wrap="square">
            <a:spAutoFit/>
          </a:bodyPr>
          <a:lstStyle/>
          <a:p>
            <a:r>
              <a:rPr lang="en-US" sz="1400" i="1">
                <a:latin typeface="NVIDIA Sans" panose="020B0503020203020204" pitchFamily="34" charset="0"/>
              </a:rPr>
              <a:t>S. Yao et al, Tree of Thoughts: Deliberate Problem Solving with Large Language Models</a:t>
            </a:r>
          </a:p>
        </p:txBody>
      </p:sp>
      <p:sp>
        <p:nvSpPr>
          <p:cNvPr id="3" name="Rectangle: Rounded Corners 2">
            <a:extLst>
              <a:ext uri="{FF2B5EF4-FFF2-40B4-BE49-F238E27FC236}">
                <a16:creationId xmlns:a16="http://schemas.microsoft.com/office/drawing/2014/main" id="{795F8FA2-70B7-1FC7-299C-F7B18BBACF5B}"/>
              </a:ext>
            </a:extLst>
          </p:cNvPr>
          <p:cNvSpPr/>
          <p:nvPr/>
        </p:nvSpPr>
        <p:spPr>
          <a:xfrm>
            <a:off x="2552329" y="2528604"/>
            <a:ext cx="1495078" cy="459448"/>
          </a:xfrm>
          <a:prstGeom prst="round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NVIDIA Sans" panose="020B0503020203020204" pitchFamily="34" charset="0"/>
              </a:rPr>
              <a:t>Problem</a:t>
            </a:r>
          </a:p>
        </p:txBody>
      </p:sp>
      <p:sp>
        <p:nvSpPr>
          <p:cNvPr id="5" name="Rectangle: Rounded Corners 4">
            <a:extLst>
              <a:ext uri="{FF2B5EF4-FFF2-40B4-BE49-F238E27FC236}">
                <a16:creationId xmlns:a16="http://schemas.microsoft.com/office/drawing/2014/main" id="{0E2BD697-422A-5017-CBF3-785CB73E4CE3}"/>
              </a:ext>
            </a:extLst>
          </p:cNvPr>
          <p:cNvSpPr/>
          <p:nvPr/>
        </p:nvSpPr>
        <p:spPr>
          <a:xfrm>
            <a:off x="947283" y="3415594"/>
            <a:ext cx="1495078" cy="459448"/>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latin typeface="NVIDIA Sans" panose="020B0503020203020204" pitchFamily="34" charset="0"/>
              </a:rPr>
              <a:t>Step 1-1</a:t>
            </a:r>
          </a:p>
        </p:txBody>
      </p:sp>
      <p:sp>
        <p:nvSpPr>
          <p:cNvPr id="7" name="Rectangle: Rounded Corners 6">
            <a:extLst>
              <a:ext uri="{FF2B5EF4-FFF2-40B4-BE49-F238E27FC236}">
                <a16:creationId xmlns:a16="http://schemas.microsoft.com/office/drawing/2014/main" id="{77F2D9A9-DBAA-AFC5-D477-53DDDE71379D}"/>
              </a:ext>
            </a:extLst>
          </p:cNvPr>
          <p:cNvSpPr/>
          <p:nvPr/>
        </p:nvSpPr>
        <p:spPr>
          <a:xfrm>
            <a:off x="2556245" y="3422338"/>
            <a:ext cx="1495078" cy="459448"/>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latin typeface="NVIDIA Sans" panose="020B0503020203020204" pitchFamily="34" charset="0"/>
              </a:rPr>
              <a:t>Step 1-2</a:t>
            </a:r>
          </a:p>
        </p:txBody>
      </p:sp>
      <p:sp>
        <p:nvSpPr>
          <p:cNvPr id="8" name="Rectangle: Rounded Corners 7">
            <a:extLst>
              <a:ext uri="{FF2B5EF4-FFF2-40B4-BE49-F238E27FC236}">
                <a16:creationId xmlns:a16="http://schemas.microsoft.com/office/drawing/2014/main" id="{A1086465-8175-0A57-C709-5E3C5E33A3D4}"/>
              </a:ext>
            </a:extLst>
          </p:cNvPr>
          <p:cNvSpPr/>
          <p:nvPr/>
        </p:nvSpPr>
        <p:spPr>
          <a:xfrm>
            <a:off x="4279643" y="3415594"/>
            <a:ext cx="1495078" cy="459448"/>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latin typeface="NVIDIA Sans" panose="020B0503020203020204" pitchFamily="34" charset="0"/>
              </a:rPr>
              <a:t>Step 1-3</a:t>
            </a:r>
          </a:p>
        </p:txBody>
      </p:sp>
      <p:sp>
        <p:nvSpPr>
          <p:cNvPr id="11" name="Rectangle: Rounded Corners 10">
            <a:extLst>
              <a:ext uri="{FF2B5EF4-FFF2-40B4-BE49-F238E27FC236}">
                <a16:creationId xmlns:a16="http://schemas.microsoft.com/office/drawing/2014/main" id="{D38544E1-A897-01B1-4353-C238C29AD870}"/>
              </a:ext>
            </a:extLst>
          </p:cNvPr>
          <p:cNvSpPr/>
          <p:nvPr/>
        </p:nvSpPr>
        <p:spPr>
          <a:xfrm>
            <a:off x="1583840" y="4958360"/>
            <a:ext cx="1495078" cy="459448"/>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latin typeface="NVIDIA Sans" panose="020B0503020203020204" pitchFamily="34" charset="0"/>
              </a:rPr>
              <a:t>Step 2-1</a:t>
            </a:r>
          </a:p>
        </p:txBody>
      </p:sp>
      <p:sp>
        <p:nvSpPr>
          <p:cNvPr id="13" name="Rectangle: Rounded Corners 12">
            <a:extLst>
              <a:ext uri="{FF2B5EF4-FFF2-40B4-BE49-F238E27FC236}">
                <a16:creationId xmlns:a16="http://schemas.microsoft.com/office/drawing/2014/main" id="{23FB2D84-7572-5DFD-4887-DAA29AEBAB91}"/>
              </a:ext>
            </a:extLst>
          </p:cNvPr>
          <p:cNvSpPr/>
          <p:nvPr/>
        </p:nvSpPr>
        <p:spPr>
          <a:xfrm>
            <a:off x="3767223" y="4971626"/>
            <a:ext cx="1495078" cy="459448"/>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latin typeface="NVIDIA Sans" panose="020B0503020203020204" pitchFamily="34" charset="0"/>
              </a:rPr>
              <a:t>Step 2-2</a:t>
            </a:r>
          </a:p>
        </p:txBody>
      </p:sp>
      <p:cxnSp>
        <p:nvCxnSpPr>
          <p:cNvPr id="16" name="Straight Arrow Connector 15">
            <a:extLst>
              <a:ext uri="{FF2B5EF4-FFF2-40B4-BE49-F238E27FC236}">
                <a16:creationId xmlns:a16="http://schemas.microsoft.com/office/drawing/2014/main" id="{ADD50427-3740-A45D-E2D3-3DFC0CE85390}"/>
              </a:ext>
            </a:extLst>
          </p:cNvPr>
          <p:cNvCxnSpPr>
            <a:stCxn id="3" idx="2"/>
            <a:endCxn id="5" idx="0"/>
          </p:cNvCxnSpPr>
          <p:nvPr/>
        </p:nvCxnSpPr>
        <p:spPr>
          <a:xfrm flipH="1">
            <a:off x="1694822" y="2988052"/>
            <a:ext cx="1605046" cy="427542"/>
          </a:xfrm>
          <a:prstGeom prst="straightConnector1">
            <a:avLst/>
          </a:prstGeom>
          <a:ln>
            <a:solidFill>
              <a:schemeClr val="tx1"/>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09DBF6AE-124D-24CA-600B-B510DE1A2F80}"/>
              </a:ext>
            </a:extLst>
          </p:cNvPr>
          <p:cNvCxnSpPr>
            <a:cxnSpLocks/>
            <a:stCxn id="3" idx="2"/>
            <a:endCxn id="7" idx="0"/>
          </p:cNvCxnSpPr>
          <p:nvPr/>
        </p:nvCxnSpPr>
        <p:spPr>
          <a:xfrm>
            <a:off x="3299868" y="2988052"/>
            <a:ext cx="3916" cy="43428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700C3689-EA73-C7DF-BC82-8723C0997ADC}"/>
              </a:ext>
            </a:extLst>
          </p:cNvPr>
          <p:cNvCxnSpPr>
            <a:cxnSpLocks/>
            <a:stCxn id="3" idx="2"/>
            <a:endCxn id="8" idx="0"/>
          </p:cNvCxnSpPr>
          <p:nvPr/>
        </p:nvCxnSpPr>
        <p:spPr>
          <a:xfrm>
            <a:off x="3299868" y="2988052"/>
            <a:ext cx="1727314" cy="427542"/>
          </a:xfrm>
          <a:prstGeom prst="straightConnector1">
            <a:avLst/>
          </a:prstGeom>
          <a:ln>
            <a:solidFill>
              <a:schemeClr val="tx1"/>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4DEDCC7E-8D0F-D660-4538-DD4C1D24D509}"/>
              </a:ext>
            </a:extLst>
          </p:cNvPr>
          <p:cNvCxnSpPr>
            <a:cxnSpLocks/>
            <a:stCxn id="75" idx="2"/>
            <a:endCxn id="11" idx="0"/>
          </p:cNvCxnSpPr>
          <p:nvPr/>
        </p:nvCxnSpPr>
        <p:spPr>
          <a:xfrm flipH="1">
            <a:off x="2331379" y="4680224"/>
            <a:ext cx="972405" cy="27813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5764C63F-A340-F675-3FB1-D8C019AE739B}"/>
              </a:ext>
            </a:extLst>
          </p:cNvPr>
          <p:cNvCxnSpPr>
            <a:cxnSpLocks/>
            <a:stCxn id="75" idx="2"/>
            <a:endCxn id="13" idx="0"/>
          </p:cNvCxnSpPr>
          <p:nvPr/>
        </p:nvCxnSpPr>
        <p:spPr>
          <a:xfrm>
            <a:off x="3303784" y="4680224"/>
            <a:ext cx="1210978" cy="291402"/>
          </a:xfrm>
          <a:prstGeom prst="straightConnector1">
            <a:avLst/>
          </a:prstGeom>
          <a:ln>
            <a:solidFill>
              <a:schemeClr val="tx1"/>
            </a:solidFill>
            <a:prstDash val="solid"/>
            <a:tailEnd type="triangle"/>
          </a:ln>
        </p:spPr>
        <p:style>
          <a:lnRef idx="2">
            <a:schemeClr val="accent1"/>
          </a:lnRef>
          <a:fillRef idx="0">
            <a:schemeClr val="accent1"/>
          </a:fillRef>
          <a:effectRef idx="1">
            <a:schemeClr val="accent1"/>
          </a:effectRef>
          <a:fontRef idx="minor">
            <a:schemeClr val="tx1"/>
          </a:fontRef>
        </p:style>
      </p:cxnSp>
      <p:sp>
        <p:nvSpPr>
          <p:cNvPr id="35" name="Rectangle: Rounded Corners 34">
            <a:extLst>
              <a:ext uri="{FF2B5EF4-FFF2-40B4-BE49-F238E27FC236}">
                <a16:creationId xmlns:a16="http://schemas.microsoft.com/office/drawing/2014/main" id="{E5FC50E7-BF44-F4CE-AC78-D7C5ECCD2753}"/>
              </a:ext>
            </a:extLst>
          </p:cNvPr>
          <p:cNvSpPr/>
          <p:nvPr/>
        </p:nvSpPr>
        <p:spPr>
          <a:xfrm>
            <a:off x="3279724" y="3878576"/>
            <a:ext cx="1495078" cy="331344"/>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latin typeface="NVIDIA Sans" panose="020B0503020203020204" pitchFamily="34" charset="0"/>
              </a:rPr>
              <a:t>Evaluate</a:t>
            </a:r>
          </a:p>
        </p:txBody>
      </p:sp>
      <p:sp>
        <p:nvSpPr>
          <p:cNvPr id="75" name="Rectangle: Rounded Corners 74">
            <a:extLst>
              <a:ext uri="{FF2B5EF4-FFF2-40B4-BE49-F238E27FC236}">
                <a16:creationId xmlns:a16="http://schemas.microsoft.com/office/drawing/2014/main" id="{F72723C8-B30B-70FB-A7E6-E0220538B6B9}"/>
              </a:ext>
            </a:extLst>
          </p:cNvPr>
          <p:cNvSpPr/>
          <p:nvPr/>
        </p:nvSpPr>
        <p:spPr>
          <a:xfrm>
            <a:off x="2556245" y="4220776"/>
            <a:ext cx="1495078" cy="459448"/>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latin typeface="NVIDIA Sans" panose="020B0503020203020204" pitchFamily="34" charset="0"/>
              </a:rPr>
              <a:t>Choose 1-2</a:t>
            </a:r>
          </a:p>
        </p:txBody>
      </p:sp>
      <p:sp>
        <p:nvSpPr>
          <p:cNvPr id="84" name="Rectangle: Rounded Corners 83">
            <a:extLst>
              <a:ext uri="{FF2B5EF4-FFF2-40B4-BE49-F238E27FC236}">
                <a16:creationId xmlns:a16="http://schemas.microsoft.com/office/drawing/2014/main" id="{30C9A083-9698-BC35-543B-5E3024730577}"/>
              </a:ext>
            </a:extLst>
          </p:cNvPr>
          <p:cNvSpPr/>
          <p:nvPr/>
        </p:nvSpPr>
        <p:spPr>
          <a:xfrm>
            <a:off x="3279724" y="5446152"/>
            <a:ext cx="1495078" cy="286197"/>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latin typeface="NVIDIA Sans" panose="020B0503020203020204" pitchFamily="34" charset="0"/>
              </a:rPr>
              <a:t>Evaluate</a:t>
            </a:r>
          </a:p>
        </p:txBody>
      </p:sp>
      <p:sp>
        <p:nvSpPr>
          <p:cNvPr id="85" name="Rectangle: Rounded Corners 84">
            <a:extLst>
              <a:ext uri="{FF2B5EF4-FFF2-40B4-BE49-F238E27FC236}">
                <a16:creationId xmlns:a16="http://schemas.microsoft.com/office/drawing/2014/main" id="{1E2F5BEC-255D-D521-7D4C-99F7D9B560C3}"/>
              </a:ext>
            </a:extLst>
          </p:cNvPr>
          <p:cNvSpPr/>
          <p:nvPr/>
        </p:nvSpPr>
        <p:spPr>
          <a:xfrm>
            <a:off x="2556245" y="5719083"/>
            <a:ext cx="1495078" cy="459448"/>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latin typeface="NVIDIA Sans" panose="020B0503020203020204" pitchFamily="34" charset="0"/>
              </a:rPr>
              <a:t>Choose 2-1</a:t>
            </a:r>
          </a:p>
        </p:txBody>
      </p:sp>
      <p:sp>
        <p:nvSpPr>
          <p:cNvPr id="89" name="TextBox 88">
            <a:extLst>
              <a:ext uri="{FF2B5EF4-FFF2-40B4-BE49-F238E27FC236}">
                <a16:creationId xmlns:a16="http://schemas.microsoft.com/office/drawing/2014/main" id="{1DB448ED-43CE-ECFA-C5F1-A3F6302ECBA6}"/>
              </a:ext>
            </a:extLst>
          </p:cNvPr>
          <p:cNvSpPr txBox="1"/>
          <p:nvPr/>
        </p:nvSpPr>
        <p:spPr>
          <a:xfrm>
            <a:off x="4225960" y="2926600"/>
            <a:ext cx="1060227" cy="369332"/>
          </a:xfrm>
          <a:prstGeom prst="rect">
            <a:avLst/>
          </a:prstGeom>
          <a:noFill/>
        </p:spPr>
        <p:txBody>
          <a:bodyPr wrap="none" rtlCol="0">
            <a:spAutoFit/>
          </a:bodyPr>
          <a:lstStyle/>
          <a:p>
            <a:r>
              <a:rPr lang="en-US">
                <a:latin typeface="NVIDIA Sans" panose="020B0503020203020204" pitchFamily="34" charset="0"/>
              </a:rPr>
              <a:t>Propose</a:t>
            </a:r>
          </a:p>
        </p:txBody>
      </p:sp>
      <p:sp>
        <p:nvSpPr>
          <p:cNvPr id="90" name="TextBox 89">
            <a:extLst>
              <a:ext uri="{FF2B5EF4-FFF2-40B4-BE49-F238E27FC236}">
                <a16:creationId xmlns:a16="http://schemas.microsoft.com/office/drawing/2014/main" id="{F6F4F6B2-0E70-0716-0B5C-E26FF8D91FDA}"/>
              </a:ext>
            </a:extLst>
          </p:cNvPr>
          <p:cNvSpPr txBox="1"/>
          <p:nvPr/>
        </p:nvSpPr>
        <p:spPr>
          <a:xfrm>
            <a:off x="4271587" y="4594108"/>
            <a:ext cx="1060227" cy="369332"/>
          </a:xfrm>
          <a:prstGeom prst="rect">
            <a:avLst/>
          </a:prstGeom>
          <a:noFill/>
        </p:spPr>
        <p:txBody>
          <a:bodyPr wrap="none" rtlCol="0">
            <a:spAutoFit/>
          </a:bodyPr>
          <a:lstStyle/>
          <a:p>
            <a:r>
              <a:rPr lang="en-US">
                <a:latin typeface="NVIDIA Sans" panose="020B0503020203020204" pitchFamily="34" charset="0"/>
              </a:rPr>
              <a:t>Propose</a:t>
            </a:r>
          </a:p>
        </p:txBody>
      </p:sp>
      <p:sp>
        <p:nvSpPr>
          <p:cNvPr id="98" name="Arrow: Down 97">
            <a:extLst>
              <a:ext uri="{FF2B5EF4-FFF2-40B4-BE49-F238E27FC236}">
                <a16:creationId xmlns:a16="http://schemas.microsoft.com/office/drawing/2014/main" id="{38975FB5-4302-9D34-A1A8-51F2A2D6044F}"/>
              </a:ext>
            </a:extLst>
          </p:cNvPr>
          <p:cNvSpPr/>
          <p:nvPr/>
        </p:nvSpPr>
        <p:spPr>
          <a:xfrm>
            <a:off x="3163041" y="3952014"/>
            <a:ext cx="273653" cy="211037"/>
          </a:xfrm>
          <a:prstGeom prst="down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NVIDIA Sans" panose="020B0503020203020204" pitchFamily="34" charset="0"/>
            </a:endParaRPr>
          </a:p>
        </p:txBody>
      </p:sp>
      <p:sp>
        <p:nvSpPr>
          <p:cNvPr id="99" name="Arrow: Down 98">
            <a:extLst>
              <a:ext uri="{FF2B5EF4-FFF2-40B4-BE49-F238E27FC236}">
                <a16:creationId xmlns:a16="http://schemas.microsoft.com/office/drawing/2014/main" id="{19838CF3-8537-A6F3-F61C-BD28B25651A1}"/>
              </a:ext>
            </a:extLst>
          </p:cNvPr>
          <p:cNvSpPr/>
          <p:nvPr/>
        </p:nvSpPr>
        <p:spPr>
          <a:xfrm>
            <a:off x="3182548" y="5503699"/>
            <a:ext cx="273653" cy="211037"/>
          </a:xfrm>
          <a:prstGeom prst="down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NVIDIA Sans" panose="020B0503020203020204" pitchFamily="34" charset="0"/>
            </a:endParaRPr>
          </a:p>
        </p:txBody>
      </p:sp>
      <p:sp>
        <p:nvSpPr>
          <p:cNvPr id="19" name="object 4">
            <a:extLst>
              <a:ext uri="{FF2B5EF4-FFF2-40B4-BE49-F238E27FC236}">
                <a16:creationId xmlns:a16="http://schemas.microsoft.com/office/drawing/2014/main" id="{97D46AF5-1F45-436B-1445-4A7D488775F2}"/>
              </a:ext>
            </a:extLst>
          </p:cNvPr>
          <p:cNvSpPr txBox="1">
            <a:spLocks/>
          </p:cNvSpPr>
          <p:nvPr/>
        </p:nvSpPr>
        <p:spPr>
          <a:xfrm>
            <a:off x="10722243" y="6391299"/>
            <a:ext cx="251586" cy="218650"/>
          </a:xfrm>
          <a:prstGeom prst="rect">
            <a:avLst/>
          </a:prstGeom>
        </p:spPr>
        <p:txBody>
          <a:bodyPr vert="horz" wrap="square" lIns="0" tIns="317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18745">
              <a:spcBef>
                <a:spcPts val="25"/>
              </a:spcBef>
            </a:pPr>
            <a:fld id="{81D60167-4931-47E6-BA6A-407CBD079E47}" type="slidenum">
              <a:rPr lang="en-US" sz="1400" spc="-50" smtClean="0">
                <a:latin typeface="NVIDIA Sans" panose="020B0503020203020204" pitchFamily="34" charset="0"/>
              </a:rPr>
              <a:pPr marL="118745">
                <a:spcBef>
                  <a:spcPts val="25"/>
                </a:spcBef>
              </a:pPr>
              <a:t>6</a:t>
            </a:fld>
            <a:endParaRPr lang="en-US" sz="1400" spc="-50">
              <a:latin typeface="NVIDIA Sans" panose="020B0503020203020204" pitchFamily="34" charset="0"/>
            </a:endParaRPr>
          </a:p>
        </p:txBody>
      </p:sp>
      <p:sp>
        <p:nvSpPr>
          <p:cNvPr id="22" name="TextBox 21">
            <a:extLst>
              <a:ext uri="{FF2B5EF4-FFF2-40B4-BE49-F238E27FC236}">
                <a16:creationId xmlns:a16="http://schemas.microsoft.com/office/drawing/2014/main" id="{DAC6FEE0-5D2B-17C4-4389-F24E47C3DEBF}"/>
              </a:ext>
            </a:extLst>
          </p:cNvPr>
          <p:cNvSpPr txBox="1"/>
          <p:nvPr/>
        </p:nvSpPr>
        <p:spPr>
          <a:xfrm>
            <a:off x="7299697" y="2553254"/>
            <a:ext cx="4163186" cy="646331"/>
          </a:xfrm>
          <a:prstGeom prst="rect">
            <a:avLst/>
          </a:prstGeom>
          <a:noFill/>
        </p:spPr>
        <p:txBody>
          <a:bodyPr wrap="square">
            <a:spAutoFit/>
          </a:bodyPr>
          <a:lstStyle/>
          <a:p>
            <a:r>
              <a:rPr lang="en-US">
                <a:latin typeface="NVIDIA Sans" panose="020B0503020203020204" pitchFamily="34" charset="0"/>
                <a:cs typeface="NVIDIA Sans" panose="020B0503020203020204" pitchFamily="34" charset="0"/>
              </a:rPr>
              <a:t>use 4 numbers and basic arithmetic operations (+-*/) to obtain 24</a:t>
            </a:r>
          </a:p>
        </p:txBody>
      </p:sp>
      <p:pic>
        <p:nvPicPr>
          <p:cNvPr id="30" name="Picture 29">
            <a:extLst>
              <a:ext uri="{FF2B5EF4-FFF2-40B4-BE49-F238E27FC236}">
                <a16:creationId xmlns:a16="http://schemas.microsoft.com/office/drawing/2014/main" id="{8BDA9D1D-497A-11E4-5468-522DBE763ECA}"/>
              </a:ext>
            </a:extLst>
          </p:cNvPr>
          <p:cNvPicPr>
            <a:picLocks noChangeAspect="1"/>
          </p:cNvPicPr>
          <p:nvPr/>
        </p:nvPicPr>
        <p:blipFill>
          <a:blip r:embed="rId3"/>
          <a:stretch>
            <a:fillRect/>
          </a:stretch>
        </p:blipFill>
        <p:spPr>
          <a:xfrm>
            <a:off x="6364871" y="3295932"/>
            <a:ext cx="5333082" cy="2807759"/>
          </a:xfrm>
          <a:prstGeom prst="rect">
            <a:avLst/>
          </a:prstGeom>
        </p:spPr>
      </p:pic>
    </p:spTree>
    <p:extLst>
      <p:ext uri="{BB962C8B-B14F-4D97-AF65-F5344CB8AC3E}">
        <p14:creationId xmlns:p14="http://schemas.microsoft.com/office/powerpoint/2010/main" val="1038933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29054-F807-D7F5-AFC8-2F2FC68119EC}"/>
              </a:ext>
            </a:extLst>
          </p:cNvPr>
          <p:cNvSpPr>
            <a:spLocks noGrp="1"/>
          </p:cNvSpPr>
          <p:nvPr>
            <p:ph type="title"/>
          </p:nvPr>
        </p:nvSpPr>
        <p:spPr/>
        <p:txBody>
          <a:bodyPr>
            <a:normAutofit/>
          </a:bodyPr>
          <a:lstStyle/>
          <a:p>
            <a:pPr algn="ctr"/>
            <a:r>
              <a:rPr lang="en-US" sz="4000" b="1"/>
              <a:t>Planning – With Feedback</a:t>
            </a:r>
          </a:p>
        </p:txBody>
      </p:sp>
      <p:sp>
        <p:nvSpPr>
          <p:cNvPr id="3" name="Text Placeholder 2">
            <a:extLst>
              <a:ext uri="{FF2B5EF4-FFF2-40B4-BE49-F238E27FC236}">
                <a16:creationId xmlns:a16="http://schemas.microsoft.com/office/drawing/2014/main" id="{982DCD3E-A3A9-7677-EBA0-B4A3C6FE955B}"/>
              </a:ext>
            </a:extLst>
          </p:cNvPr>
          <p:cNvSpPr>
            <a:spLocks noGrp="1"/>
          </p:cNvSpPr>
          <p:nvPr>
            <p:ph idx="1"/>
          </p:nvPr>
        </p:nvSpPr>
        <p:spPr/>
        <p:txBody>
          <a:bodyPr>
            <a:normAutofit/>
          </a:bodyPr>
          <a:lstStyle/>
          <a:p>
            <a:pPr marL="0" indent="0">
              <a:buNone/>
            </a:pPr>
            <a:r>
              <a:rPr lang="en-US" sz="2400"/>
              <a:t>Ground planning with environment feedback</a:t>
            </a:r>
          </a:p>
          <a:p>
            <a:pPr marL="0" indent="0">
              <a:buNone/>
            </a:pPr>
            <a:r>
              <a:rPr lang="en-US" sz="2400" err="1"/>
              <a:t>ReACT</a:t>
            </a:r>
            <a:r>
              <a:rPr lang="en-US" sz="2400"/>
              <a:t>: Thought, Action and Observation </a:t>
            </a:r>
          </a:p>
        </p:txBody>
      </p:sp>
      <p:sp>
        <p:nvSpPr>
          <p:cNvPr id="7" name="TextBox 6">
            <a:extLst>
              <a:ext uri="{FF2B5EF4-FFF2-40B4-BE49-F238E27FC236}">
                <a16:creationId xmlns:a16="http://schemas.microsoft.com/office/drawing/2014/main" id="{FE838786-C21F-755E-C606-CBC1A0AF43E2}"/>
              </a:ext>
            </a:extLst>
          </p:cNvPr>
          <p:cNvSpPr txBox="1"/>
          <p:nvPr/>
        </p:nvSpPr>
        <p:spPr>
          <a:xfrm>
            <a:off x="339916" y="6300068"/>
            <a:ext cx="8943109" cy="307777"/>
          </a:xfrm>
          <a:prstGeom prst="rect">
            <a:avLst/>
          </a:prstGeom>
          <a:noFill/>
        </p:spPr>
        <p:txBody>
          <a:bodyPr wrap="square">
            <a:spAutoFit/>
          </a:bodyPr>
          <a:lstStyle/>
          <a:p>
            <a:r>
              <a:rPr lang="en-US" sz="1400" i="1">
                <a:latin typeface="NVIDIA Sans" panose="020B0503020203020204" pitchFamily="34" charset="0"/>
              </a:rPr>
              <a:t>S. Yao et al, </a:t>
            </a:r>
            <a:r>
              <a:rPr lang="en-US" sz="1400" i="1" err="1">
                <a:latin typeface="NVIDIA Sans" panose="020B0503020203020204" pitchFamily="34" charset="0"/>
              </a:rPr>
              <a:t>ReAct</a:t>
            </a:r>
            <a:r>
              <a:rPr lang="en-US" sz="1400" i="1">
                <a:latin typeface="NVIDIA Sans" panose="020B0503020203020204" pitchFamily="34" charset="0"/>
              </a:rPr>
              <a:t>: Synergizing Reasoning and Acting in Language Models</a:t>
            </a:r>
          </a:p>
        </p:txBody>
      </p:sp>
      <p:sp>
        <p:nvSpPr>
          <p:cNvPr id="17" name="Rectangle: Rounded Corners 16">
            <a:extLst>
              <a:ext uri="{FF2B5EF4-FFF2-40B4-BE49-F238E27FC236}">
                <a16:creationId xmlns:a16="http://schemas.microsoft.com/office/drawing/2014/main" id="{D6382765-A0F0-8033-BAEA-8B32DD56D217}"/>
              </a:ext>
            </a:extLst>
          </p:cNvPr>
          <p:cNvSpPr/>
          <p:nvPr/>
        </p:nvSpPr>
        <p:spPr>
          <a:xfrm>
            <a:off x="3048046" y="3205626"/>
            <a:ext cx="1549354" cy="459448"/>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latin typeface="NVIDIA Sans" panose="020B0503020203020204" pitchFamily="34" charset="0"/>
              </a:rPr>
              <a:t>Thoughts</a:t>
            </a:r>
          </a:p>
        </p:txBody>
      </p:sp>
      <p:sp>
        <p:nvSpPr>
          <p:cNvPr id="18" name="Rectangle: Rounded Corners 17">
            <a:extLst>
              <a:ext uri="{FF2B5EF4-FFF2-40B4-BE49-F238E27FC236}">
                <a16:creationId xmlns:a16="http://schemas.microsoft.com/office/drawing/2014/main" id="{3D1E6950-90BC-4551-3C6D-7C8B6187F1BF}"/>
              </a:ext>
            </a:extLst>
          </p:cNvPr>
          <p:cNvSpPr/>
          <p:nvPr/>
        </p:nvSpPr>
        <p:spPr>
          <a:xfrm>
            <a:off x="3048047" y="4015084"/>
            <a:ext cx="1549354" cy="459448"/>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latin typeface="NVIDIA Sans" panose="020B0503020203020204" pitchFamily="34" charset="0"/>
              </a:rPr>
              <a:t>Action</a:t>
            </a:r>
          </a:p>
        </p:txBody>
      </p:sp>
      <p:sp>
        <p:nvSpPr>
          <p:cNvPr id="19" name="Rectangle: Rounded Corners 18">
            <a:extLst>
              <a:ext uri="{FF2B5EF4-FFF2-40B4-BE49-F238E27FC236}">
                <a16:creationId xmlns:a16="http://schemas.microsoft.com/office/drawing/2014/main" id="{7C8BA302-3ED3-6C17-EF56-DF535201B081}"/>
              </a:ext>
            </a:extLst>
          </p:cNvPr>
          <p:cNvSpPr/>
          <p:nvPr/>
        </p:nvSpPr>
        <p:spPr>
          <a:xfrm>
            <a:off x="3048047" y="4928371"/>
            <a:ext cx="1549354" cy="459448"/>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latin typeface="NVIDIA Sans" panose="020B0503020203020204" pitchFamily="34" charset="0"/>
              </a:rPr>
              <a:t>Observation</a:t>
            </a:r>
          </a:p>
        </p:txBody>
      </p:sp>
      <p:sp>
        <p:nvSpPr>
          <p:cNvPr id="20" name="Rectangle: Rounded Corners 19">
            <a:extLst>
              <a:ext uri="{FF2B5EF4-FFF2-40B4-BE49-F238E27FC236}">
                <a16:creationId xmlns:a16="http://schemas.microsoft.com/office/drawing/2014/main" id="{FFC2DB04-7581-15E7-3E34-229C07A88A4E}"/>
              </a:ext>
            </a:extLst>
          </p:cNvPr>
          <p:cNvSpPr/>
          <p:nvPr/>
        </p:nvSpPr>
        <p:spPr>
          <a:xfrm>
            <a:off x="984250" y="3205626"/>
            <a:ext cx="1495078" cy="459448"/>
          </a:xfrm>
          <a:prstGeom prst="round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NVIDIA Sans" panose="020B0503020203020204" pitchFamily="34" charset="0"/>
              </a:rPr>
              <a:t>Problem</a:t>
            </a:r>
          </a:p>
        </p:txBody>
      </p:sp>
      <p:sp>
        <p:nvSpPr>
          <p:cNvPr id="21" name="Cloud 20">
            <a:extLst>
              <a:ext uri="{FF2B5EF4-FFF2-40B4-BE49-F238E27FC236}">
                <a16:creationId xmlns:a16="http://schemas.microsoft.com/office/drawing/2014/main" id="{B099DE9A-05C0-A690-78BB-3A170063E773}"/>
              </a:ext>
            </a:extLst>
          </p:cNvPr>
          <p:cNvSpPr/>
          <p:nvPr/>
        </p:nvSpPr>
        <p:spPr>
          <a:xfrm>
            <a:off x="5126203" y="4183625"/>
            <a:ext cx="1595194" cy="974470"/>
          </a:xfrm>
          <a:prstGeom prst="cloud">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latin typeface="NVIDIA Sans" panose="020B0503020203020204" pitchFamily="34" charset="0"/>
              </a:rPr>
              <a:t>Env</a:t>
            </a:r>
          </a:p>
        </p:txBody>
      </p:sp>
      <p:cxnSp>
        <p:nvCxnSpPr>
          <p:cNvPr id="23" name="Straight Arrow Connector 22">
            <a:extLst>
              <a:ext uri="{FF2B5EF4-FFF2-40B4-BE49-F238E27FC236}">
                <a16:creationId xmlns:a16="http://schemas.microsoft.com/office/drawing/2014/main" id="{E56CB3C9-2367-4962-9A63-6C4DBA486B02}"/>
              </a:ext>
            </a:extLst>
          </p:cNvPr>
          <p:cNvCxnSpPr>
            <a:cxnSpLocks/>
            <a:stCxn id="20" idx="3"/>
            <a:endCxn id="17" idx="1"/>
          </p:cNvCxnSpPr>
          <p:nvPr/>
        </p:nvCxnSpPr>
        <p:spPr>
          <a:xfrm>
            <a:off x="2479328" y="3435350"/>
            <a:ext cx="568718"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09ABAA4C-64AC-325D-5049-9B17101403C4}"/>
              </a:ext>
            </a:extLst>
          </p:cNvPr>
          <p:cNvCxnSpPr>
            <a:cxnSpLocks/>
            <a:stCxn id="17" idx="2"/>
            <a:endCxn id="18" idx="0"/>
          </p:cNvCxnSpPr>
          <p:nvPr/>
        </p:nvCxnSpPr>
        <p:spPr>
          <a:xfrm>
            <a:off x="3822723" y="3665074"/>
            <a:ext cx="1" cy="35001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5CD9049B-1E5F-96F0-BB5D-BDD761BF5DF4}"/>
              </a:ext>
            </a:extLst>
          </p:cNvPr>
          <p:cNvCxnSpPr>
            <a:cxnSpLocks/>
            <a:stCxn id="18" idx="2"/>
            <a:endCxn id="19" idx="0"/>
          </p:cNvCxnSpPr>
          <p:nvPr/>
        </p:nvCxnSpPr>
        <p:spPr>
          <a:xfrm>
            <a:off x="3822724" y="4474532"/>
            <a:ext cx="0" cy="45383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3" name="Connector: Elbow 32">
            <a:extLst>
              <a:ext uri="{FF2B5EF4-FFF2-40B4-BE49-F238E27FC236}">
                <a16:creationId xmlns:a16="http://schemas.microsoft.com/office/drawing/2014/main" id="{B7071819-B862-8D93-6752-0E777BE021F0}"/>
              </a:ext>
            </a:extLst>
          </p:cNvPr>
          <p:cNvCxnSpPr>
            <a:cxnSpLocks/>
            <a:stCxn id="19" idx="2"/>
            <a:endCxn id="17" idx="1"/>
          </p:cNvCxnSpPr>
          <p:nvPr/>
        </p:nvCxnSpPr>
        <p:spPr>
          <a:xfrm rot="5400000" flipH="1">
            <a:off x="2459150" y="4024246"/>
            <a:ext cx="1952469" cy="774678"/>
          </a:xfrm>
          <a:prstGeom prst="bentConnector4">
            <a:avLst>
              <a:gd name="adj1" fmla="val -11708"/>
              <a:gd name="adj2" fmla="val 129509"/>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5" name="Connector: Elbow 34">
            <a:extLst>
              <a:ext uri="{FF2B5EF4-FFF2-40B4-BE49-F238E27FC236}">
                <a16:creationId xmlns:a16="http://schemas.microsoft.com/office/drawing/2014/main" id="{F7C76F19-0C74-40DA-CD80-6FF9C3914609}"/>
              </a:ext>
            </a:extLst>
          </p:cNvPr>
          <p:cNvCxnSpPr>
            <a:cxnSpLocks/>
            <a:stCxn id="18" idx="3"/>
            <a:endCxn id="21" idx="3"/>
          </p:cNvCxnSpPr>
          <p:nvPr/>
        </p:nvCxnSpPr>
        <p:spPr>
          <a:xfrm flipV="1">
            <a:off x="4597401" y="4239341"/>
            <a:ext cx="1326399" cy="5467"/>
          </a:xfrm>
          <a:prstGeom prst="bentConnector4">
            <a:avLst>
              <a:gd name="adj1" fmla="val 19934"/>
              <a:gd name="adj2" fmla="val 8383464"/>
            </a:avLst>
          </a:prstGeom>
          <a:ln>
            <a:solidFill>
              <a:schemeClr val="tx1"/>
            </a:solidFill>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37" name="Connector: Elbow 36">
            <a:extLst>
              <a:ext uri="{FF2B5EF4-FFF2-40B4-BE49-F238E27FC236}">
                <a16:creationId xmlns:a16="http://schemas.microsoft.com/office/drawing/2014/main" id="{36E6B6B9-B1BB-AEFB-E4FB-BC6D41C10523}"/>
              </a:ext>
            </a:extLst>
          </p:cNvPr>
          <p:cNvCxnSpPr>
            <a:cxnSpLocks/>
            <a:stCxn id="21" idx="1"/>
            <a:endCxn id="19" idx="3"/>
          </p:cNvCxnSpPr>
          <p:nvPr/>
        </p:nvCxnSpPr>
        <p:spPr>
          <a:xfrm rot="5400000">
            <a:off x="5260082" y="4494377"/>
            <a:ext cx="1038" cy="1326399"/>
          </a:xfrm>
          <a:prstGeom prst="bentConnector4">
            <a:avLst>
              <a:gd name="adj1" fmla="val 22023121"/>
              <a:gd name="adj2" fmla="val 80066"/>
            </a:avLst>
          </a:prstGeom>
          <a:ln>
            <a:solidFill>
              <a:schemeClr val="tx1"/>
            </a:solidFill>
            <a:prstDash val="sysDash"/>
            <a:tailEnd type="triangle"/>
          </a:ln>
        </p:spPr>
        <p:style>
          <a:lnRef idx="2">
            <a:schemeClr val="accent1"/>
          </a:lnRef>
          <a:fillRef idx="0">
            <a:schemeClr val="accent1"/>
          </a:fillRef>
          <a:effectRef idx="1">
            <a:schemeClr val="accent1"/>
          </a:effectRef>
          <a:fontRef idx="minor">
            <a:schemeClr val="tx1"/>
          </a:fontRef>
        </p:style>
      </p:cxnSp>
      <p:sp>
        <p:nvSpPr>
          <p:cNvPr id="5" name="object 4">
            <a:extLst>
              <a:ext uri="{FF2B5EF4-FFF2-40B4-BE49-F238E27FC236}">
                <a16:creationId xmlns:a16="http://schemas.microsoft.com/office/drawing/2014/main" id="{1B96E4E7-6CB8-1E6F-9B8A-65D6E26C2867}"/>
              </a:ext>
            </a:extLst>
          </p:cNvPr>
          <p:cNvSpPr txBox="1">
            <a:spLocks/>
          </p:cNvSpPr>
          <p:nvPr/>
        </p:nvSpPr>
        <p:spPr>
          <a:xfrm>
            <a:off x="10722243" y="6391299"/>
            <a:ext cx="251586" cy="218650"/>
          </a:xfrm>
          <a:prstGeom prst="rect">
            <a:avLst/>
          </a:prstGeom>
        </p:spPr>
        <p:txBody>
          <a:bodyPr vert="horz" wrap="square" lIns="0" tIns="317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18745">
              <a:spcBef>
                <a:spcPts val="25"/>
              </a:spcBef>
            </a:pPr>
            <a:fld id="{81D60167-4931-47E6-BA6A-407CBD079E47}" type="slidenum">
              <a:rPr lang="en-US" sz="1400" spc="-50" smtClean="0">
                <a:latin typeface="NVIDIA Sans" panose="020B0503020203020204" pitchFamily="34" charset="0"/>
              </a:rPr>
              <a:pPr marL="118745">
                <a:spcBef>
                  <a:spcPts val="25"/>
                </a:spcBef>
              </a:pPr>
              <a:t>7</a:t>
            </a:fld>
            <a:endParaRPr lang="en-US" sz="1400" spc="-50">
              <a:latin typeface="NVIDIA Sans" panose="020B0503020203020204" pitchFamily="34" charset="0"/>
            </a:endParaRPr>
          </a:p>
        </p:txBody>
      </p:sp>
      <p:pic>
        <p:nvPicPr>
          <p:cNvPr id="4" name="Picture 3">
            <a:extLst>
              <a:ext uri="{FF2B5EF4-FFF2-40B4-BE49-F238E27FC236}">
                <a16:creationId xmlns:a16="http://schemas.microsoft.com/office/drawing/2014/main" id="{4FFCD7DA-3EF6-495D-518C-F96A734A0A95}"/>
              </a:ext>
            </a:extLst>
          </p:cNvPr>
          <p:cNvPicPr>
            <a:picLocks noChangeAspect="1"/>
          </p:cNvPicPr>
          <p:nvPr/>
        </p:nvPicPr>
        <p:blipFill>
          <a:blip r:embed="rId3"/>
          <a:stretch>
            <a:fillRect/>
          </a:stretch>
        </p:blipFill>
        <p:spPr>
          <a:xfrm>
            <a:off x="7199941" y="2275616"/>
            <a:ext cx="4541197" cy="3917284"/>
          </a:xfrm>
          <a:prstGeom prst="rect">
            <a:avLst/>
          </a:prstGeom>
        </p:spPr>
      </p:pic>
    </p:spTree>
    <p:extLst>
      <p:ext uri="{BB962C8B-B14F-4D97-AF65-F5344CB8AC3E}">
        <p14:creationId xmlns:p14="http://schemas.microsoft.com/office/powerpoint/2010/main" val="1666859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D7A988C-CEA6-D355-1D66-4977EDA0C115}"/>
              </a:ext>
            </a:extLst>
          </p:cNvPr>
          <p:cNvPicPr>
            <a:picLocks noChangeAspect="1"/>
          </p:cNvPicPr>
          <p:nvPr/>
        </p:nvPicPr>
        <p:blipFill>
          <a:blip r:embed="rId3"/>
          <a:stretch>
            <a:fillRect/>
          </a:stretch>
        </p:blipFill>
        <p:spPr>
          <a:xfrm>
            <a:off x="7217455" y="2114524"/>
            <a:ext cx="4170296" cy="4197376"/>
          </a:xfrm>
          <a:prstGeom prst="rect">
            <a:avLst/>
          </a:prstGeom>
        </p:spPr>
      </p:pic>
      <p:sp>
        <p:nvSpPr>
          <p:cNvPr id="2" name="Title 1">
            <a:extLst>
              <a:ext uri="{FF2B5EF4-FFF2-40B4-BE49-F238E27FC236}">
                <a16:creationId xmlns:a16="http://schemas.microsoft.com/office/drawing/2014/main" id="{FBC18D35-C4B7-FF26-2B3A-096EBAD25391}"/>
              </a:ext>
            </a:extLst>
          </p:cNvPr>
          <p:cNvSpPr>
            <a:spLocks noGrp="1"/>
          </p:cNvSpPr>
          <p:nvPr>
            <p:ph type="title"/>
          </p:nvPr>
        </p:nvSpPr>
        <p:spPr/>
        <p:txBody>
          <a:bodyPr>
            <a:normAutofit/>
          </a:bodyPr>
          <a:lstStyle/>
          <a:p>
            <a:pPr algn="ctr"/>
            <a:r>
              <a:rPr lang="en-US" sz="4000" b="1"/>
              <a:t>Planning – With Feedback</a:t>
            </a:r>
          </a:p>
        </p:txBody>
      </p:sp>
      <p:sp>
        <p:nvSpPr>
          <p:cNvPr id="3" name="Content Placeholder 2">
            <a:extLst>
              <a:ext uri="{FF2B5EF4-FFF2-40B4-BE49-F238E27FC236}">
                <a16:creationId xmlns:a16="http://schemas.microsoft.com/office/drawing/2014/main" id="{671FB3ED-9738-33F8-505C-2B2F2D05829B}"/>
              </a:ext>
            </a:extLst>
          </p:cNvPr>
          <p:cNvSpPr>
            <a:spLocks noGrp="1"/>
          </p:cNvSpPr>
          <p:nvPr>
            <p:ph idx="1"/>
          </p:nvPr>
        </p:nvSpPr>
        <p:spPr/>
        <p:txBody>
          <a:bodyPr>
            <a:normAutofit/>
          </a:bodyPr>
          <a:lstStyle/>
          <a:p>
            <a:pPr marL="0" indent="0">
              <a:buNone/>
            </a:pPr>
            <a:r>
              <a:rPr lang="en-US" sz="2400"/>
              <a:t>Self-reflection: Plan with feedback from accumulated experience</a:t>
            </a:r>
          </a:p>
        </p:txBody>
      </p:sp>
      <p:sp>
        <p:nvSpPr>
          <p:cNvPr id="5" name="TextBox 4">
            <a:extLst>
              <a:ext uri="{FF2B5EF4-FFF2-40B4-BE49-F238E27FC236}">
                <a16:creationId xmlns:a16="http://schemas.microsoft.com/office/drawing/2014/main" id="{B721B5DF-DE10-7C96-E616-4C62A3E17ACA}"/>
              </a:ext>
            </a:extLst>
          </p:cNvPr>
          <p:cNvSpPr txBox="1"/>
          <p:nvPr/>
        </p:nvSpPr>
        <p:spPr>
          <a:xfrm>
            <a:off x="358064" y="6303695"/>
            <a:ext cx="6705600" cy="307777"/>
          </a:xfrm>
          <a:prstGeom prst="rect">
            <a:avLst/>
          </a:prstGeom>
          <a:noFill/>
        </p:spPr>
        <p:txBody>
          <a:bodyPr wrap="square">
            <a:spAutoFit/>
          </a:bodyPr>
          <a:lstStyle/>
          <a:p>
            <a:pPr algn="l"/>
            <a:r>
              <a:rPr lang="en-US" sz="1400" i="1">
                <a:solidFill>
                  <a:srgbClr val="000000"/>
                </a:solidFill>
                <a:effectLst/>
                <a:highlight>
                  <a:srgbClr val="FFFFFF"/>
                </a:highlight>
                <a:latin typeface="NVIDIA Sans" panose="020B0503020203020204" pitchFamily="34" charset="0"/>
              </a:rPr>
              <a:t>N. Shinn et al, </a:t>
            </a:r>
            <a:r>
              <a:rPr lang="en-US" sz="1400" i="1" err="1">
                <a:solidFill>
                  <a:srgbClr val="000000"/>
                </a:solidFill>
                <a:effectLst/>
                <a:highlight>
                  <a:srgbClr val="FFFFFF"/>
                </a:highlight>
                <a:latin typeface="NVIDIA Sans" panose="020B0503020203020204" pitchFamily="34" charset="0"/>
              </a:rPr>
              <a:t>Reflexion</a:t>
            </a:r>
            <a:r>
              <a:rPr lang="en-US" sz="1400" i="1">
                <a:solidFill>
                  <a:srgbClr val="000000"/>
                </a:solidFill>
                <a:effectLst/>
                <a:highlight>
                  <a:srgbClr val="FFFFFF"/>
                </a:highlight>
                <a:latin typeface="NVIDIA Sans" panose="020B0503020203020204" pitchFamily="34" charset="0"/>
              </a:rPr>
              <a:t>: Language Agents with Verbal Reinforcement Learning</a:t>
            </a:r>
          </a:p>
        </p:txBody>
      </p:sp>
      <p:sp>
        <p:nvSpPr>
          <p:cNvPr id="4" name="Rectangle: Rounded Corners 3">
            <a:extLst>
              <a:ext uri="{FF2B5EF4-FFF2-40B4-BE49-F238E27FC236}">
                <a16:creationId xmlns:a16="http://schemas.microsoft.com/office/drawing/2014/main" id="{5DF5F3FC-DEF5-9E82-A191-E8ED74716A1D}"/>
              </a:ext>
            </a:extLst>
          </p:cNvPr>
          <p:cNvSpPr/>
          <p:nvPr/>
        </p:nvSpPr>
        <p:spPr>
          <a:xfrm>
            <a:off x="3055787" y="3097676"/>
            <a:ext cx="1495078" cy="459448"/>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err="1">
                <a:solidFill>
                  <a:schemeClr val="tx1"/>
                </a:solidFill>
                <a:latin typeface="NVIDIA Sans" panose="020B0503020203020204" pitchFamily="34" charset="0"/>
              </a:rPr>
              <a:t>ReACT</a:t>
            </a:r>
            <a:r>
              <a:rPr lang="en-US">
                <a:solidFill>
                  <a:schemeClr val="tx1"/>
                </a:solidFill>
                <a:latin typeface="NVIDIA Sans" panose="020B0503020203020204" pitchFamily="34" charset="0"/>
              </a:rPr>
              <a:t> Agent</a:t>
            </a:r>
          </a:p>
        </p:txBody>
      </p:sp>
      <p:sp>
        <p:nvSpPr>
          <p:cNvPr id="6" name="Rectangle: Rounded Corners 5">
            <a:extLst>
              <a:ext uri="{FF2B5EF4-FFF2-40B4-BE49-F238E27FC236}">
                <a16:creationId xmlns:a16="http://schemas.microsoft.com/office/drawing/2014/main" id="{F146109E-AF86-929F-181A-B04988C27265}"/>
              </a:ext>
            </a:extLst>
          </p:cNvPr>
          <p:cNvSpPr/>
          <p:nvPr/>
        </p:nvSpPr>
        <p:spPr>
          <a:xfrm>
            <a:off x="4143853" y="4380835"/>
            <a:ext cx="1495078" cy="552798"/>
          </a:xfrm>
          <a:prstGeom prst="round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NVIDIA Sans" panose="020B0503020203020204" pitchFamily="34" charset="0"/>
              </a:rPr>
              <a:t>Short term Trajectories</a:t>
            </a:r>
          </a:p>
        </p:txBody>
      </p:sp>
      <p:sp>
        <p:nvSpPr>
          <p:cNvPr id="8" name="Rectangle: Rounded Corners 7">
            <a:extLst>
              <a:ext uri="{FF2B5EF4-FFF2-40B4-BE49-F238E27FC236}">
                <a16:creationId xmlns:a16="http://schemas.microsoft.com/office/drawing/2014/main" id="{360BE50C-2BB3-A9FD-CC99-B2A28DDC3782}"/>
              </a:ext>
            </a:extLst>
          </p:cNvPr>
          <p:cNvSpPr/>
          <p:nvPr/>
        </p:nvSpPr>
        <p:spPr>
          <a:xfrm>
            <a:off x="4141226" y="5183648"/>
            <a:ext cx="1495078" cy="459448"/>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latin typeface="NVIDIA Sans" panose="020B0503020203020204" pitchFamily="34" charset="0"/>
              </a:rPr>
              <a:t>Evaluator</a:t>
            </a:r>
          </a:p>
        </p:txBody>
      </p:sp>
      <p:sp>
        <p:nvSpPr>
          <p:cNvPr id="10" name="Rectangle: Rounded Corners 9">
            <a:extLst>
              <a:ext uri="{FF2B5EF4-FFF2-40B4-BE49-F238E27FC236}">
                <a16:creationId xmlns:a16="http://schemas.microsoft.com/office/drawing/2014/main" id="{9395B7E1-DF4E-A071-04C1-869E59CE3BFD}"/>
              </a:ext>
            </a:extLst>
          </p:cNvPr>
          <p:cNvSpPr/>
          <p:nvPr/>
        </p:nvSpPr>
        <p:spPr>
          <a:xfrm>
            <a:off x="991991" y="3097676"/>
            <a:ext cx="1495078" cy="459448"/>
          </a:xfrm>
          <a:prstGeom prst="round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NVIDIA Sans" panose="020B0503020203020204" pitchFamily="34" charset="0"/>
              </a:rPr>
              <a:t>Problem</a:t>
            </a:r>
          </a:p>
        </p:txBody>
      </p:sp>
      <p:sp>
        <p:nvSpPr>
          <p:cNvPr id="11" name="Cloud 10">
            <a:extLst>
              <a:ext uri="{FF2B5EF4-FFF2-40B4-BE49-F238E27FC236}">
                <a16:creationId xmlns:a16="http://schemas.microsoft.com/office/drawing/2014/main" id="{564A1808-80E6-19DD-A56C-4CB050B8B08C}"/>
              </a:ext>
            </a:extLst>
          </p:cNvPr>
          <p:cNvSpPr/>
          <p:nvPr/>
        </p:nvSpPr>
        <p:spPr>
          <a:xfrm>
            <a:off x="5298403" y="2840165"/>
            <a:ext cx="1595194" cy="974470"/>
          </a:xfrm>
          <a:prstGeom prst="cloud">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latin typeface="NVIDIA Sans" panose="020B0503020203020204" pitchFamily="34" charset="0"/>
              </a:rPr>
              <a:t>Env</a:t>
            </a:r>
          </a:p>
        </p:txBody>
      </p:sp>
      <p:cxnSp>
        <p:nvCxnSpPr>
          <p:cNvPr id="12" name="Straight Arrow Connector 11">
            <a:extLst>
              <a:ext uri="{FF2B5EF4-FFF2-40B4-BE49-F238E27FC236}">
                <a16:creationId xmlns:a16="http://schemas.microsoft.com/office/drawing/2014/main" id="{22C8A7C5-3608-0952-5078-6BEBFA56AA27}"/>
              </a:ext>
            </a:extLst>
          </p:cNvPr>
          <p:cNvCxnSpPr>
            <a:stCxn id="10" idx="3"/>
            <a:endCxn id="4" idx="1"/>
          </p:cNvCxnSpPr>
          <p:nvPr/>
        </p:nvCxnSpPr>
        <p:spPr>
          <a:xfrm>
            <a:off x="2487069" y="3327400"/>
            <a:ext cx="568718"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9A54F339-AF17-7C1F-975B-C233FC5992D1}"/>
              </a:ext>
            </a:extLst>
          </p:cNvPr>
          <p:cNvCxnSpPr>
            <a:cxnSpLocks/>
            <a:stCxn id="6" idx="2"/>
            <a:endCxn id="8" idx="0"/>
          </p:cNvCxnSpPr>
          <p:nvPr/>
        </p:nvCxnSpPr>
        <p:spPr>
          <a:xfrm flipH="1">
            <a:off x="4888765" y="4933633"/>
            <a:ext cx="2627" cy="25001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5" name="Connector: Elbow 14">
            <a:extLst>
              <a:ext uri="{FF2B5EF4-FFF2-40B4-BE49-F238E27FC236}">
                <a16:creationId xmlns:a16="http://schemas.microsoft.com/office/drawing/2014/main" id="{9E81D17D-B5DD-6D36-9758-957798E06582}"/>
              </a:ext>
            </a:extLst>
          </p:cNvPr>
          <p:cNvCxnSpPr>
            <a:cxnSpLocks/>
            <a:stCxn id="8" idx="2"/>
            <a:endCxn id="36" idx="2"/>
          </p:cNvCxnSpPr>
          <p:nvPr/>
        </p:nvCxnSpPr>
        <p:spPr>
          <a:xfrm rot="5400000">
            <a:off x="3820645" y="4592782"/>
            <a:ext cx="17806" cy="2118434"/>
          </a:xfrm>
          <a:prstGeom prst="bentConnector3">
            <a:avLst>
              <a:gd name="adj1" fmla="val 1383837"/>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6" name="Connector: Elbow 15">
            <a:extLst>
              <a:ext uri="{FF2B5EF4-FFF2-40B4-BE49-F238E27FC236}">
                <a16:creationId xmlns:a16="http://schemas.microsoft.com/office/drawing/2014/main" id="{CEB3C48F-CAC7-EA67-2F0E-E89911D413E8}"/>
              </a:ext>
            </a:extLst>
          </p:cNvPr>
          <p:cNvCxnSpPr>
            <a:cxnSpLocks/>
            <a:stCxn id="4" idx="0"/>
            <a:endCxn id="11" idx="3"/>
          </p:cNvCxnSpPr>
          <p:nvPr/>
        </p:nvCxnSpPr>
        <p:spPr>
          <a:xfrm rot="5400000" flipH="1" flipV="1">
            <a:off x="4848766" y="1850442"/>
            <a:ext cx="201795" cy="2292674"/>
          </a:xfrm>
          <a:prstGeom prst="bentConnector3">
            <a:avLst>
              <a:gd name="adj1" fmla="val 240893"/>
            </a:avLst>
          </a:prstGeom>
          <a:ln>
            <a:solidFill>
              <a:schemeClr val="tx1"/>
            </a:solidFill>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17" name="Connector: Elbow 16">
            <a:extLst>
              <a:ext uri="{FF2B5EF4-FFF2-40B4-BE49-F238E27FC236}">
                <a16:creationId xmlns:a16="http://schemas.microsoft.com/office/drawing/2014/main" id="{62A03F65-F9C9-43B1-4449-8A27DFE57558}"/>
              </a:ext>
            </a:extLst>
          </p:cNvPr>
          <p:cNvCxnSpPr>
            <a:cxnSpLocks/>
            <a:stCxn id="11" idx="1"/>
            <a:endCxn id="4" idx="3"/>
          </p:cNvCxnSpPr>
          <p:nvPr/>
        </p:nvCxnSpPr>
        <p:spPr>
          <a:xfrm rot="5400000" flipH="1">
            <a:off x="5080334" y="2797932"/>
            <a:ext cx="486197" cy="1545135"/>
          </a:xfrm>
          <a:prstGeom prst="bentConnector4">
            <a:avLst>
              <a:gd name="adj1" fmla="val -47018"/>
              <a:gd name="adj2" fmla="val 75810"/>
            </a:avLst>
          </a:prstGeom>
          <a:ln>
            <a:solidFill>
              <a:schemeClr val="tx1"/>
            </a:solidFill>
            <a:prstDash val="sysDash"/>
            <a:tailEnd type="triangle"/>
          </a:ln>
        </p:spPr>
        <p:style>
          <a:lnRef idx="2">
            <a:schemeClr val="accent1"/>
          </a:lnRef>
          <a:fillRef idx="0">
            <a:schemeClr val="accent1"/>
          </a:fillRef>
          <a:effectRef idx="1">
            <a:schemeClr val="accent1"/>
          </a:effectRef>
          <a:fontRef idx="minor">
            <a:schemeClr val="tx1"/>
          </a:fontRef>
        </p:style>
      </p:cxnSp>
      <p:sp>
        <p:nvSpPr>
          <p:cNvPr id="27" name="Arrow: Down 26">
            <a:extLst>
              <a:ext uri="{FF2B5EF4-FFF2-40B4-BE49-F238E27FC236}">
                <a16:creationId xmlns:a16="http://schemas.microsoft.com/office/drawing/2014/main" id="{CF235BA3-9BC8-FB9B-4F1A-57813B2FE993}"/>
              </a:ext>
            </a:extLst>
          </p:cNvPr>
          <p:cNvSpPr/>
          <p:nvPr/>
        </p:nvSpPr>
        <p:spPr>
          <a:xfrm>
            <a:off x="4725791" y="4103305"/>
            <a:ext cx="325949" cy="256632"/>
          </a:xfrm>
          <a:prstGeom prst="down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NVIDIA Sans" panose="020B0503020203020204" pitchFamily="34" charset="0"/>
            </a:endParaRPr>
          </a:p>
        </p:txBody>
      </p:sp>
      <p:cxnSp>
        <p:nvCxnSpPr>
          <p:cNvPr id="33" name="Connector: Elbow 32">
            <a:extLst>
              <a:ext uri="{FF2B5EF4-FFF2-40B4-BE49-F238E27FC236}">
                <a16:creationId xmlns:a16="http://schemas.microsoft.com/office/drawing/2014/main" id="{BA14F240-FB48-3C57-4FEC-290000848C17}"/>
              </a:ext>
            </a:extLst>
          </p:cNvPr>
          <p:cNvCxnSpPr>
            <a:cxnSpLocks/>
            <a:stCxn id="11" idx="1"/>
            <a:endCxn id="8" idx="3"/>
          </p:cNvCxnSpPr>
          <p:nvPr/>
        </p:nvCxnSpPr>
        <p:spPr>
          <a:xfrm rot="5400000">
            <a:off x="5066265" y="4383636"/>
            <a:ext cx="1599775" cy="459696"/>
          </a:xfrm>
          <a:prstGeom prst="bentConnector2">
            <a:avLst/>
          </a:prstGeom>
          <a:ln>
            <a:solidFill>
              <a:schemeClr val="tx1"/>
            </a:solidFill>
            <a:prstDash val="sysDash"/>
            <a:tailEnd type="triangle"/>
          </a:ln>
        </p:spPr>
        <p:style>
          <a:lnRef idx="2">
            <a:schemeClr val="accent1"/>
          </a:lnRef>
          <a:fillRef idx="0">
            <a:schemeClr val="accent1"/>
          </a:fillRef>
          <a:effectRef idx="1">
            <a:schemeClr val="accent1"/>
          </a:effectRef>
          <a:fontRef idx="minor">
            <a:schemeClr val="tx1"/>
          </a:fontRef>
        </p:style>
      </p:cxnSp>
      <p:sp>
        <p:nvSpPr>
          <p:cNvPr id="36" name="Rectangle: Rounded Corners 35">
            <a:extLst>
              <a:ext uri="{FF2B5EF4-FFF2-40B4-BE49-F238E27FC236}">
                <a16:creationId xmlns:a16="http://schemas.microsoft.com/office/drawing/2014/main" id="{3EF37455-4F4C-DCD0-D64C-495E5C2C7CF7}"/>
              </a:ext>
            </a:extLst>
          </p:cNvPr>
          <p:cNvSpPr/>
          <p:nvPr/>
        </p:nvSpPr>
        <p:spPr>
          <a:xfrm>
            <a:off x="2022792" y="5201454"/>
            <a:ext cx="1495078" cy="459448"/>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latin typeface="NVIDIA Sans" panose="020B0503020203020204" pitchFamily="34" charset="0"/>
              </a:rPr>
              <a:t>Self-Reflection</a:t>
            </a:r>
          </a:p>
        </p:txBody>
      </p:sp>
      <p:sp>
        <p:nvSpPr>
          <p:cNvPr id="38" name="Rectangle: Rounded Corners 37">
            <a:extLst>
              <a:ext uri="{FF2B5EF4-FFF2-40B4-BE49-F238E27FC236}">
                <a16:creationId xmlns:a16="http://schemas.microsoft.com/office/drawing/2014/main" id="{A25FC2B4-07D9-4405-C55D-10F207A04800}"/>
              </a:ext>
            </a:extLst>
          </p:cNvPr>
          <p:cNvSpPr/>
          <p:nvPr/>
        </p:nvSpPr>
        <p:spPr>
          <a:xfrm>
            <a:off x="2022792" y="4362817"/>
            <a:ext cx="1495078" cy="552798"/>
          </a:xfrm>
          <a:prstGeom prst="round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NVIDIA Sans" panose="020B0503020203020204" pitchFamily="34" charset="0"/>
              </a:rPr>
              <a:t>Long term experience</a:t>
            </a:r>
          </a:p>
        </p:txBody>
      </p:sp>
      <p:cxnSp>
        <p:nvCxnSpPr>
          <p:cNvPr id="39" name="Straight Arrow Connector 38">
            <a:extLst>
              <a:ext uri="{FF2B5EF4-FFF2-40B4-BE49-F238E27FC236}">
                <a16:creationId xmlns:a16="http://schemas.microsoft.com/office/drawing/2014/main" id="{C881F145-F2AA-79D2-C7CD-B8925CAF2709}"/>
              </a:ext>
            </a:extLst>
          </p:cNvPr>
          <p:cNvCxnSpPr>
            <a:cxnSpLocks/>
            <a:stCxn id="36" idx="0"/>
            <a:endCxn id="38" idx="2"/>
          </p:cNvCxnSpPr>
          <p:nvPr/>
        </p:nvCxnSpPr>
        <p:spPr>
          <a:xfrm flipV="1">
            <a:off x="2770331" y="4915615"/>
            <a:ext cx="0" cy="28583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4" name="Connector: Elbow 43">
            <a:extLst>
              <a:ext uri="{FF2B5EF4-FFF2-40B4-BE49-F238E27FC236}">
                <a16:creationId xmlns:a16="http://schemas.microsoft.com/office/drawing/2014/main" id="{F21505DB-9D20-12A2-24A5-AA4AB2FA6FBD}"/>
              </a:ext>
            </a:extLst>
          </p:cNvPr>
          <p:cNvCxnSpPr>
            <a:cxnSpLocks/>
            <a:stCxn id="38" idx="0"/>
            <a:endCxn id="4" idx="2"/>
          </p:cNvCxnSpPr>
          <p:nvPr/>
        </p:nvCxnSpPr>
        <p:spPr>
          <a:xfrm rot="5400000" flipH="1" flipV="1">
            <a:off x="2883982" y="3443474"/>
            <a:ext cx="805693" cy="1032995"/>
          </a:xfrm>
          <a:prstGeom prst="bentConnector3">
            <a:avLst>
              <a:gd name="adj1" fmla="val 50000"/>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9" name="object 4">
            <a:extLst>
              <a:ext uri="{FF2B5EF4-FFF2-40B4-BE49-F238E27FC236}">
                <a16:creationId xmlns:a16="http://schemas.microsoft.com/office/drawing/2014/main" id="{03C8784D-4F49-A0EE-61D7-2504B33855D5}"/>
              </a:ext>
            </a:extLst>
          </p:cNvPr>
          <p:cNvSpPr txBox="1">
            <a:spLocks/>
          </p:cNvSpPr>
          <p:nvPr/>
        </p:nvSpPr>
        <p:spPr>
          <a:xfrm>
            <a:off x="10722243" y="6391299"/>
            <a:ext cx="251586" cy="218650"/>
          </a:xfrm>
          <a:prstGeom prst="rect">
            <a:avLst/>
          </a:prstGeom>
        </p:spPr>
        <p:txBody>
          <a:bodyPr vert="horz" wrap="square" lIns="0" tIns="317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18745">
              <a:spcBef>
                <a:spcPts val="25"/>
              </a:spcBef>
            </a:pPr>
            <a:fld id="{81D60167-4931-47E6-BA6A-407CBD079E47}" type="slidenum">
              <a:rPr lang="en-US" sz="1400" spc="-50" smtClean="0">
                <a:latin typeface="NVIDIA Sans" panose="020B0503020203020204" pitchFamily="34" charset="0"/>
              </a:rPr>
              <a:pPr marL="118745">
                <a:spcBef>
                  <a:spcPts val="25"/>
                </a:spcBef>
              </a:pPr>
              <a:t>8</a:t>
            </a:fld>
            <a:endParaRPr lang="en-US" sz="1400" spc="-50">
              <a:latin typeface="NVIDIA Sans" panose="020B0503020203020204" pitchFamily="34" charset="0"/>
            </a:endParaRPr>
          </a:p>
        </p:txBody>
      </p:sp>
    </p:spTree>
    <p:extLst>
      <p:ext uri="{BB962C8B-B14F-4D97-AF65-F5344CB8AC3E}">
        <p14:creationId xmlns:p14="http://schemas.microsoft.com/office/powerpoint/2010/main" val="20275303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C1113-398F-9192-206C-9EDE629C73DA}"/>
              </a:ext>
            </a:extLst>
          </p:cNvPr>
          <p:cNvSpPr>
            <a:spLocks noGrp="1"/>
          </p:cNvSpPr>
          <p:nvPr>
            <p:ph type="title"/>
          </p:nvPr>
        </p:nvSpPr>
        <p:spPr/>
        <p:txBody>
          <a:bodyPr>
            <a:normAutofit/>
          </a:bodyPr>
          <a:lstStyle/>
          <a:p>
            <a:pPr algn="ctr"/>
            <a:r>
              <a:rPr lang="en-US" sz="4000" b="1"/>
              <a:t>Memory</a:t>
            </a:r>
          </a:p>
        </p:txBody>
      </p:sp>
      <p:sp>
        <p:nvSpPr>
          <p:cNvPr id="3" name="Content Placeholder 2">
            <a:extLst>
              <a:ext uri="{FF2B5EF4-FFF2-40B4-BE49-F238E27FC236}">
                <a16:creationId xmlns:a16="http://schemas.microsoft.com/office/drawing/2014/main" id="{9D17D2BB-1396-5644-4D86-1E4A56B3D104}"/>
              </a:ext>
            </a:extLst>
          </p:cNvPr>
          <p:cNvSpPr>
            <a:spLocks noGrp="1"/>
          </p:cNvSpPr>
          <p:nvPr>
            <p:ph idx="1"/>
          </p:nvPr>
        </p:nvSpPr>
        <p:spPr/>
        <p:txBody>
          <a:bodyPr>
            <a:normAutofit lnSpcReduction="10000"/>
          </a:bodyPr>
          <a:lstStyle/>
          <a:p>
            <a:r>
              <a:rPr lang="en-US"/>
              <a:t>Mechanics</a:t>
            </a:r>
          </a:p>
          <a:p>
            <a:pPr lvl="1"/>
            <a:r>
              <a:rPr lang="en-US"/>
              <a:t>In context </a:t>
            </a:r>
            <a:r>
              <a:rPr lang="en-US">
                <a:sym typeface="Wingdings" panose="05000000000000000000" pitchFamily="2" charset="2"/>
              </a:rPr>
              <a:t> context limit</a:t>
            </a:r>
            <a:endParaRPr lang="en-US"/>
          </a:p>
          <a:p>
            <a:pPr lvl="1"/>
            <a:r>
              <a:rPr lang="en-US"/>
              <a:t>External files </a:t>
            </a:r>
            <a:r>
              <a:rPr lang="en-US">
                <a:sym typeface="Wingdings" panose="05000000000000000000" pitchFamily="2" charset="2"/>
              </a:rPr>
              <a:t> archive</a:t>
            </a:r>
            <a:endParaRPr lang="en-US"/>
          </a:p>
          <a:p>
            <a:pPr lvl="1"/>
            <a:r>
              <a:rPr lang="en-US"/>
              <a:t>External vector DB </a:t>
            </a:r>
            <a:r>
              <a:rPr lang="en-US">
                <a:sym typeface="Wingdings" panose="05000000000000000000" pitchFamily="2" charset="2"/>
              </a:rPr>
              <a:t> RAG</a:t>
            </a:r>
          </a:p>
          <a:p>
            <a:pPr lvl="1"/>
            <a:r>
              <a:rPr lang="en-US">
                <a:sym typeface="Wingdings" panose="05000000000000000000" pitchFamily="2" charset="2"/>
              </a:rPr>
              <a:t>Structure memory (e.g. Knowledge Graph)  search</a:t>
            </a:r>
          </a:p>
          <a:p>
            <a:r>
              <a:rPr lang="en-US">
                <a:sym typeface="Wingdings" panose="05000000000000000000" pitchFamily="2" charset="2"/>
              </a:rPr>
              <a:t>Scope</a:t>
            </a:r>
          </a:p>
          <a:p>
            <a:pPr lvl="1"/>
            <a:r>
              <a:rPr lang="en-US">
                <a:sym typeface="Wingdings" panose="05000000000000000000" pitchFamily="2" charset="2"/>
              </a:rPr>
              <a:t>Local  for single agent</a:t>
            </a:r>
          </a:p>
          <a:p>
            <a:pPr lvl="1"/>
            <a:r>
              <a:rPr lang="en-US">
                <a:sym typeface="Wingdings" panose="05000000000000000000" pitchFamily="2" charset="2"/>
              </a:rPr>
              <a:t>Global  for all agents in the system</a:t>
            </a:r>
          </a:p>
          <a:p>
            <a:pPr lvl="1"/>
            <a:r>
              <a:rPr lang="en-US">
                <a:sym typeface="Wingdings" panose="05000000000000000000" pitchFamily="2" charset="2"/>
              </a:rPr>
              <a:t>Short term/Long term</a:t>
            </a:r>
          </a:p>
          <a:p>
            <a:r>
              <a:rPr lang="en-US">
                <a:sym typeface="Wingdings" panose="05000000000000000000" pitchFamily="2" charset="2"/>
              </a:rPr>
              <a:t>Operation</a:t>
            </a:r>
          </a:p>
          <a:p>
            <a:pPr lvl="1"/>
            <a:r>
              <a:rPr lang="en-US">
                <a:sym typeface="Wingdings" panose="05000000000000000000" pitchFamily="2" charset="2"/>
              </a:rPr>
              <a:t>Read/Write/Reflection</a:t>
            </a:r>
            <a:endParaRPr lang="en-US"/>
          </a:p>
        </p:txBody>
      </p:sp>
      <p:sp>
        <p:nvSpPr>
          <p:cNvPr id="4" name="object 4">
            <a:extLst>
              <a:ext uri="{FF2B5EF4-FFF2-40B4-BE49-F238E27FC236}">
                <a16:creationId xmlns:a16="http://schemas.microsoft.com/office/drawing/2014/main" id="{9F44B719-D253-213A-0F21-5F7387027422}"/>
              </a:ext>
            </a:extLst>
          </p:cNvPr>
          <p:cNvSpPr txBox="1">
            <a:spLocks/>
          </p:cNvSpPr>
          <p:nvPr/>
        </p:nvSpPr>
        <p:spPr>
          <a:xfrm>
            <a:off x="10616339" y="6391299"/>
            <a:ext cx="365239" cy="218650"/>
          </a:xfrm>
          <a:prstGeom prst="rect">
            <a:avLst/>
          </a:prstGeom>
        </p:spPr>
        <p:txBody>
          <a:bodyPr vert="horz" wrap="square" lIns="0" tIns="317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18745">
              <a:spcBef>
                <a:spcPts val="25"/>
              </a:spcBef>
            </a:pPr>
            <a:fld id="{81D60167-4931-47E6-BA6A-407CBD079E47}" type="slidenum">
              <a:rPr lang="en-US" sz="1400" spc="-50" smtClean="0">
                <a:latin typeface="NVIDIA Sans" panose="020B0503020203020204" pitchFamily="34" charset="0"/>
              </a:rPr>
              <a:pPr marL="118745">
                <a:spcBef>
                  <a:spcPts val="25"/>
                </a:spcBef>
              </a:pPr>
              <a:t>9</a:t>
            </a:fld>
            <a:endParaRPr lang="en-US" sz="1400" spc="-50">
              <a:latin typeface="NVIDIA Sans" panose="020B0503020203020204" pitchFamily="34" charset="0"/>
            </a:endParaRPr>
          </a:p>
        </p:txBody>
      </p:sp>
    </p:spTree>
    <p:extLst>
      <p:ext uri="{BB962C8B-B14F-4D97-AF65-F5344CB8AC3E}">
        <p14:creationId xmlns:p14="http://schemas.microsoft.com/office/powerpoint/2010/main" val="13636773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9CB28-6972-696F-9599-20A2FA993F4A}"/>
              </a:ext>
            </a:extLst>
          </p:cNvPr>
          <p:cNvSpPr>
            <a:spLocks noGrp="1"/>
          </p:cNvSpPr>
          <p:nvPr>
            <p:ph type="title"/>
          </p:nvPr>
        </p:nvSpPr>
        <p:spPr>
          <a:xfrm>
            <a:off x="838200" y="382675"/>
            <a:ext cx="10515600" cy="1325563"/>
          </a:xfrm>
        </p:spPr>
        <p:txBody>
          <a:bodyPr>
            <a:normAutofit/>
          </a:bodyPr>
          <a:lstStyle/>
          <a:p>
            <a:pPr algn="ctr"/>
            <a:r>
              <a:rPr lang="en-US" sz="4000" b="1"/>
              <a:t>Tools</a:t>
            </a:r>
          </a:p>
        </p:txBody>
      </p:sp>
      <p:sp>
        <p:nvSpPr>
          <p:cNvPr id="7" name="Rectangle: Rounded Corners 6">
            <a:extLst>
              <a:ext uri="{FF2B5EF4-FFF2-40B4-BE49-F238E27FC236}">
                <a16:creationId xmlns:a16="http://schemas.microsoft.com/office/drawing/2014/main" id="{0DB7F4CB-8158-B815-E4C2-6795B6A30DF2}"/>
              </a:ext>
            </a:extLst>
          </p:cNvPr>
          <p:cNvSpPr/>
          <p:nvPr/>
        </p:nvSpPr>
        <p:spPr>
          <a:xfrm>
            <a:off x="4500751" y="2449427"/>
            <a:ext cx="3079376" cy="625288"/>
          </a:xfrm>
          <a:prstGeom prst="round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a:latin typeface="NVIDIA Sans" panose="020B0503020203020204" pitchFamily="34" charset="0"/>
              </a:rPr>
              <a:t>Prompt + Tool Definition</a:t>
            </a:r>
          </a:p>
        </p:txBody>
      </p:sp>
      <p:cxnSp>
        <p:nvCxnSpPr>
          <p:cNvPr id="9" name="Straight Connector 8">
            <a:extLst>
              <a:ext uri="{FF2B5EF4-FFF2-40B4-BE49-F238E27FC236}">
                <a16:creationId xmlns:a16="http://schemas.microsoft.com/office/drawing/2014/main" id="{DFB7C290-39C2-19F0-B912-BFB2EB0B38F1}"/>
              </a:ext>
            </a:extLst>
          </p:cNvPr>
          <p:cNvCxnSpPr>
            <a:cxnSpLocks/>
          </p:cNvCxnSpPr>
          <p:nvPr/>
        </p:nvCxnSpPr>
        <p:spPr>
          <a:xfrm>
            <a:off x="3079845" y="2188330"/>
            <a:ext cx="0" cy="4276516"/>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C99E6C0E-17E7-4973-D659-3EE09F51C2AA}"/>
              </a:ext>
            </a:extLst>
          </p:cNvPr>
          <p:cNvSpPr txBox="1"/>
          <p:nvPr/>
        </p:nvSpPr>
        <p:spPr>
          <a:xfrm>
            <a:off x="2374043" y="2175630"/>
            <a:ext cx="699230" cy="400110"/>
          </a:xfrm>
          <a:prstGeom prst="rect">
            <a:avLst/>
          </a:prstGeom>
          <a:noFill/>
        </p:spPr>
        <p:txBody>
          <a:bodyPr wrap="none" rtlCol="0">
            <a:spAutoFit/>
          </a:bodyPr>
          <a:lstStyle/>
          <a:p>
            <a:r>
              <a:rPr lang="en-US" sz="2000" b="1">
                <a:latin typeface="NVIDIA Sans" panose="020B0503020203020204" pitchFamily="34" charset="0"/>
              </a:rPr>
              <a:t>APP</a:t>
            </a:r>
          </a:p>
        </p:txBody>
      </p:sp>
      <p:cxnSp>
        <p:nvCxnSpPr>
          <p:cNvPr id="11" name="Straight Connector 10">
            <a:extLst>
              <a:ext uri="{FF2B5EF4-FFF2-40B4-BE49-F238E27FC236}">
                <a16:creationId xmlns:a16="http://schemas.microsoft.com/office/drawing/2014/main" id="{2E46C337-9618-110A-7674-A999C3B8F191}"/>
              </a:ext>
            </a:extLst>
          </p:cNvPr>
          <p:cNvCxnSpPr>
            <a:cxnSpLocks/>
          </p:cNvCxnSpPr>
          <p:nvPr/>
        </p:nvCxnSpPr>
        <p:spPr>
          <a:xfrm flipH="1">
            <a:off x="9001032" y="2188330"/>
            <a:ext cx="1" cy="4303214"/>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2BADA17E-CA6D-4273-637D-46AB14702B37}"/>
              </a:ext>
            </a:extLst>
          </p:cNvPr>
          <p:cNvSpPr txBox="1"/>
          <p:nvPr/>
        </p:nvSpPr>
        <p:spPr>
          <a:xfrm>
            <a:off x="9197919" y="2082270"/>
            <a:ext cx="710451" cy="400110"/>
          </a:xfrm>
          <a:prstGeom prst="rect">
            <a:avLst/>
          </a:prstGeom>
          <a:noFill/>
        </p:spPr>
        <p:txBody>
          <a:bodyPr wrap="none" rtlCol="0">
            <a:spAutoFit/>
          </a:bodyPr>
          <a:lstStyle/>
          <a:p>
            <a:r>
              <a:rPr lang="en-US" sz="2000" b="1">
                <a:latin typeface="NVIDIA Sans" panose="020B0503020203020204" pitchFamily="34" charset="0"/>
              </a:rPr>
              <a:t>LLM</a:t>
            </a:r>
          </a:p>
        </p:txBody>
      </p:sp>
      <p:sp>
        <p:nvSpPr>
          <p:cNvPr id="13" name="Rectangle: Rounded Corners 12">
            <a:extLst>
              <a:ext uri="{FF2B5EF4-FFF2-40B4-BE49-F238E27FC236}">
                <a16:creationId xmlns:a16="http://schemas.microsoft.com/office/drawing/2014/main" id="{2EE62E3D-B353-AC11-F7E7-1B7F63041E3A}"/>
              </a:ext>
            </a:extLst>
          </p:cNvPr>
          <p:cNvSpPr/>
          <p:nvPr/>
        </p:nvSpPr>
        <p:spPr>
          <a:xfrm>
            <a:off x="4489249" y="3585242"/>
            <a:ext cx="3079376" cy="625288"/>
          </a:xfrm>
          <a:prstGeom prst="round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a:latin typeface="NVIDIA Sans" panose="020B0503020203020204" pitchFamily="34" charset="0"/>
              </a:rPr>
              <a:t>Response: Tool Calls</a:t>
            </a:r>
          </a:p>
        </p:txBody>
      </p:sp>
      <p:sp>
        <p:nvSpPr>
          <p:cNvPr id="14" name="Rectangle: Rounded Corners 13">
            <a:extLst>
              <a:ext uri="{FF2B5EF4-FFF2-40B4-BE49-F238E27FC236}">
                <a16:creationId xmlns:a16="http://schemas.microsoft.com/office/drawing/2014/main" id="{31295505-DAAE-EEE7-071B-76A2C091A8A1}"/>
              </a:ext>
            </a:extLst>
          </p:cNvPr>
          <p:cNvSpPr/>
          <p:nvPr/>
        </p:nvSpPr>
        <p:spPr>
          <a:xfrm>
            <a:off x="4500751" y="4866186"/>
            <a:ext cx="3079376" cy="625288"/>
          </a:xfrm>
          <a:prstGeom prst="round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a:latin typeface="NVIDIA Sans" panose="020B0503020203020204" pitchFamily="34" charset="0"/>
              </a:rPr>
              <a:t>Prompt + Tool Results</a:t>
            </a:r>
          </a:p>
        </p:txBody>
      </p:sp>
      <p:sp>
        <p:nvSpPr>
          <p:cNvPr id="18" name="Arrow: Curved Right 17">
            <a:extLst>
              <a:ext uri="{FF2B5EF4-FFF2-40B4-BE49-F238E27FC236}">
                <a16:creationId xmlns:a16="http://schemas.microsoft.com/office/drawing/2014/main" id="{2F447A01-AA75-C584-9010-A358C80A98F9}"/>
              </a:ext>
            </a:extLst>
          </p:cNvPr>
          <p:cNvSpPr/>
          <p:nvPr/>
        </p:nvSpPr>
        <p:spPr>
          <a:xfrm>
            <a:off x="2402194" y="3796777"/>
            <a:ext cx="660398" cy="1460500"/>
          </a:xfrm>
          <a:prstGeom prst="curvedRightArrow">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NVIDIA Sans" panose="020B0503020203020204" pitchFamily="34" charset="0"/>
            </a:endParaRPr>
          </a:p>
        </p:txBody>
      </p:sp>
      <p:sp>
        <p:nvSpPr>
          <p:cNvPr id="19" name="Rectangle: Rounded Corners 18">
            <a:extLst>
              <a:ext uri="{FF2B5EF4-FFF2-40B4-BE49-F238E27FC236}">
                <a16:creationId xmlns:a16="http://schemas.microsoft.com/office/drawing/2014/main" id="{1392F3F9-47A0-C8AA-9A5E-4CE34850F3F1}"/>
              </a:ext>
            </a:extLst>
          </p:cNvPr>
          <p:cNvSpPr/>
          <p:nvPr/>
        </p:nvSpPr>
        <p:spPr>
          <a:xfrm>
            <a:off x="688063" y="4045705"/>
            <a:ext cx="1417544" cy="625288"/>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a:solidFill>
                  <a:schemeClr val="tx1"/>
                </a:solidFill>
                <a:latin typeface="NVIDIA Sans" panose="020B0503020203020204" pitchFamily="34" charset="0"/>
              </a:rPr>
              <a:t>Execute Tools</a:t>
            </a:r>
          </a:p>
        </p:txBody>
      </p:sp>
      <p:sp>
        <p:nvSpPr>
          <p:cNvPr id="24" name="Rectangle: Rounded Corners 23">
            <a:extLst>
              <a:ext uri="{FF2B5EF4-FFF2-40B4-BE49-F238E27FC236}">
                <a16:creationId xmlns:a16="http://schemas.microsoft.com/office/drawing/2014/main" id="{2A6EA2EC-612D-A470-C68C-8583067DF851}"/>
              </a:ext>
            </a:extLst>
          </p:cNvPr>
          <p:cNvSpPr/>
          <p:nvPr/>
        </p:nvSpPr>
        <p:spPr>
          <a:xfrm>
            <a:off x="4512254" y="5915199"/>
            <a:ext cx="3079376" cy="625288"/>
          </a:xfrm>
          <a:prstGeom prst="round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a:latin typeface="NVIDIA Sans" panose="020B0503020203020204" pitchFamily="34" charset="0"/>
              </a:rPr>
              <a:t>Response</a:t>
            </a:r>
          </a:p>
        </p:txBody>
      </p:sp>
      <p:sp>
        <p:nvSpPr>
          <p:cNvPr id="3" name="object 4">
            <a:extLst>
              <a:ext uri="{FF2B5EF4-FFF2-40B4-BE49-F238E27FC236}">
                <a16:creationId xmlns:a16="http://schemas.microsoft.com/office/drawing/2014/main" id="{236969F7-611E-676C-82C9-9A69A65A9313}"/>
              </a:ext>
            </a:extLst>
          </p:cNvPr>
          <p:cNvSpPr txBox="1">
            <a:spLocks/>
          </p:cNvSpPr>
          <p:nvPr/>
        </p:nvSpPr>
        <p:spPr>
          <a:xfrm>
            <a:off x="10616339" y="6391299"/>
            <a:ext cx="365239" cy="218650"/>
          </a:xfrm>
          <a:prstGeom prst="rect">
            <a:avLst/>
          </a:prstGeom>
        </p:spPr>
        <p:txBody>
          <a:bodyPr vert="horz" wrap="square" lIns="0" tIns="317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18745">
              <a:spcBef>
                <a:spcPts val="25"/>
              </a:spcBef>
            </a:pPr>
            <a:fld id="{81D60167-4931-47E6-BA6A-407CBD079E47}" type="slidenum">
              <a:rPr lang="en-US" sz="1400" spc="-50" smtClean="0">
                <a:latin typeface="NVIDIA Sans" panose="020B0503020203020204" pitchFamily="34" charset="0"/>
              </a:rPr>
              <a:pPr marL="118745">
                <a:spcBef>
                  <a:spcPts val="25"/>
                </a:spcBef>
              </a:pPr>
              <a:t>10</a:t>
            </a:fld>
            <a:endParaRPr lang="en-US" sz="1400" spc="-50">
              <a:latin typeface="NVIDIA Sans" panose="020B0503020203020204" pitchFamily="34" charset="0"/>
            </a:endParaRPr>
          </a:p>
        </p:txBody>
      </p:sp>
      <p:sp>
        <p:nvSpPr>
          <p:cNvPr id="6" name="TextBox 5">
            <a:extLst>
              <a:ext uri="{FF2B5EF4-FFF2-40B4-BE49-F238E27FC236}">
                <a16:creationId xmlns:a16="http://schemas.microsoft.com/office/drawing/2014/main" id="{1FF91F3E-0981-4CBD-A1A0-40FE9843496A}"/>
              </a:ext>
            </a:extLst>
          </p:cNvPr>
          <p:cNvSpPr txBox="1"/>
          <p:nvPr/>
        </p:nvSpPr>
        <p:spPr>
          <a:xfrm>
            <a:off x="3163203" y="1770174"/>
            <a:ext cx="3158767" cy="646331"/>
          </a:xfrm>
          <a:prstGeom prst="rect">
            <a:avLst/>
          </a:prstGeom>
          <a:noFill/>
        </p:spPr>
        <p:txBody>
          <a:bodyPr wrap="square" rtlCol="0">
            <a:spAutoFit/>
          </a:bodyPr>
          <a:lstStyle/>
          <a:p>
            <a:r>
              <a:rPr lang="en-US">
                <a:latin typeface="NVIDIA Sans" panose="020B0503020203020204" pitchFamily="34" charset="0"/>
                <a:cs typeface="NVIDIA Sans" panose="020B0503020203020204" pitchFamily="34" charset="0"/>
              </a:rPr>
              <a:t>Can you calculate 77 * 89? </a:t>
            </a:r>
            <a:br>
              <a:rPr lang="en-US">
                <a:latin typeface="NVIDIA Sans" panose="020B0503020203020204" pitchFamily="34" charset="0"/>
                <a:cs typeface="NVIDIA Sans" panose="020B0503020203020204" pitchFamily="34" charset="0"/>
              </a:rPr>
            </a:br>
            <a:endParaRPr lang="en-US">
              <a:latin typeface="NVIDIA Sans" panose="020B0503020203020204" pitchFamily="34" charset="0"/>
              <a:cs typeface="NVIDIA Sans" panose="020B0503020203020204" pitchFamily="34" charset="0"/>
            </a:endParaRPr>
          </a:p>
        </p:txBody>
      </p:sp>
      <p:sp>
        <p:nvSpPr>
          <p:cNvPr id="8" name="TextBox 7">
            <a:extLst>
              <a:ext uri="{FF2B5EF4-FFF2-40B4-BE49-F238E27FC236}">
                <a16:creationId xmlns:a16="http://schemas.microsoft.com/office/drawing/2014/main" id="{4B5DED22-CC04-A26A-B00D-AF3757199D37}"/>
              </a:ext>
            </a:extLst>
          </p:cNvPr>
          <p:cNvSpPr txBox="1"/>
          <p:nvPr/>
        </p:nvSpPr>
        <p:spPr>
          <a:xfrm>
            <a:off x="4689144" y="3171109"/>
            <a:ext cx="2510050" cy="369332"/>
          </a:xfrm>
          <a:prstGeom prst="rect">
            <a:avLst/>
          </a:prstGeom>
          <a:noFill/>
        </p:spPr>
        <p:txBody>
          <a:bodyPr wrap="square" rtlCol="0">
            <a:spAutoFit/>
          </a:bodyPr>
          <a:lstStyle/>
          <a:p>
            <a:r>
              <a:rPr lang="en-US">
                <a:latin typeface="NVIDIA Sans" panose="020B0503020203020204" pitchFamily="34" charset="0"/>
                <a:cs typeface="NVIDIA Sans" panose="020B0503020203020204" pitchFamily="34" charset="0"/>
              </a:rPr>
              <a:t>Calculator ( “77 * 89” )</a:t>
            </a:r>
          </a:p>
        </p:txBody>
      </p:sp>
      <p:sp>
        <p:nvSpPr>
          <p:cNvPr id="15" name="TextBox 14">
            <a:extLst>
              <a:ext uri="{FF2B5EF4-FFF2-40B4-BE49-F238E27FC236}">
                <a16:creationId xmlns:a16="http://schemas.microsoft.com/office/drawing/2014/main" id="{CC00F414-1EAC-EB98-F705-3FDE09ED6C89}"/>
              </a:ext>
            </a:extLst>
          </p:cNvPr>
          <p:cNvSpPr txBox="1"/>
          <p:nvPr/>
        </p:nvSpPr>
        <p:spPr>
          <a:xfrm>
            <a:off x="653153" y="4810821"/>
            <a:ext cx="2510050" cy="369332"/>
          </a:xfrm>
          <a:prstGeom prst="rect">
            <a:avLst/>
          </a:prstGeom>
          <a:noFill/>
        </p:spPr>
        <p:txBody>
          <a:bodyPr wrap="square" rtlCol="0">
            <a:spAutoFit/>
          </a:bodyPr>
          <a:lstStyle/>
          <a:p>
            <a:r>
              <a:rPr lang="en-US">
                <a:latin typeface="NVIDIA Sans" panose="020B0503020203020204" pitchFamily="34" charset="0"/>
                <a:cs typeface="NVIDIA Sans" panose="020B0503020203020204" pitchFamily="34" charset="0"/>
              </a:rPr>
              <a:t>77*89 = 6853</a:t>
            </a:r>
          </a:p>
        </p:txBody>
      </p:sp>
      <p:sp>
        <p:nvSpPr>
          <p:cNvPr id="25" name="TextBox 24">
            <a:extLst>
              <a:ext uri="{FF2B5EF4-FFF2-40B4-BE49-F238E27FC236}">
                <a16:creationId xmlns:a16="http://schemas.microsoft.com/office/drawing/2014/main" id="{CDE47284-E262-C457-4DA2-16EEBC9922C8}"/>
              </a:ext>
            </a:extLst>
          </p:cNvPr>
          <p:cNvSpPr txBox="1"/>
          <p:nvPr/>
        </p:nvSpPr>
        <p:spPr>
          <a:xfrm>
            <a:off x="4771561" y="5549082"/>
            <a:ext cx="3172037" cy="369332"/>
          </a:xfrm>
          <a:prstGeom prst="rect">
            <a:avLst/>
          </a:prstGeom>
          <a:noFill/>
        </p:spPr>
        <p:txBody>
          <a:bodyPr wrap="square" rtlCol="0">
            <a:spAutoFit/>
          </a:bodyPr>
          <a:lstStyle/>
          <a:p>
            <a:r>
              <a:rPr lang="en-US">
                <a:latin typeface="NVIDIA Sans" panose="020B0503020203020204" pitchFamily="34" charset="0"/>
                <a:cs typeface="NVIDIA Sans" panose="020B0503020203020204" pitchFamily="34" charset="0"/>
              </a:rPr>
              <a:t>Sure, the answer is 6853. </a:t>
            </a:r>
          </a:p>
        </p:txBody>
      </p:sp>
      <p:sp>
        <p:nvSpPr>
          <p:cNvPr id="26" name="TextBox 25">
            <a:extLst>
              <a:ext uri="{FF2B5EF4-FFF2-40B4-BE49-F238E27FC236}">
                <a16:creationId xmlns:a16="http://schemas.microsoft.com/office/drawing/2014/main" id="{D67576BA-2923-96E5-B4A2-4D2120546CD0}"/>
              </a:ext>
            </a:extLst>
          </p:cNvPr>
          <p:cNvSpPr txBox="1"/>
          <p:nvPr/>
        </p:nvSpPr>
        <p:spPr>
          <a:xfrm>
            <a:off x="4443809" y="4216728"/>
            <a:ext cx="3827540" cy="646331"/>
          </a:xfrm>
          <a:prstGeom prst="rect">
            <a:avLst/>
          </a:prstGeom>
          <a:noFill/>
        </p:spPr>
        <p:txBody>
          <a:bodyPr wrap="square" rtlCol="0">
            <a:spAutoFit/>
          </a:bodyPr>
          <a:lstStyle/>
          <a:p>
            <a:r>
              <a:rPr lang="en-US">
                <a:latin typeface="NVIDIA Sans" panose="020B0503020203020204" pitchFamily="34" charset="0"/>
                <a:cs typeface="NVIDIA Sans" panose="020B0503020203020204" pitchFamily="34" charset="0"/>
              </a:rPr>
              <a:t>Can you calculate 77*89? Calculator (“77*89”),   “6853”</a:t>
            </a:r>
          </a:p>
        </p:txBody>
      </p:sp>
      <p:cxnSp>
        <p:nvCxnSpPr>
          <p:cNvPr id="5" name="Straight Arrow Connector 4">
            <a:extLst>
              <a:ext uri="{FF2B5EF4-FFF2-40B4-BE49-F238E27FC236}">
                <a16:creationId xmlns:a16="http://schemas.microsoft.com/office/drawing/2014/main" id="{DFB6620B-9D49-998F-E24F-0E3AF7640D2A}"/>
              </a:ext>
            </a:extLst>
          </p:cNvPr>
          <p:cNvCxnSpPr>
            <a:cxnSpLocks/>
          </p:cNvCxnSpPr>
          <p:nvPr/>
        </p:nvCxnSpPr>
        <p:spPr>
          <a:xfrm flipV="1">
            <a:off x="7586800" y="2759720"/>
            <a:ext cx="1439088" cy="2351"/>
          </a:xfrm>
          <a:prstGeom prst="straightConnector1">
            <a:avLst/>
          </a:prstGeom>
          <a:ln w="25400">
            <a:solidFill>
              <a:schemeClr val="tx1"/>
            </a:solidFill>
            <a:tailEnd type="arrow" w="lg" len="lg"/>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B39813C2-009B-15BC-A6FB-70C6ADFE1218}"/>
              </a:ext>
            </a:extLst>
          </p:cNvPr>
          <p:cNvCxnSpPr>
            <a:cxnSpLocks/>
          </p:cNvCxnSpPr>
          <p:nvPr/>
        </p:nvCxnSpPr>
        <p:spPr>
          <a:xfrm flipV="1">
            <a:off x="3062592" y="2762071"/>
            <a:ext cx="1439088" cy="2351"/>
          </a:xfrm>
          <a:prstGeom prst="straightConnector1">
            <a:avLst/>
          </a:prstGeom>
          <a:ln w="25400">
            <a:solidFill>
              <a:schemeClr val="tx1"/>
            </a:solidFill>
            <a:tailEnd type="arrow" w="lg" len="lg"/>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7930F210-6FE6-EF09-52CF-1E6D0D604136}"/>
              </a:ext>
            </a:extLst>
          </p:cNvPr>
          <p:cNvCxnSpPr>
            <a:cxnSpLocks/>
          </p:cNvCxnSpPr>
          <p:nvPr/>
        </p:nvCxnSpPr>
        <p:spPr>
          <a:xfrm flipV="1">
            <a:off x="7561944" y="5202543"/>
            <a:ext cx="1439088" cy="2351"/>
          </a:xfrm>
          <a:prstGeom prst="straightConnector1">
            <a:avLst/>
          </a:prstGeom>
          <a:ln w="25400">
            <a:solidFill>
              <a:schemeClr val="tx1"/>
            </a:solidFill>
            <a:tailEnd type="arrow" w="lg" len="lg"/>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C418EB4E-443A-2E07-3722-1B45DA9AA4C7}"/>
              </a:ext>
            </a:extLst>
          </p:cNvPr>
          <p:cNvCxnSpPr>
            <a:cxnSpLocks/>
          </p:cNvCxnSpPr>
          <p:nvPr/>
        </p:nvCxnSpPr>
        <p:spPr>
          <a:xfrm>
            <a:off x="3079845" y="5202543"/>
            <a:ext cx="1396979" cy="2351"/>
          </a:xfrm>
          <a:prstGeom prst="straightConnector1">
            <a:avLst/>
          </a:prstGeom>
          <a:ln w="25400">
            <a:solidFill>
              <a:schemeClr val="tx1"/>
            </a:solidFill>
            <a:tailEnd type="arrow" w="lg" len="lg"/>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1A327EBD-AD10-0C4E-70E9-C6C658A144E7}"/>
              </a:ext>
            </a:extLst>
          </p:cNvPr>
          <p:cNvCxnSpPr>
            <a:cxnSpLocks/>
            <a:endCxn id="24" idx="3"/>
          </p:cNvCxnSpPr>
          <p:nvPr/>
        </p:nvCxnSpPr>
        <p:spPr>
          <a:xfrm flipH="1">
            <a:off x="7591630" y="6227843"/>
            <a:ext cx="1409401" cy="0"/>
          </a:xfrm>
          <a:prstGeom prst="straightConnector1">
            <a:avLst/>
          </a:prstGeom>
          <a:ln w="25400">
            <a:solidFill>
              <a:schemeClr val="tx1"/>
            </a:solidFill>
            <a:tailEnd type="arrow" w="lg" len="lg"/>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2A260BB1-A173-3CAF-F423-F1DC6FAE6536}"/>
              </a:ext>
            </a:extLst>
          </p:cNvPr>
          <p:cNvCxnSpPr>
            <a:cxnSpLocks/>
            <a:stCxn id="24" idx="1"/>
          </p:cNvCxnSpPr>
          <p:nvPr/>
        </p:nvCxnSpPr>
        <p:spPr>
          <a:xfrm flipH="1">
            <a:off x="3062592" y="6227843"/>
            <a:ext cx="1449662" cy="0"/>
          </a:xfrm>
          <a:prstGeom prst="straightConnector1">
            <a:avLst/>
          </a:prstGeom>
          <a:ln w="25400">
            <a:solidFill>
              <a:schemeClr val="tx1"/>
            </a:solidFill>
            <a:tailEnd type="arrow" w="lg" len="lg"/>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72BA6280-F9D3-6C2F-A268-C92D0823DE49}"/>
              </a:ext>
            </a:extLst>
          </p:cNvPr>
          <p:cNvCxnSpPr>
            <a:cxnSpLocks/>
          </p:cNvCxnSpPr>
          <p:nvPr/>
        </p:nvCxnSpPr>
        <p:spPr>
          <a:xfrm flipH="1">
            <a:off x="7535065" y="3904084"/>
            <a:ext cx="1409401" cy="0"/>
          </a:xfrm>
          <a:prstGeom prst="straightConnector1">
            <a:avLst/>
          </a:prstGeom>
          <a:ln w="25400">
            <a:solidFill>
              <a:schemeClr val="tx1"/>
            </a:solidFill>
            <a:tailEnd type="arrow" w="lg" len="lg"/>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DC2696CF-8167-EF4F-82E6-8ECDBD7F43CE}"/>
              </a:ext>
            </a:extLst>
          </p:cNvPr>
          <p:cNvCxnSpPr>
            <a:cxnSpLocks/>
            <a:stCxn id="13" idx="1"/>
            <a:endCxn id="18" idx="4"/>
          </p:cNvCxnSpPr>
          <p:nvPr/>
        </p:nvCxnSpPr>
        <p:spPr>
          <a:xfrm flipH="1" flipV="1">
            <a:off x="3062592" y="3879327"/>
            <a:ext cx="1426657" cy="18559"/>
          </a:xfrm>
          <a:prstGeom prst="straightConnector1">
            <a:avLst/>
          </a:prstGeom>
          <a:ln w="25400">
            <a:solidFill>
              <a:schemeClr val="tx1"/>
            </a:solidFill>
            <a:tailEnd type="arrow" w="lg" len="lg"/>
          </a:ln>
        </p:spPr>
        <p:style>
          <a:lnRef idx="2">
            <a:schemeClr val="accent1"/>
          </a:lnRef>
          <a:fillRef idx="0">
            <a:schemeClr val="accent1"/>
          </a:fillRef>
          <a:effectRef idx="1">
            <a:schemeClr val="accent1"/>
          </a:effectRef>
          <a:fontRef idx="minor">
            <a:schemeClr val="tx1"/>
          </a:fontRef>
        </p:style>
      </p:cxnSp>
      <p:sp>
        <p:nvSpPr>
          <p:cNvPr id="44" name="TextBox 43">
            <a:extLst>
              <a:ext uri="{FF2B5EF4-FFF2-40B4-BE49-F238E27FC236}">
                <a16:creationId xmlns:a16="http://schemas.microsoft.com/office/drawing/2014/main" id="{3420811C-EFAE-DFDF-A0B8-9FA935031CDE}"/>
              </a:ext>
            </a:extLst>
          </p:cNvPr>
          <p:cNvSpPr txBox="1"/>
          <p:nvPr/>
        </p:nvSpPr>
        <p:spPr>
          <a:xfrm>
            <a:off x="6246796" y="1326528"/>
            <a:ext cx="3582467" cy="923330"/>
          </a:xfrm>
          <a:prstGeom prst="rect">
            <a:avLst/>
          </a:prstGeom>
          <a:noFill/>
        </p:spPr>
        <p:txBody>
          <a:bodyPr wrap="square">
            <a:spAutoFit/>
          </a:bodyPr>
          <a:lstStyle/>
          <a:p>
            <a:r>
              <a:rPr lang="en-US">
                <a:latin typeface="NVIDIA Sans" panose="020B0503020203020204" pitchFamily="34" charset="0"/>
                <a:cs typeface="NVIDIA Sans" panose="020B0503020203020204" pitchFamily="34" charset="0"/>
              </a:rPr>
              <a:t>{API: “Calculator”, Description: “calculate a math equation”, Input: “string”, Output: “string”}</a:t>
            </a:r>
            <a:endParaRPr lang="en-US"/>
          </a:p>
        </p:txBody>
      </p:sp>
    </p:spTree>
    <p:extLst>
      <p:ext uri="{BB962C8B-B14F-4D97-AF65-F5344CB8AC3E}">
        <p14:creationId xmlns:p14="http://schemas.microsoft.com/office/powerpoint/2010/main" val="29024500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EC6C3-89D7-F10B-60D6-95335A59E3FE}"/>
              </a:ext>
            </a:extLst>
          </p:cNvPr>
          <p:cNvSpPr>
            <a:spLocks noGrp="1"/>
          </p:cNvSpPr>
          <p:nvPr>
            <p:ph type="title"/>
          </p:nvPr>
        </p:nvSpPr>
        <p:spPr/>
        <p:txBody>
          <a:bodyPr>
            <a:normAutofit/>
          </a:bodyPr>
          <a:lstStyle/>
          <a:p>
            <a:pPr algn="ctr"/>
            <a:r>
              <a:rPr lang="en-US" sz="4000" b="1"/>
              <a:t>Two Agent Conversation</a:t>
            </a:r>
          </a:p>
        </p:txBody>
      </p:sp>
      <p:sp>
        <p:nvSpPr>
          <p:cNvPr id="3" name="Content Placeholder 2">
            <a:extLst>
              <a:ext uri="{FF2B5EF4-FFF2-40B4-BE49-F238E27FC236}">
                <a16:creationId xmlns:a16="http://schemas.microsoft.com/office/drawing/2014/main" id="{3E40E662-640D-76D7-A0BD-A7FA984473C4}"/>
              </a:ext>
            </a:extLst>
          </p:cNvPr>
          <p:cNvSpPr>
            <a:spLocks noGrp="1"/>
          </p:cNvSpPr>
          <p:nvPr>
            <p:ph idx="1"/>
          </p:nvPr>
        </p:nvSpPr>
        <p:spPr/>
        <p:txBody>
          <a:bodyPr>
            <a:normAutofit/>
          </a:bodyPr>
          <a:lstStyle/>
          <a:p>
            <a:pPr marL="0" indent="0">
              <a:buNone/>
            </a:pPr>
            <a:r>
              <a:rPr lang="en-US" sz="2400"/>
              <a:t>Connecting Agents to form conversations</a:t>
            </a:r>
          </a:p>
          <a:p>
            <a:pPr marL="0" indent="0">
              <a:buNone/>
            </a:pPr>
            <a:r>
              <a:rPr lang="en-US" sz="2400"/>
              <a:t>Implicit task decomposition by roles</a:t>
            </a:r>
          </a:p>
        </p:txBody>
      </p:sp>
      <p:sp>
        <p:nvSpPr>
          <p:cNvPr id="5" name="TextBox 4">
            <a:extLst>
              <a:ext uri="{FF2B5EF4-FFF2-40B4-BE49-F238E27FC236}">
                <a16:creationId xmlns:a16="http://schemas.microsoft.com/office/drawing/2014/main" id="{9161E5FB-58DD-0277-4DC8-CA56DE62B666}"/>
              </a:ext>
            </a:extLst>
          </p:cNvPr>
          <p:cNvSpPr txBox="1"/>
          <p:nvPr/>
        </p:nvSpPr>
        <p:spPr>
          <a:xfrm>
            <a:off x="907484" y="3140580"/>
            <a:ext cx="2740843" cy="923330"/>
          </a:xfrm>
          <a:prstGeom prst="rect">
            <a:avLst/>
          </a:prstGeom>
          <a:noFill/>
        </p:spPr>
        <p:txBody>
          <a:bodyPr wrap="square">
            <a:spAutoFit/>
          </a:bodyPr>
          <a:lstStyle/>
          <a:p>
            <a:r>
              <a:rPr lang="en-US">
                <a:solidFill>
                  <a:srgbClr val="ED7D31"/>
                </a:solidFill>
                <a:latin typeface="NVIDIA Sans" panose="020B0503020203020204" pitchFamily="34" charset="0"/>
              </a:rPr>
              <a:t>Your name is Joe and you are a part of a duo of comedians. </a:t>
            </a:r>
          </a:p>
        </p:txBody>
      </p:sp>
      <p:sp>
        <p:nvSpPr>
          <p:cNvPr id="6" name="TextBox 5">
            <a:extLst>
              <a:ext uri="{FF2B5EF4-FFF2-40B4-BE49-F238E27FC236}">
                <a16:creationId xmlns:a16="http://schemas.microsoft.com/office/drawing/2014/main" id="{B8138FC5-6732-B8E3-9A47-49B7445CC6D8}"/>
              </a:ext>
            </a:extLst>
          </p:cNvPr>
          <p:cNvSpPr txBox="1"/>
          <p:nvPr/>
        </p:nvSpPr>
        <p:spPr>
          <a:xfrm>
            <a:off x="9361550" y="3114656"/>
            <a:ext cx="2740843" cy="923330"/>
          </a:xfrm>
          <a:prstGeom prst="rect">
            <a:avLst/>
          </a:prstGeom>
          <a:noFill/>
        </p:spPr>
        <p:txBody>
          <a:bodyPr wrap="square">
            <a:spAutoFit/>
          </a:bodyPr>
          <a:lstStyle/>
          <a:p>
            <a:r>
              <a:rPr lang="en-US">
                <a:solidFill>
                  <a:schemeClr val="accent6"/>
                </a:solidFill>
                <a:latin typeface="NVIDIA Sans" panose="020B0503020203020204" pitchFamily="34" charset="0"/>
              </a:rPr>
              <a:t>Your name is Cathy and you are a part of a duo of comedians. </a:t>
            </a:r>
          </a:p>
        </p:txBody>
      </p:sp>
      <p:sp>
        <p:nvSpPr>
          <p:cNvPr id="12" name="TextBox 11">
            <a:extLst>
              <a:ext uri="{FF2B5EF4-FFF2-40B4-BE49-F238E27FC236}">
                <a16:creationId xmlns:a16="http://schemas.microsoft.com/office/drawing/2014/main" id="{5A80DC1A-9267-FD49-4A04-ED0CBC413C41}"/>
              </a:ext>
            </a:extLst>
          </p:cNvPr>
          <p:cNvSpPr txBox="1"/>
          <p:nvPr/>
        </p:nvSpPr>
        <p:spPr>
          <a:xfrm>
            <a:off x="5097566" y="3244334"/>
            <a:ext cx="2422772" cy="369332"/>
          </a:xfrm>
          <a:prstGeom prst="rect">
            <a:avLst/>
          </a:prstGeom>
          <a:noFill/>
        </p:spPr>
        <p:txBody>
          <a:bodyPr wrap="square">
            <a:spAutoFit/>
          </a:bodyPr>
          <a:lstStyle/>
          <a:p>
            <a:r>
              <a:rPr lang="en-US">
                <a:solidFill>
                  <a:srgbClr val="ED7D31"/>
                </a:solidFill>
                <a:latin typeface="NVIDIA Sans" panose="020B0503020203020204" pitchFamily="34" charset="0"/>
              </a:rPr>
              <a:t>Cathy, tell me a joke.</a:t>
            </a:r>
          </a:p>
        </p:txBody>
      </p:sp>
      <p:sp>
        <p:nvSpPr>
          <p:cNvPr id="14" name="TextBox 13">
            <a:extLst>
              <a:ext uri="{FF2B5EF4-FFF2-40B4-BE49-F238E27FC236}">
                <a16:creationId xmlns:a16="http://schemas.microsoft.com/office/drawing/2014/main" id="{18E00F16-74FC-1A15-3609-8062BC39A889}"/>
              </a:ext>
            </a:extLst>
          </p:cNvPr>
          <p:cNvSpPr txBox="1"/>
          <p:nvPr/>
        </p:nvSpPr>
        <p:spPr>
          <a:xfrm>
            <a:off x="4620579" y="3996213"/>
            <a:ext cx="3992371" cy="923330"/>
          </a:xfrm>
          <a:prstGeom prst="rect">
            <a:avLst/>
          </a:prstGeom>
          <a:noFill/>
        </p:spPr>
        <p:txBody>
          <a:bodyPr wrap="square">
            <a:spAutoFit/>
          </a:bodyPr>
          <a:lstStyle/>
          <a:p>
            <a:r>
              <a:rPr lang="en-US">
                <a:solidFill>
                  <a:schemeClr val="accent6"/>
                </a:solidFill>
                <a:latin typeface="NVIDIA Sans" panose="020B0503020203020204" pitchFamily="34" charset="0"/>
              </a:rPr>
              <a:t>Sure, here's one for you: </a:t>
            </a:r>
            <a:br>
              <a:rPr lang="en-US">
                <a:solidFill>
                  <a:schemeClr val="accent6"/>
                </a:solidFill>
                <a:latin typeface="NVIDIA Sans" panose="020B0503020203020204" pitchFamily="34" charset="0"/>
              </a:rPr>
            </a:br>
            <a:r>
              <a:rPr lang="en-US">
                <a:solidFill>
                  <a:schemeClr val="accent6"/>
                </a:solidFill>
                <a:latin typeface="NVIDIA Sans" panose="020B0503020203020204" pitchFamily="34" charset="0"/>
              </a:rPr>
              <a:t>Why don't scientists trust atoms? </a:t>
            </a:r>
            <a:br>
              <a:rPr lang="en-US">
                <a:solidFill>
                  <a:schemeClr val="accent6"/>
                </a:solidFill>
                <a:latin typeface="NVIDIA Sans" panose="020B0503020203020204" pitchFamily="34" charset="0"/>
              </a:rPr>
            </a:br>
            <a:r>
              <a:rPr lang="en-US">
                <a:solidFill>
                  <a:schemeClr val="accent6"/>
                </a:solidFill>
                <a:latin typeface="NVIDIA Sans" panose="020B0503020203020204" pitchFamily="34" charset="0"/>
              </a:rPr>
              <a:t>Because they make up everything!</a:t>
            </a:r>
          </a:p>
        </p:txBody>
      </p:sp>
      <p:sp>
        <p:nvSpPr>
          <p:cNvPr id="16" name="TextBox 15">
            <a:extLst>
              <a:ext uri="{FF2B5EF4-FFF2-40B4-BE49-F238E27FC236}">
                <a16:creationId xmlns:a16="http://schemas.microsoft.com/office/drawing/2014/main" id="{756E35F3-E5D6-5D96-A3E1-CB8C2EBBDA92}"/>
              </a:ext>
            </a:extLst>
          </p:cNvPr>
          <p:cNvSpPr txBox="1"/>
          <p:nvPr/>
        </p:nvSpPr>
        <p:spPr>
          <a:xfrm>
            <a:off x="4620580" y="5349492"/>
            <a:ext cx="4118807" cy="923330"/>
          </a:xfrm>
          <a:prstGeom prst="rect">
            <a:avLst/>
          </a:prstGeom>
          <a:noFill/>
        </p:spPr>
        <p:txBody>
          <a:bodyPr wrap="square">
            <a:spAutoFit/>
          </a:bodyPr>
          <a:lstStyle/>
          <a:p>
            <a:r>
              <a:rPr lang="en-US">
                <a:solidFill>
                  <a:srgbClr val="ED7D31"/>
                </a:solidFill>
                <a:latin typeface="NVIDIA Sans" panose="020B0503020203020204" pitchFamily="34" charset="0"/>
              </a:rPr>
              <a:t>Good one, Cathy! Here's one for you:</a:t>
            </a:r>
          </a:p>
          <a:p>
            <a:r>
              <a:rPr lang="en-US">
                <a:solidFill>
                  <a:srgbClr val="ED7D31"/>
                </a:solidFill>
                <a:latin typeface="NVIDIA Sans" panose="020B0503020203020204" pitchFamily="34" charset="0"/>
              </a:rPr>
              <a:t>Why was the math book sad?</a:t>
            </a:r>
          </a:p>
          <a:p>
            <a:r>
              <a:rPr lang="en-US">
                <a:solidFill>
                  <a:srgbClr val="ED7D31"/>
                </a:solidFill>
                <a:latin typeface="NVIDIA Sans" panose="020B0503020203020204" pitchFamily="34" charset="0"/>
              </a:rPr>
              <a:t>Because it had too many problems!</a:t>
            </a:r>
          </a:p>
        </p:txBody>
      </p:sp>
      <p:cxnSp>
        <p:nvCxnSpPr>
          <p:cNvPr id="28" name="Straight Connector 27">
            <a:extLst>
              <a:ext uri="{FF2B5EF4-FFF2-40B4-BE49-F238E27FC236}">
                <a16:creationId xmlns:a16="http://schemas.microsoft.com/office/drawing/2014/main" id="{9A0DB71D-FD23-7129-156A-80947DD68C77}"/>
              </a:ext>
            </a:extLst>
          </p:cNvPr>
          <p:cNvCxnSpPr>
            <a:cxnSpLocks/>
          </p:cNvCxnSpPr>
          <p:nvPr/>
        </p:nvCxnSpPr>
        <p:spPr>
          <a:xfrm>
            <a:off x="3694705" y="2461821"/>
            <a:ext cx="0" cy="4276516"/>
          </a:xfrm>
          <a:prstGeom prst="line">
            <a:avLst/>
          </a:prstGeom>
          <a:ln w="254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5449DAC9-9E1D-65C3-D9FD-058EB1A99B06}"/>
              </a:ext>
            </a:extLst>
          </p:cNvPr>
          <p:cNvCxnSpPr>
            <a:cxnSpLocks/>
          </p:cNvCxnSpPr>
          <p:nvPr/>
        </p:nvCxnSpPr>
        <p:spPr>
          <a:xfrm>
            <a:off x="9017525" y="2456649"/>
            <a:ext cx="0" cy="4276516"/>
          </a:xfrm>
          <a:prstGeom prst="line">
            <a:avLst/>
          </a:prstGeom>
          <a:ln w="25400">
            <a:solidFill>
              <a:srgbClr val="70AD47"/>
            </a:solidFill>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A4C93371-D98E-B4C9-0F44-A920D9068800}"/>
              </a:ext>
            </a:extLst>
          </p:cNvPr>
          <p:cNvCxnSpPr>
            <a:cxnSpLocks/>
            <a:endCxn id="12" idx="1"/>
          </p:cNvCxnSpPr>
          <p:nvPr/>
        </p:nvCxnSpPr>
        <p:spPr>
          <a:xfrm>
            <a:off x="3694705" y="3429000"/>
            <a:ext cx="1402861" cy="0"/>
          </a:xfrm>
          <a:prstGeom prst="straightConnector1">
            <a:avLst/>
          </a:prstGeom>
          <a:ln w="25400">
            <a:solidFill>
              <a:schemeClr val="accent2"/>
            </a:solidFill>
            <a:tailEnd type="arrow" w="lg" len="lg"/>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E7274AEB-8B68-259A-FFF6-8204C2560016}"/>
              </a:ext>
            </a:extLst>
          </p:cNvPr>
          <p:cNvCxnSpPr>
            <a:cxnSpLocks/>
          </p:cNvCxnSpPr>
          <p:nvPr/>
        </p:nvCxnSpPr>
        <p:spPr>
          <a:xfrm>
            <a:off x="7613093" y="3429000"/>
            <a:ext cx="1402861" cy="0"/>
          </a:xfrm>
          <a:prstGeom prst="straightConnector1">
            <a:avLst/>
          </a:prstGeom>
          <a:ln w="25400">
            <a:solidFill>
              <a:schemeClr val="accent2"/>
            </a:solidFill>
            <a:tailEnd type="arrow" w="lg" len="lg"/>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E4BAE3F5-FECC-7989-130C-54E41704E5C4}"/>
              </a:ext>
            </a:extLst>
          </p:cNvPr>
          <p:cNvCxnSpPr>
            <a:cxnSpLocks/>
          </p:cNvCxnSpPr>
          <p:nvPr/>
        </p:nvCxnSpPr>
        <p:spPr>
          <a:xfrm>
            <a:off x="3694704" y="5811157"/>
            <a:ext cx="914400" cy="0"/>
          </a:xfrm>
          <a:prstGeom prst="straightConnector1">
            <a:avLst/>
          </a:prstGeom>
          <a:ln w="25400">
            <a:solidFill>
              <a:schemeClr val="accent2"/>
            </a:solidFill>
            <a:tailEnd type="arrow" w="lg" len="lg"/>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D48C4C60-017F-816F-37B8-DA821B53BBD4}"/>
              </a:ext>
            </a:extLst>
          </p:cNvPr>
          <p:cNvCxnSpPr>
            <a:cxnSpLocks/>
          </p:cNvCxnSpPr>
          <p:nvPr/>
        </p:nvCxnSpPr>
        <p:spPr>
          <a:xfrm>
            <a:off x="8102909" y="5811157"/>
            <a:ext cx="914400" cy="0"/>
          </a:xfrm>
          <a:prstGeom prst="straightConnector1">
            <a:avLst/>
          </a:prstGeom>
          <a:ln w="25400">
            <a:solidFill>
              <a:schemeClr val="accent2"/>
            </a:solidFill>
            <a:tailEnd type="arrow" w="lg" len="lg"/>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1E1D1E8B-5E16-9C10-F4B7-6E3A8FC218C3}"/>
              </a:ext>
            </a:extLst>
          </p:cNvPr>
          <p:cNvCxnSpPr>
            <a:cxnSpLocks/>
          </p:cNvCxnSpPr>
          <p:nvPr/>
        </p:nvCxnSpPr>
        <p:spPr>
          <a:xfrm flipH="1">
            <a:off x="3701642" y="4457878"/>
            <a:ext cx="914400" cy="0"/>
          </a:xfrm>
          <a:prstGeom prst="straightConnector1">
            <a:avLst/>
          </a:prstGeom>
          <a:ln w="25400">
            <a:solidFill>
              <a:srgbClr val="70AD47"/>
            </a:solidFill>
            <a:tailEnd type="arrow" w="lg" len="lg"/>
          </a:ln>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06F6DC53-83D1-DDEA-5228-A0797624C8A3}"/>
              </a:ext>
            </a:extLst>
          </p:cNvPr>
          <p:cNvCxnSpPr>
            <a:cxnSpLocks/>
          </p:cNvCxnSpPr>
          <p:nvPr/>
        </p:nvCxnSpPr>
        <p:spPr>
          <a:xfrm flipH="1">
            <a:off x="8399533" y="4457878"/>
            <a:ext cx="617776" cy="0"/>
          </a:xfrm>
          <a:prstGeom prst="straightConnector1">
            <a:avLst/>
          </a:prstGeom>
          <a:ln w="25400">
            <a:solidFill>
              <a:srgbClr val="70AD47"/>
            </a:solidFill>
            <a:tailEnd type="arrow" w="lg" len="lg"/>
          </a:ln>
        </p:spPr>
        <p:style>
          <a:lnRef idx="2">
            <a:schemeClr val="accent1"/>
          </a:lnRef>
          <a:fillRef idx="0">
            <a:schemeClr val="accent1"/>
          </a:fillRef>
          <a:effectRef idx="1">
            <a:schemeClr val="accent1"/>
          </a:effectRef>
          <a:fontRef idx="minor">
            <a:schemeClr val="tx1"/>
          </a:fontRef>
        </p:style>
      </p:cxnSp>
      <p:sp>
        <p:nvSpPr>
          <p:cNvPr id="4" name="object 4">
            <a:extLst>
              <a:ext uri="{FF2B5EF4-FFF2-40B4-BE49-F238E27FC236}">
                <a16:creationId xmlns:a16="http://schemas.microsoft.com/office/drawing/2014/main" id="{FE896336-0822-59DA-EB28-00016566438A}"/>
              </a:ext>
            </a:extLst>
          </p:cNvPr>
          <p:cNvSpPr txBox="1">
            <a:spLocks/>
          </p:cNvSpPr>
          <p:nvPr/>
        </p:nvSpPr>
        <p:spPr>
          <a:xfrm>
            <a:off x="10616339" y="6391299"/>
            <a:ext cx="365239" cy="218650"/>
          </a:xfrm>
          <a:prstGeom prst="rect">
            <a:avLst/>
          </a:prstGeom>
        </p:spPr>
        <p:txBody>
          <a:bodyPr vert="horz" wrap="square" lIns="0" tIns="317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18745">
              <a:spcBef>
                <a:spcPts val="25"/>
              </a:spcBef>
            </a:pPr>
            <a:fld id="{81D60167-4931-47E6-BA6A-407CBD079E47}" type="slidenum">
              <a:rPr lang="en-US" sz="1400" spc="-50" smtClean="0">
                <a:latin typeface="NVIDIA Sans" panose="020B0503020203020204" pitchFamily="34" charset="0"/>
              </a:rPr>
              <a:pPr marL="118745">
                <a:spcBef>
                  <a:spcPts val="25"/>
                </a:spcBef>
              </a:pPr>
              <a:t>11</a:t>
            </a:fld>
            <a:endParaRPr lang="en-US" sz="1400" spc="-50">
              <a:latin typeface="NVIDIA Sans" panose="020B0503020203020204" pitchFamily="34" charset="0"/>
            </a:endParaRPr>
          </a:p>
        </p:txBody>
      </p:sp>
      <p:pic>
        <p:nvPicPr>
          <p:cNvPr id="10" name="Picture 9">
            <a:extLst>
              <a:ext uri="{FF2B5EF4-FFF2-40B4-BE49-F238E27FC236}">
                <a16:creationId xmlns:a16="http://schemas.microsoft.com/office/drawing/2014/main" id="{DB8A7014-D901-F5F4-AC82-DF4776667330}"/>
              </a:ext>
            </a:extLst>
          </p:cNvPr>
          <p:cNvPicPr>
            <a:picLocks noChangeAspect="1"/>
          </p:cNvPicPr>
          <p:nvPr/>
        </p:nvPicPr>
        <p:blipFill>
          <a:blip r:embed="rId3"/>
          <a:stretch>
            <a:fillRect/>
          </a:stretch>
        </p:blipFill>
        <p:spPr>
          <a:xfrm>
            <a:off x="9538823" y="4252322"/>
            <a:ext cx="1455989" cy="1297730"/>
          </a:xfrm>
          <a:prstGeom prst="rect">
            <a:avLst/>
          </a:prstGeom>
        </p:spPr>
      </p:pic>
      <p:pic>
        <p:nvPicPr>
          <p:cNvPr id="15" name="Picture 14">
            <a:extLst>
              <a:ext uri="{FF2B5EF4-FFF2-40B4-BE49-F238E27FC236}">
                <a16:creationId xmlns:a16="http://schemas.microsoft.com/office/drawing/2014/main" id="{195F8AF5-F6C7-1393-16CE-D1736BAB00C3}"/>
              </a:ext>
            </a:extLst>
          </p:cNvPr>
          <p:cNvPicPr>
            <a:picLocks noChangeAspect="1"/>
          </p:cNvPicPr>
          <p:nvPr/>
        </p:nvPicPr>
        <p:blipFill>
          <a:blip r:embed="rId4"/>
          <a:stretch>
            <a:fillRect/>
          </a:stretch>
        </p:blipFill>
        <p:spPr>
          <a:xfrm>
            <a:off x="1304376" y="4271223"/>
            <a:ext cx="1594352" cy="1309046"/>
          </a:xfrm>
          <a:prstGeom prst="rect">
            <a:avLst/>
          </a:prstGeom>
        </p:spPr>
      </p:pic>
    </p:spTree>
    <p:extLst>
      <p:ext uri="{BB962C8B-B14F-4D97-AF65-F5344CB8AC3E}">
        <p14:creationId xmlns:p14="http://schemas.microsoft.com/office/powerpoint/2010/main" val="37678204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95B3F18-65E3-4B7F-FFCF-E8ADF5A88DF6}"/>
              </a:ext>
            </a:extLst>
          </p:cNvPr>
          <p:cNvPicPr>
            <a:picLocks noChangeAspect="1"/>
          </p:cNvPicPr>
          <p:nvPr/>
        </p:nvPicPr>
        <p:blipFill>
          <a:blip r:embed="rId3"/>
          <a:stretch>
            <a:fillRect/>
          </a:stretch>
        </p:blipFill>
        <p:spPr>
          <a:xfrm>
            <a:off x="9147533" y="4813199"/>
            <a:ext cx="1594352" cy="1309046"/>
          </a:xfrm>
          <a:prstGeom prst="rect">
            <a:avLst/>
          </a:prstGeom>
        </p:spPr>
      </p:pic>
      <p:pic>
        <p:nvPicPr>
          <p:cNvPr id="4" name="Picture 3">
            <a:extLst>
              <a:ext uri="{FF2B5EF4-FFF2-40B4-BE49-F238E27FC236}">
                <a16:creationId xmlns:a16="http://schemas.microsoft.com/office/drawing/2014/main" id="{3F873B93-37F2-F788-A422-FEED11D93FD7}"/>
              </a:ext>
            </a:extLst>
          </p:cNvPr>
          <p:cNvPicPr>
            <a:picLocks noChangeAspect="1"/>
          </p:cNvPicPr>
          <p:nvPr/>
        </p:nvPicPr>
        <p:blipFill>
          <a:blip r:embed="rId4"/>
          <a:stretch>
            <a:fillRect/>
          </a:stretch>
        </p:blipFill>
        <p:spPr>
          <a:xfrm>
            <a:off x="9136371" y="2414536"/>
            <a:ext cx="1521666" cy="1356268"/>
          </a:xfrm>
          <a:prstGeom prst="rect">
            <a:avLst/>
          </a:prstGeom>
        </p:spPr>
      </p:pic>
      <p:sp>
        <p:nvSpPr>
          <p:cNvPr id="2" name="Title 1">
            <a:extLst>
              <a:ext uri="{FF2B5EF4-FFF2-40B4-BE49-F238E27FC236}">
                <a16:creationId xmlns:a16="http://schemas.microsoft.com/office/drawing/2014/main" id="{58956D8A-8B24-3642-C4E3-5ED94E76D10E}"/>
              </a:ext>
            </a:extLst>
          </p:cNvPr>
          <p:cNvSpPr>
            <a:spLocks noGrp="1"/>
          </p:cNvSpPr>
          <p:nvPr>
            <p:ph type="title"/>
          </p:nvPr>
        </p:nvSpPr>
        <p:spPr/>
        <p:txBody>
          <a:bodyPr>
            <a:normAutofit/>
          </a:bodyPr>
          <a:lstStyle/>
          <a:p>
            <a:pPr algn="ctr"/>
            <a:r>
              <a:rPr lang="en-US" sz="4000" b="1"/>
              <a:t>Group Chat</a:t>
            </a:r>
          </a:p>
        </p:txBody>
      </p:sp>
      <p:sp>
        <p:nvSpPr>
          <p:cNvPr id="3" name="Content Placeholder 2">
            <a:extLst>
              <a:ext uri="{FF2B5EF4-FFF2-40B4-BE49-F238E27FC236}">
                <a16:creationId xmlns:a16="http://schemas.microsoft.com/office/drawing/2014/main" id="{629963AA-5B91-A0DA-BCC7-11B84F01BAB1}"/>
              </a:ext>
            </a:extLst>
          </p:cNvPr>
          <p:cNvSpPr>
            <a:spLocks noGrp="1"/>
          </p:cNvSpPr>
          <p:nvPr>
            <p:ph idx="1"/>
          </p:nvPr>
        </p:nvSpPr>
        <p:spPr>
          <a:xfrm>
            <a:off x="838200" y="1825625"/>
            <a:ext cx="10515600" cy="4351338"/>
          </a:xfrm>
        </p:spPr>
        <p:txBody>
          <a:bodyPr>
            <a:normAutofit/>
          </a:bodyPr>
          <a:lstStyle/>
          <a:p>
            <a:pPr marL="0" indent="0">
              <a:buNone/>
            </a:pPr>
            <a:r>
              <a:rPr lang="en-US" sz="2400"/>
              <a:t>Chat manager orchestrates chat </a:t>
            </a:r>
          </a:p>
        </p:txBody>
      </p:sp>
      <p:cxnSp>
        <p:nvCxnSpPr>
          <p:cNvPr id="7" name="Straight Connector 6">
            <a:extLst>
              <a:ext uri="{FF2B5EF4-FFF2-40B4-BE49-F238E27FC236}">
                <a16:creationId xmlns:a16="http://schemas.microsoft.com/office/drawing/2014/main" id="{533C1F1C-8F8D-5E7E-3167-526F2440A096}"/>
              </a:ext>
            </a:extLst>
          </p:cNvPr>
          <p:cNvCxnSpPr>
            <a:cxnSpLocks/>
          </p:cNvCxnSpPr>
          <p:nvPr/>
        </p:nvCxnSpPr>
        <p:spPr>
          <a:xfrm>
            <a:off x="3694705" y="2461821"/>
            <a:ext cx="0" cy="4276516"/>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2D75DAD-44B6-CDCD-C158-D333FE32FB2D}"/>
              </a:ext>
            </a:extLst>
          </p:cNvPr>
          <p:cNvCxnSpPr>
            <a:cxnSpLocks/>
          </p:cNvCxnSpPr>
          <p:nvPr/>
        </p:nvCxnSpPr>
        <p:spPr>
          <a:xfrm>
            <a:off x="8755277" y="2276061"/>
            <a:ext cx="0" cy="1980802"/>
          </a:xfrm>
          <a:prstGeom prst="line">
            <a:avLst/>
          </a:prstGeom>
          <a:ln w="25400">
            <a:solidFill>
              <a:srgbClr val="70AD47"/>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B953461F-A00B-B63D-A2C8-F88C26200555}"/>
              </a:ext>
            </a:extLst>
          </p:cNvPr>
          <p:cNvCxnSpPr>
            <a:cxnSpLocks/>
          </p:cNvCxnSpPr>
          <p:nvPr/>
        </p:nvCxnSpPr>
        <p:spPr>
          <a:xfrm>
            <a:off x="8738358" y="4649162"/>
            <a:ext cx="0" cy="1884160"/>
          </a:xfrm>
          <a:prstGeom prst="line">
            <a:avLst/>
          </a:prstGeom>
          <a:ln w="25400">
            <a:solidFill>
              <a:srgbClr val="ED7D31"/>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7D398DD0-F114-90E0-052B-B7920FEEF348}"/>
              </a:ext>
            </a:extLst>
          </p:cNvPr>
          <p:cNvSpPr txBox="1"/>
          <p:nvPr/>
        </p:nvSpPr>
        <p:spPr>
          <a:xfrm>
            <a:off x="838200" y="2608672"/>
            <a:ext cx="3004928" cy="1200329"/>
          </a:xfrm>
          <a:prstGeom prst="rect">
            <a:avLst/>
          </a:prstGeom>
          <a:noFill/>
        </p:spPr>
        <p:txBody>
          <a:bodyPr wrap="square" rtlCol="0">
            <a:spAutoFit/>
          </a:bodyPr>
          <a:lstStyle/>
          <a:p>
            <a:r>
              <a:rPr lang="en-US">
                <a:latin typeface="NVIDIA Sans" panose="020B0503020203020204" pitchFamily="34" charset="0"/>
              </a:rPr>
              <a:t>Read the above conversation. Then select the next role from {add, </a:t>
            </a:r>
            <a:r>
              <a:rPr lang="en-US" err="1">
                <a:latin typeface="NVIDIA Sans" panose="020B0503020203020204" pitchFamily="34" charset="0"/>
              </a:rPr>
              <a:t>muliplier</a:t>
            </a:r>
            <a:r>
              <a:rPr lang="en-US">
                <a:latin typeface="NVIDIA Sans" panose="020B0503020203020204" pitchFamily="34" charset="0"/>
              </a:rPr>
              <a:t>} to play. </a:t>
            </a:r>
          </a:p>
        </p:txBody>
      </p:sp>
      <p:sp>
        <p:nvSpPr>
          <p:cNvPr id="13" name="TextBox 12">
            <a:extLst>
              <a:ext uri="{FF2B5EF4-FFF2-40B4-BE49-F238E27FC236}">
                <a16:creationId xmlns:a16="http://schemas.microsoft.com/office/drawing/2014/main" id="{E6019471-CB7B-6B0A-523D-0D8897D95D2F}"/>
              </a:ext>
            </a:extLst>
          </p:cNvPr>
          <p:cNvSpPr txBox="1"/>
          <p:nvPr/>
        </p:nvSpPr>
        <p:spPr>
          <a:xfrm>
            <a:off x="8754703" y="2275020"/>
            <a:ext cx="3047998" cy="369332"/>
          </a:xfrm>
          <a:prstGeom prst="rect">
            <a:avLst/>
          </a:prstGeom>
          <a:noFill/>
        </p:spPr>
        <p:txBody>
          <a:bodyPr wrap="square">
            <a:spAutoFit/>
          </a:bodyPr>
          <a:lstStyle/>
          <a:p>
            <a:r>
              <a:rPr lang="en-US" b="0" i="0">
                <a:solidFill>
                  <a:schemeClr val="accent6"/>
                </a:solidFill>
                <a:effectLst/>
                <a:latin typeface="SFMono-Regular"/>
              </a:rPr>
              <a:t>Add 1 to each input number</a:t>
            </a:r>
            <a:endParaRPr lang="en-US">
              <a:solidFill>
                <a:schemeClr val="accent6"/>
              </a:solidFill>
              <a:latin typeface="NVIDIA Sans" panose="020B0503020203020204" pitchFamily="34" charset="0"/>
            </a:endParaRPr>
          </a:p>
        </p:txBody>
      </p:sp>
      <p:sp>
        <p:nvSpPr>
          <p:cNvPr id="14" name="TextBox 13">
            <a:extLst>
              <a:ext uri="{FF2B5EF4-FFF2-40B4-BE49-F238E27FC236}">
                <a16:creationId xmlns:a16="http://schemas.microsoft.com/office/drawing/2014/main" id="{7803BD70-FFE6-ACD4-6353-39DC02666458}"/>
              </a:ext>
            </a:extLst>
          </p:cNvPr>
          <p:cNvSpPr txBox="1"/>
          <p:nvPr/>
        </p:nvSpPr>
        <p:spPr>
          <a:xfrm>
            <a:off x="8754703" y="4654803"/>
            <a:ext cx="3344277" cy="369332"/>
          </a:xfrm>
          <a:prstGeom prst="rect">
            <a:avLst/>
          </a:prstGeom>
          <a:noFill/>
        </p:spPr>
        <p:txBody>
          <a:bodyPr wrap="square">
            <a:spAutoFit/>
          </a:bodyPr>
          <a:lstStyle/>
          <a:p>
            <a:r>
              <a:rPr lang="en-US" b="0" i="0">
                <a:solidFill>
                  <a:srgbClr val="ED7D31"/>
                </a:solidFill>
                <a:effectLst/>
                <a:latin typeface="SFMono-Regular"/>
              </a:rPr>
              <a:t>Multiple each input number by 2</a:t>
            </a:r>
            <a:endParaRPr lang="en-US">
              <a:solidFill>
                <a:srgbClr val="ED7D31"/>
              </a:solidFill>
              <a:latin typeface="NVIDIA Sans" panose="020B0503020203020204" pitchFamily="34" charset="0"/>
            </a:endParaRPr>
          </a:p>
        </p:txBody>
      </p:sp>
      <p:sp>
        <p:nvSpPr>
          <p:cNvPr id="16" name="TextBox 15">
            <a:extLst>
              <a:ext uri="{FF2B5EF4-FFF2-40B4-BE49-F238E27FC236}">
                <a16:creationId xmlns:a16="http://schemas.microsoft.com/office/drawing/2014/main" id="{F44DB51E-7402-C567-3B2B-F680B98AAFD9}"/>
              </a:ext>
            </a:extLst>
          </p:cNvPr>
          <p:cNvSpPr txBox="1"/>
          <p:nvPr/>
        </p:nvSpPr>
        <p:spPr>
          <a:xfrm>
            <a:off x="4853493" y="2583335"/>
            <a:ext cx="2445023" cy="646331"/>
          </a:xfrm>
          <a:prstGeom prst="rect">
            <a:avLst/>
          </a:prstGeom>
          <a:noFill/>
        </p:spPr>
        <p:txBody>
          <a:bodyPr wrap="square">
            <a:spAutoFit/>
          </a:bodyPr>
          <a:lstStyle/>
          <a:p>
            <a:r>
              <a:rPr lang="en-US">
                <a:latin typeface="SFMono-Regular"/>
              </a:rPr>
              <a:t>My number is 3, I want to turn it into 8.</a:t>
            </a:r>
          </a:p>
        </p:txBody>
      </p:sp>
      <p:sp>
        <p:nvSpPr>
          <p:cNvPr id="17" name="TextBox 16">
            <a:extLst>
              <a:ext uri="{FF2B5EF4-FFF2-40B4-BE49-F238E27FC236}">
                <a16:creationId xmlns:a16="http://schemas.microsoft.com/office/drawing/2014/main" id="{8CE398CA-50C7-58E5-CF74-36EB345AFD11}"/>
              </a:ext>
            </a:extLst>
          </p:cNvPr>
          <p:cNvSpPr txBox="1"/>
          <p:nvPr/>
        </p:nvSpPr>
        <p:spPr>
          <a:xfrm>
            <a:off x="5802774" y="3545509"/>
            <a:ext cx="377271" cy="369332"/>
          </a:xfrm>
          <a:prstGeom prst="rect">
            <a:avLst/>
          </a:prstGeom>
          <a:noFill/>
        </p:spPr>
        <p:txBody>
          <a:bodyPr wrap="square">
            <a:spAutoFit/>
          </a:bodyPr>
          <a:lstStyle/>
          <a:p>
            <a:pPr algn="ctr"/>
            <a:r>
              <a:rPr lang="en-US">
                <a:solidFill>
                  <a:srgbClr val="70AD47"/>
                </a:solidFill>
                <a:latin typeface="SFMono-Regular"/>
              </a:rPr>
              <a:t> 4</a:t>
            </a:r>
          </a:p>
        </p:txBody>
      </p:sp>
      <p:sp>
        <p:nvSpPr>
          <p:cNvPr id="18" name="TextBox 17">
            <a:extLst>
              <a:ext uri="{FF2B5EF4-FFF2-40B4-BE49-F238E27FC236}">
                <a16:creationId xmlns:a16="http://schemas.microsoft.com/office/drawing/2014/main" id="{BFE17534-0E21-81C1-18CD-AD809C33E9AD}"/>
              </a:ext>
            </a:extLst>
          </p:cNvPr>
          <p:cNvSpPr txBox="1"/>
          <p:nvPr/>
        </p:nvSpPr>
        <p:spPr>
          <a:xfrm>
            <a:off x="5735966" y="4473735"/>
            <a:ext cx="510887" cy="369332"/>
          </a:xfrm>
          <a:prstGeom prst="rect">
            <a:avLst/>
          </a:prstGeom>
          <a:noFill/>
        </p:spPr>
        <p:txBody>
          <a:bodyPr wrap="square">
            <a:spAutoFit/>
          </a:bodyPr>
          <a:lstStyle/>
          <a:p>
            <a:pPr algn="ctr"/>
            <a:r>
              <a:rPr lang="en-US">
                <a:latin typeface="SFMono-Regular"/>
              </a:rPr>
              <a:t> 4</a:t>
            </a:r>
          </a:p>
        </p:txBody>
      </p:sp>
      <p:sp>
        <p:nvSpPr>
          <p:cNvPr id="19" name="TextBox 18">
            <a:extLst>
              <a:ext uri="{FF2B5EF4-FFF2-40B4-BE49-F238E27FC236}">
                <a16:creationId xmlns:a16="http://schemas.microsoft.com/office/drawing/2014/main" id="{51FD1256-56D3-15F6-B263-73C9CB1D1077}"/>
              </a:ext>
            </a:extLst>
          </p:cNvPr>
          <p:cNvSpPr txBox="1"/>
          <p:nvPr/>
        </p:nvSpPr>
        <p:spPr>
          <a:xfrm>
            <a:off x="5735966" y="5599313"/>
            <a:ext cx="510886" cy="369332"/>
          </a:xfrm>
          <a:prstGeom prst="rect">
            <a:avLst/>
          </a:prstGeom>
          <a:noFill/>
        </p:spPr>
        <p:txBody>
          <a:bodyPr wrap="square">
            <a:spAutoFit/>
          </a:bodyPr>
          <a:lstStyle/>
          <a:p>
            <a:pPr algn="ctr"/>
            <a:r>
              <a:rPr lang="en-US">
                <a:solidFill>
                  <a:srgbClr val="ED7D31"/>
                </a:solidFill>
                <a:latin typeface="SFMono-Regular"/>
              </a:rPr>
              <a:t> 8</a:t>
            </a:r>
          </a:p>
        </p:txBody>
      </p:sp>
      <p:cxnSp>
        <p:nvCxnSpPr>
          <p:cNvPr id="20" name="Straight Arrow Connector 19">
            <a:extLst>
              <a:ext uri="{FF2B5EF4-FFF2-40B4-BE49-F238E27FC236}">
                <a16:creationId xmlns:a16="http://schemas.microsoft.com/office/drawing/2014/main" id="{157D7B01-E567-A8DC-CAD3-B0F3D51D12D5}"/>
              </a:ext>
            </a:extLst>
          </p:cNvPr>
          <p:cNvCxnSpPr>
            <a:cxnSpLocks/>
            <a:endCxn id="16" idx="1"/>
          </p:cNvCxnSpPr>
          <p:nvPr/>
        </p:nvCxnSpPr>
        <p:spPr>
          <a:xfrm>
            <a:off x="3694705" y="2906501"/>
            <a:ext cx="1158788" cy="0"/>
          </a:xfrm>
          <a:prstGeom prst="straightConnector1">
            <a:avLst/>
          </a:prstGeom>
          <a:ln w="25400">
            <a:solidFill>
              <a:schemeClr val="tx1"/>
            </a:solidFill>
            <a:tailEnd type="arrow" w="lg" len="lg"/>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742D441A-8A4D-3DC8-4220-380C00731CC2}"/>
              </a:ext>
            </a:extLst>
          </p:cNvPr>
          <p:cNvCxnSpPr>
            <a:cxnSpLocks/>
            <a:stCxn id="16" idx="3"/>
          </p:cNvCxnSpPr>
          <p:nvPr/>
        </p:nvCxnSpPr>
        <p:spPr>
          <a:xfrm flipV="1">
            <a:off x="7298516" y="2904150"/>
            <a:ext cx="1439088" cy="2351"/>
          </a:xfrm>
          <a:prstGeom prst="straightConnector1">
            <a:avLst/>
          </a:prstGeom>
          <a:ln w="25400">
            <a:solidFill>
              <a:schemeClr val="tx1"/>
            </a:solidFill>
            <a:tailEnd type="arrow" w="lg" len="lg"/>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6E1E7609-5E39-D3FC-0544-A620A129C8A0}"/>
              </a:ext>
            </a:extLst>
          </p:cNvPr>
          <p:cNvCxnSpPr>
            <a:cxnSpLocks/>
            <a:endCxn id="17" idx="3"/>
          </p:cNvCxnSpPr>
          <p:nvPr/>
        </p:nvCxnSpPr>
        <p:spPr>
          <a:xfrm flipH="1">
            <a:off x="6180045" y="3730175"/>
            <a:ext cx="2557559" cy="0"/>
          </a:xfrm>
          <a:prstGeom prst="straightConnector1">
            <a:avLst/>
          </a:prstGeom>
          <a:ln w="25400">
            <a:solidFill>
              <a:srgbClr val="70AD47"/>
            </a:solidFill>
            <a:tailEnd type="arrow" w="lg" len="lg"/>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A0C21E6C-B9EA-812B-5DAC-7E84210FBB34}"/>
              </a:ext>
            </a:extLst>
          </p:cNvPr>
          <p:cNvCxnSpPr>
            <a:cxnSpLocks/>
            <a:stCxn id="17" idx="1"/>
          </p:cNvCxnSpPr>
          <p:nvPr/>
        </p:nvCxnSpPr>
        <p:spPr>
          <a:xfrm flipH="1" flipV="1">
            <a:off x="3694705" y="3729863"/>
            <a:ext cx="2108069" cy="312"/>
          </a:xfrm>
          <a:prstGeom prst="straightConnector1">
            <a:avLst/>
          </a:prstGeom>
          <a:ln w="25400">
            <a:solidFill>
              <a:srgbClr val="70AD47"/>
            </a:solidFill>
            <a:tailEnd type="arrow" w="lg" len="lg"/>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98E61B03-8352-2C5B-2F18-5123F689B0C1}"/>
              </a:ext>
            </a:extLst>
          </p:cNvPr>
          <p:cNvCxnSpPr>
            <a:cxnSpLocks/>
            <a:endCxn id="18" idx="1"/>
          </p:cNvCxnSpPr>
          <p:nvPr/>
        </p:nvCxnSpPr>
        <p:spPr>
          <a:xfrm>
            <a:off x="3694705" y="4649162"/>
            <a:ext cx="2041261" cy="9239"/>
          </a:xfrm>
          <a:prstGeom prst="straightConnector1">
            <a:avLst/>
          </a:prstGeom>
          <a:ln w="25400">
            <a:solidFill>
              <a:schemeClr val="tx1"/>
            </a:solidFill>
            <a:tailEnd type="arrow" w="lg" len="lg"/>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94559A0D-D789-7CC7-896B-F0C92E27D9C3}"/>
              </a:ext>
            </a:extLst>
          </p:cNvPr>
          <p:cNvCxnSpPr>
            <a:cxnSpLocks/>
            <a:stCxn id="18" idx="3"/>
          </p:cNvCxnSpPr>
          <p:nvPr/>
        </p:nvCxnSpPr>
        <p:spPr>
          <a:xfrm flipV="1">
            <a:off x="6246853" y="3912361"/>
            <a:ext cx="2465756" cy="746040"/>
          </a:xfrm>
          <a:prstGeom prst="straightConnector1">
            <a:avLst/>
          </a:prstGeom>
          <a:ln w="25400">
            <a:solidFill>
              <a:schemeClr val="tx1"/>
            </a:solidFill>
            <a:tailEnd type="arrow" w="lg" len="lg"/>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ABFA3E2F-BF6B-EF77-EE6D-8752DA3C9E10}"/>
              </a:ext>
            </a:extLst>
          </p:cNvPr>
          <p:cNvCxnSpPr>
            <a:cxnSpLocks/>
            <a:stCxn id="18" idx="3"/>
          </p:cNvCxnSpPr>
          <p:nvPr/>
        </p:nvCxnSpPr>
        <p:spPr>
          <a:xfrm>
            <a:off x="6246853" y="4658401"/>
            <a:ext cx="2517255" cy="550783"/>
          </a:xfrm>
          <a:prstGeom prst="straightConnector1">
            <a:avLst/>
          </a:prstGeom>
          <a:ln w="25400">
            <a:solidFill>
              <a:schemeClr val="tx1"/>
            </a:solidFill>
            <a:tailEnd type="arrow" w="lg" len="lg"/>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C7A3FD8B-C193-0D78-F7ED-6D532CC8CBAC}"/>
              </a:ext>
            </a:extLst>
          </p:cNvPr>
          <p:cNvCxnSpPr>
            <a:cxnSpLocks/>
          </p:cNvCxnSpPr>
          <p:nvPr/>
        </p:nvCxnSpPr>
        <p:spPr>
          <a:xfrm flipH="1">
            <a:off x="6263036" y="5783979"/>
            <a:ext cx="2465757" cy="0"/>
          </a:xfrm>
          <a:prstGeom prst="straightConnector1">
            <a:avLst/>
          </a:prstGeom>
          <a:ln w="25400">
            <a:solidFill>
              <a:srgbClr val="ED7D31"/>
            </a:solidFill>
            <a:tailEnd type="arrow" w="lg" len="lg"/>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3612F5BB-1288-8CF9-DF6C-E62918A634B7}"/>
              </a:ext>
            </a:extLst>
          </p:cNvPr>
          <p:cNvCxnSpPr>
            <a:cxnSpLocks/>
            <a:stCxn id="19" idx="1"/>
          </p:cNvCxnSpPr>
          <p:nvPr/>
        </p:nvCxnSpPr>
        <p:spPr>
          <a:xfrm flipH="1">
            <a:off x="3694705" y="5783979"/>
            <a:ext cx="2041261" cy="0"/>
          </a:xfrm>
          <a:prstGeom prst="straightConnector1">
            <a:avLst/>
          </a:prstGeom>
          <a:ln w="25400">
            <a:solidFill>
              <a:srgbClr val="ED7D31"/>
            </a:solidFill>
            <a:tailEnd type="arrow" w="lg" len="lg"/>
          </a:ln>
        </p:spPr>
        <p:style>
          <a:lnRef idx="2">
            <a:schemeClr val="accent1"/>
          </a:lnRef>
          <a:fillRef idx="0">
            <a:schemeClr val="accent1"/>
          </a:fillRef>
          <a:effectRef idx="1">
            <a:schemeClr val="accent1"/>
          </a:effectRef>
          <a:fontRef idx="minor">
            <a:schemeClr val="tx1"/>
          </a:fontRef>
        </p:style>
      </p:cxnSp>
      <p:sp>
        <p:nvSpPr>
          <p:cNvPr id="52" name="TextBox 51">
            <a:extLst>
              <a:ext uri="{FF2B5EF4-FFF2-40B4-BE49-F238E27FC236}">
                <a16:creationId xmlns:a16="http://schemas.microsoft.com/office/drawing/2014/main" id="{7EE5C199-3AC3-D8A3-F9C5-BC703A4DF072}"/>
              </a:ext>
            </a:extLst>
          </p:cNvPr>
          <p:cNvSpPr txBox="1"/>
          <p:nvPr/>
        </p:nvSpPr>
        <p:spPr>
          <a:xfrm>
            <a:off x="1559134" y="5098390"/>
            <a:ext cx="1951405" cy="369332"/>
          </a:xfrm>
          <a:prstGeom prst="rect">
            <a:avLst/>
          </a:prstGeom>
          <a:noFill/>
        </p:spPr>
        <p:txBody>
          <a:bodyPr wrap="square" rtlCol="0">
            <a:spAutoFit/>
          </a:bodyPr>
          <a:lstStyle/>
          <a:p>
            <a:r>
              <a:rPr lang="en-US">
                <a:latin typeface="NVIDIA Sans" panose="020B0503020203020204" pitchFamily="34" charset="0"/>
              </a:rPr>
              <a:t>Chat Manager</a:t>
            </a:r>
          </a:p>
        </p:txBody>
      </p:sp>
      <p:sp>
        <p:nvSpPr>
          <p:cNvPr id="53" name="TextBox 52">
            <a:extLst>
              <a:ext uri="{FF2B5EF4-FFF2-40B4-BE49-F238E27FC236}">
                <a16:creationId xmlns:a16="http://schemas.microsoft.com/office/drawing/2014/main" id="{E9F2D35A-26CF-C339-392A-DB7D47ACE418}"/>
              </a:ext>
            </a:extLst>
          </p:cNvPr>
          <p:cNvSpPr txBox="1"/>
          <p:nvPr/>
        </p:nvSpPr>
        <p:spPr>
          <a:xfrm>
            <a:off x="9248491" y="3667399"/>
            <a:ext cx="1951405" cy="369332"/>
          </a:xfrm>
          <a:prstGeom prst="rect">
            <a:avLst/>
          </a:prstGeom>
          <a:noFill/>
        </p:spPr>
        <p:txBody>
          <a:bodyPr wrap="square" rtlCol="0">
            <a:spAutoFit/>
          </a:bodyPr>
          <a:lstStyle/>
          <a:p>
            <a:r>
              <a:rPr lang="en-US">
                <a:solidFill>
                  <a:schemeClr val="accent6"/>
                </a:solidFill>
                <a:latin typeface="NVIDIA Sans" panose="020B0503020203020204" pitchFamily="34" charset="0"/>
              </a:rPr>
              <a:t>Adder Agent</a:t>
            </a:r>
          </a:p>
        </p:txBody>
      </p:sp>
      <p:sp>
        <p:nvSpPr>
          <p:cNvPr id="54" name="TextBox 53">
            <a:extLst>
              <a:ext uri="{FF2B5EF4-FFF2-40B4-BE49-F238E27FC236}">
                <a16:creationId xmlns:a16="http://schemas.microsoft.com/office/drawing/2014/main" id="{0A1FCCC8-CC1F-D673-62F9-707F149921E4}"/>
              </a:ext>
            </a:extLst>
          </p:cNvPr>
          <p:cNvSpPr txBox="1"/>
          <p:nvPr/>
        </p:nvSpPr>
        <p:spPr>
          <a:xfrm>
            <a:off x="9108880" y="6070969"/>
            <a:ext cx="1951405" cy="369332"/>
          </a:xfrm>
          <a:prstGeom prst="rect">
            <a:avLst/>
          </a:prstGeom>
          <a:noFill/>
        </p:spPr>
        <p:txBody>
          <a:bodyPr wrap="square" rtlCol="0">
            <a:spAutoFit/>
          </a:bodyPr>
          <a:lstStyle/>
          <a:p>
            <a:r>
              <a:rPr lang="en-US">
                <a:solidFill>
                  <a:srgbClr val="ED7D31"/>
                </a:solidFill>
                <a:latin typeface="NVIDIA Sans" panose="020B0503020203020204" pitchFamily="34" charset="0"/>
              </a:rPr>
              <a:t>Multiplier Agent</a:t>
            </a:r>
          </a:p>
        </p:txBody>
      </p:sp>
      <p:sp>
        <p:nvSpPr>
          <p:cNvPr id="9" name="object 4">
            <a:extLst>
              <a:ext uri="{FF2B5EF4-FFF2-40B4-BE49-F238E27FC236}">
                <a16:creationId xmlns:a16="http://schemas.microsoft.com/office/drawing/2014/main" id="{07EBD313-04EB-EFE4-917E-F9E651018C54}"/>
              </a:ext>
            </a:extLst>
          </p:cNvPr>
          <p:cNvSpPr txBox="1">
            <a:spLocks/>
          </p:cNvSpPr>
          <p:nvPr/>
        </p:nvSpPr>
        <p:spPr>
          <a:xfrm>
            <a:off x="10616339" y="6391299"/>
            <a:ext cx="365239" cy="218650"/>
          </a:xfrm>
          <a:prstGeom prst="rect">
            <a:avLst/>
          </a:prstGeom>
        </p:spPr>
        <p:txBody>
          <a:bodyPr vert="horz" wrap="square" lIns="0" tIns="317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18745">
              <a:spcBef>
                <a:spcPts val="25"/>
              </a:spcBef>
            </a:pPr>
            <a:fld id="{81D60167-4931-47E6-BA6A-407CBD079E47}" type="slidenum">
              <a:rPr lang="en-US" sz="1400" spc="-50" smtClean="0">
                <a:latin typeface="NVIDIA Sans" panose="020B0503020203020204" pitchFamily="34" charset="0"/>
              </a:rPr>
              <a:pPr marL="118745">
                <a:spcBef>
                  <a:spcPts val="25"/>
                </a:spcBef>
              </a:pPr>
              <a:t>12</a:t>
            </a:fld>
            <a:endParaRPr lang="en-US" sz="1400" spc="-50">
              <a:latin typeface="NVIDIA Sans" panose="020B0503020203020204" pitchFamily="34" charset="0"/>
            </a:endParaRPr>
          </a:p>
        </p:txBody>
      </p:sp>
      <p:pic>
        <p:nvPicPr>
          <p:cNvPr id="5" name="Picture 4">
            <a:extLst>
              <a:ext uri="{FF2B5EF4-FFF2-40B4-BE49-F238E27FC236}">
                <a16:creationId xmlns:a16="http://schemas.microsoft.com/office/drawing/2014/main" id="{01BCED19-0114-3B3C-9DC3-F45588B30283}"/>
              </a:ext>
            </a:extLst>
          </p:cNvPr>
          <p:cNvPicPr>
            <a:picLocks noChangeAspect="1"/>
          </p:cNvPicPr>
          <p:nvPr/>
        </p:nvPicPr>
        <p:blipFill>
          <a:blip r:embed="rId5"/>
          <a:stretch>
            <a:fillRect/>
          </a:stretch>
        </p:blipFill>
        <p:spPr>
          <a:xfrm>
            <a:off x="1570450" y="3852065"/>
            <a:ext cx="1415979" cy="1305644"/>
          </a:xfrm>
          <a:prstGeom prst="rect">
            <a:avLst/>
          </a:prstGeom>
        </p:spPr>
      </p:pic>
    </p:spTree>
    <p:extLst>
      <p:ext uri="{BB962C8B-B14F-4D97-AF65-F5344CB8AC3E}">
        <p14:creationId xmlns:p14="http://schemas.microsoft.com/office/powerpoint/2010/main" val="35953512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2ACE9-90EA-7706-924C-4486BE37275A}"/>
              </a:ext>
            </a:extLst>
          </p:cNvPr>
          <p:cNvSpPr>
            <a:spLocks noGrp="1"/>
          </p:cNvSpPr>
          <p:nvPr>
            <p:ph type="title"/>
          </p:nvPr>
        </p:nvSpPr>
        <p:spPr/>
        <p:txBody>
          <a:bodyPr>
            <a:normAutofit/>
          </a:bodyPr>
          <a:lstStyle/>
          <a:p>
            <a:pPr algn="ctr"/>
            <a:r>
              <a:rPr lang="en-US" sz="4000" b="1"/>
              <a:t>Task flow</a:t>
            </a:r>
          </a:p>
        </p:txBody>
      </p:sp>
      <p:sp>
        <p:nvSpPr>
          <p:cNvPr id="3" name="Content Placeholder 2">
            <a:extLst>
              <a:ext uri="{FF2B5EF4-FFF2-40B4-BE49-F238E27FC236}">
                <a16:creationId xmlns:a16="http://schemas.microsoft.com/office/drawing/2014/main" id="{5FE92637-714E-261C-6DA0-326EDB1E431A}"/>
              </a:ext>
            </a:extLst>
          </p:cNvPr>
          <p:cNvSpPr>
            <a:spLocks noGrp="1"/>
          </p:cNvSpPr>
          <p:nvPr>
            <p:ph idx="1"/>
          </p:nvPr>
        </p:nvSpPr>
        <p:spPr/>
        <p:txBody>
          <a:bodyPr>
            <a:normAutofit/>
          </a:bodyPr>
          <a:lstStyle/>
          <a:p>
            <a:pPr marL="0" indent="0">
              <a:buNone/>
            </a:pPr>
            <a:r>
              <a:rPr lang="en-US" sz="2400"/>
              <a:t>Sequence of multiple tasks implemented by agent chats</a:t>
            </a:r>
          </a:p>
          <a:p>
            <a:pPr marL="0" indent="0">
              <a:buNone/>
            </a:pPr>
            <a:r>
              <a:rPr lang="en-US" sz="2400"/>
              <a:t>Explicit task decomposition</a:t>
            </a:r>
          </a:p>
        </p:txBody>
      </p:sp>
      <p:pic>
        <p:nvPicPr>
          <p:cNvPr id="5" name="Picture 4">
            <a:extLst>
              <a:ext uri="{FF2B5EF4-FFF2-40B4-BE49-F238E27FC236}">
                <a16:creationId xmlns:a16="http://schemas.microsoft.com/office/drawing/2014/main" id="{95F6A432-7C55-930E-98D9-094C6AD31CD9}"/>
              </a:ext>
            </a:extLst>
          </p:cNvPr>
          <p:cNvPicPr>
            <a:picLocks noChangeAspect="1"/>
          </p:cNvPicPr>
          <p:nvPr/>
        </p:nvPicPr>
        <p:blipFill>
          <a:blip r:embed="rId3"/>
          <a:stretch>
            <a:fillRect/>
          </a:stretch>
        </p:blipFill>
        <p:spPr>
          <a:xfrm>
            <a:off x="1627319" y="2625933"/>
            <a:ext cx="8332210" cy="3356029"/>
          </a:xfrm>
          <a:prstGeom prst="rect">
            <a:avLst/>
          </a:prstGeom>
        </p:spPr>
      </p:pic>
      <p:sp>
        <p:nvSpPr>
          <p:cNvPr id="11" name="TextBox 10">
            <a:extLst>
              <a:ext uri="{FF2B5EF4-FFF2-40B4-BE49-F238E27FC236}">
                <a16:creationId xmlns:a16="http://schemas.microsoft.com/office/drawing/2014/main" id="{B3549963-3283-030B-FD2A-720C2BD7CF82}"/>
              </a:ext>
            </a:extLst>
          </p:cNvPr>
          <p:cNvSpPr txBox="1"/>
          <p:nvPr/>
        </p:nvSpPr>
        <p:spPr>
          <a:xfrm>
            <a:off x="465406" y="6300280"/>
            <a:ext cx="6096000" cy="307777"/>
          </a:xfrm>
          <a:prstGeom prst="rect">
            <a:avLst/>
          </a:prstGeom>
          <a:noFill/>
        </p:spPr>
        <p:txBody>
          <a:bodyPr wrap="square">
            <a:spAutoFit/>
          </a:bodyPr>
          <a:lstStyle/>
          <a:p>
            <a:r>
              <a:rPr lang="en-US" sz="1400" i="1">
                <a:latin typeface="NVIDIA Sans" panose="020B0503020203020204" pitchFamily="34" charset="0"/>
              </a:rPr>
              <a:t>C. Qian et al, </a:t>
            </a:r>
            <a:r>
              <a:rPr lang="en-US" sz="1400" i="1" err="1">
                <a:latin typeface="NVIDIA Sans" panose="020B0503020203020204" pitchFamily="34" charset="0"/>
              </a:rPr>
              <a:t>ChatDev</a:t>
            </a:r>
            <a:r>
              <a:rPr lang="en-US" sz="1400" i="1">
                <a:latin typeface="NVIDIA Sans" panose="020B0503020203020204" pitchFamily="34" charset="0"/>
              </a:rPr>
              <a:t>: Communicative Agents for Software Development</a:t>
            </a:r>
          </a:p>
        </p:txBody>
      </p:sp>
      <p:sp>
        <p:nvSpPr>
          <p:cNvPr id="4" name="object 4">
            <a:extLst>
              <a:ext uri="{FF2B5EF4-FFF2-40B4-BE49-F238E27FC236}">
                <a16:creationId xmlns:a16="http://schemas.microsoft.com/office/drawing/2014/main" id="{532A6E32-68C4-036B-DC74-DC475D080669}"/>
              </a:ext>
            </a:extLst>
          </p:cNvPr>
          <p:cNvSpPr txBox="1">
            <a:spLocks/>
          </p:cNvSpPr>
          <p:nvPr/>
        </p:nvSpPr>
        <p:spPr>
          <a:xfrm>
            <a:off x="10616339" y="6391299"/>
            <a:ext cx="365239" cy="218650"/>
          </a:xfrm>
          <a:prstGeom prst="rect">
            <a:avLst/>
          </a:prstGeom>
        </p:spPr>
        <p:txBody>
          <a:bodyPr vert="horz" wrap="square" lIns="0" tIns="317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18745">
              <a:spcBef>
                <a:spcPts val="25"/>
              </a:spcBef>
            </a:pPr>
            <a:fld id="{81D60167-4931-47E6-BA6A-407CBD079E47}" type="slidenum">
              <a:rPr lang="en-US" sz="1400" spc="-50" smtClean="0">
                <a:latin typeface="NVIDIA Sans" panose="020B0503020203020204" pitchFamily="34" charset="0"/>
              </a:rPr>
              <a:pPr marL="118745">
                <a:spcBef>
                  <a:spcPts val="25"/>
                </a:spcBef>
              </a:pPr>
              <a:t>13</a:t>
            </a:fld>
            <a:endParaRPr lang="en-US" sz="1400" spc="-50">
              <a:latin typeface="NVIDIA Sans" panose="020B0503020203020204" pitchFamily="34" charset="0"/>
            </a:endParaRPr>
          </a:p>
        </p:txBody>
      </p:sp>
    </p:spTree>
    <p:extLst>
      <p:ext uri="{BB962C8B-B14F-4D97-AF65-F5344CB8AC3E}">
        <p14:creationId xmlns:p14="http://schemas.microsoft.com/office/powerpoint/2010/main" val="30805074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C36BD-2E37-121B-9DDC-D1947B70053B}"/>
              </a:ext>
            </a:extLst>
          </p:cNvPr>
          <p:cNvSpPr>
            <a:spLocks noGrp="1"/>
          </p:cNvSpPr>
          <p:nvPr>
            <p:ph type="title"/>
          </p:nvPr>
        </p:nvSpPr>
        <p:spPr/>
        <p:txBody>
          <a:bodyPr>
            <a:normAutofit/>
          </a:bodyPr>
          <a:lstStyle/>
          <a:p>
            <a:pPr algn="ctr"/>
            <a:r>
              <a:rPr lang="en-US" sz="4000" b="1"/>
              <a:t>Timing Report Analysis</a:t>
            </a:r>
          </a:p>
        </p:txBody>
      </p:sp>
      <p:sp>
        <p:nvSpPr>
          <p:cNvPr id="4" name="Content Placeholder 3">
            <a:extLst>
              <a:ext uri="{FF2B5EF4-FFF2-40B4-BE49-F238E27FC236}">
                <a16:creationId xmlns:a16="http://schemas.microsoft.com/office/drawing/2014/main" id="{5AC98A67-7F50-6E8F-96DB-CFC8F69E7C60}"/>
              </a:ext>
            </a:extLst>
          </p:cNvPr>
          <p:cNvSpPr>
            <a:spLocks noGrp="1"/>
          </p:cNvSpPr>
          <p:nvPr>
            <p:ph idx="1"/>
          </p:nvPr>
        </p:nvSpPr>
        <p:spPr>
          <a:xfrm>
            <a:off x="838200" y="1554198"/>
            <a:ext cx="10515600" cy="4351338"/>
          </a:xfrm>
        </p:spPr>
        <p:txBody>
          <a:bodyPr>
            <a:normAutofit/>
          </a:bodyPr>
          <a:lstStyle/>
          <a:p>
            <a:pPr marL="0" indent="0">
              <a:buNone/>
            </a:pPr>
            <a:r>
              <a:rPr lang="en-US" altLang="zh-TW" sz="2400" b="1">
                <a:cs typeface="NVIDIA Sans" panose="020B0503020203020204" pitchFamily="34" charset="0"/>
              </a:rPr>
              <a:t>Task</a:t>
            </a:r>
            <a:r>
              <a:rPr lang="en-US" altLang="zh-TW" sz="2400">
                <a:cs typeface="NVIDIA Sans" panose="020B0503020203020204" pitchFamily="34" charset="0"/>
              </a:rPr>
              <a:t>: </a:t>
            </a:r>
            <a:r>
              <a:rPr lang="en-US" sz="2400">
                <a:cs typeface="NVIDIA Sans" panose="020B0503020203020204" pitchFamily="34" charset="0"/>
              </a:rPr>
              <a:t>Compare timing reports of two runs [</a:t>
            </a:r>
            <a:r>
              <a:rPr lang="en-US" sz="2400" err="1">
                <a:cs typeface="NVIDIA Sans" panose="020B0503020203020204" pitchFamily="34" charset="0"/>
              </a:rPr>
              <a:t>datecode</a:t>
            </a:r>
            <a:r>
              <a:rPr lang="en-US" sz="2400">
                <a:cs typeface="NVIDIA Sans" panose="020B0503020203020204" pitchFamily="34" charset="0"/>
              </a:rPr>
              <a:t>] to provide key takeaways and design QoR summary </a:t>
            </a:r>
          </a:p>
          <a:p>
            <a:pPr marL="0" indent="0">
              <a:buNone/>
            </a:pPr>
            <a:r>
              <a:rPr lang="en-US" sz="2400" b="1"/>
              <a:t>Timing reports:</a:t>
            </a:r>
            <a:endParaRPr lang="en-US">
              <a:latin typeface="+mn-lt"/>
            </a:endParaRPr>
          </a:p>
        </p:txBody>
      </p:sp>
      <p:sp>
        <p:nvSpPr>
          <p:cNvPr id="21" name="TextBox 20">
            <a:extLst>
              <a:ext uri="{FF2B5EF4-FFF2-40B4-BE49-F238E27FC236}">
                <a16:creationId xmlns:a16="http://schemas.microsoft.com/office/drawing/2014/main" id="{131C12C4-FFF1-15DB-295D-719DC481824B}"/>
              </a:ext>
            </a:extLst>
          </p:cNvPr>
          <p:cNvSpPr txBox="1"/>
          <p:nvPr/>
        </p:nvSpPr>
        <p:spPr>
          <a:xfrm>
            <a:off x="838200" y="2703016"/>
            <a:ext cx="10902950" cy="4154984"/>
          </a:xfrm>
          <a:prstGeom prst="rect">
            <a:avLst/>
          </a:prstGeom>
          <a:noFill/>
        </p:spPr>
        <p:txBody>
          <a:bodyPr wrap="square">
            <a:spAutoFit/>
          </a:bodyPr>
          <a:lstStyle/>
          <a:p>
            <a:r>
              <a:rPr lang="en-US" sz="1600"/>
              <a:t>================================================================================</a:t>
            </a:r>
          </a:p>
          <a:p>
            <a:r>
              <a:rPr lang="en-US" sz="1600"/>
              <a:t>|                                                        	|                                                          |	                     Slack distribution                </a:t>
            </a:r>
          </a:p>
          <a:p>
            <a:r>
              <a:rPr lang="en-US" sz="1600"/>
              <a:t>| Corner	</a:t>
            </a:r>
            <a:r>
              <a:rPr lang="en-US" sz="1600" err="1"/>
              <a:t>datecode</a:t>
            </a:r>
            <a:r>
              <a:rPr lang="en-US" sz="1600"/>
              <a:t>	|WNS	TNS	FEP	| 0	-0.05	-0.015	-0.02	-0.025</a:t>
            </a:r>
          </a:p>
          <a:p>
            <a:r>
              <a:rPr lang="en-US" sz="1600"/>
              <a:t>================================================================================ </a:t>
            </a:r>
          </a:p>
          <a:p>
            <a:r>
              <a:rPr lang="en-US" sz="1600"/>
              <a:t>|c1	2024Mar13	| -0.46	-8.155	63	| 9	1	4	2	2</a:t>
            </a:r>
          </a:p>
          <a:p>
            <a:r>
              <a:rPr lang="en-US" sz="1600"/>
              <a:t>|c1	2024Mar21	| -0.432	-7.861	49	| 5	1	3	0	2</a:t>
            </a:r>
          </a:p>
          <a:p>
            <a:r>
              <a:rPr lang="en-US" sz="1600"/>
              <a:t>|c2	2024Mar13	| -0.28	-1.453	22	| 0	3	0	2	0</a:t>
            </a:r>
          </a:p>
          <a:p>
            <a:r>
              <a:rPr lang="en-US" sz="1600"/>
              <a:t>|c2	2024Mar21	| -0.254	-1.97	22	| 1	0	0	1	0</a:t>
            </a:r>
          </a:p>
          <a:p>
            <a:endParaRPr lang="en-US" sz="1600"/>
          </a:p>
          <a:p>
            <a:r>
              <a:rPr lang="en-US" sz="2400" b="1">
                <a:latin typeface="NVIDIA Sans" panose="020B0503020203020204" pitchFamily="34" charset="0"/>
                <a:cs typeface="NVIDIA Sans" panose="020B0503020203020204" pitchFamily="34" charset="0"/>
              </a:rPr>
              <a:t>Analysis:</a:t>
            </a:r>
            <a:r>
              <a:rPr lang="en-US" sz="2400">
                <a:latin typeface="NVIDIA Sans" panose="020B0503020203020204" pitchFamily="34" charset="0"/>
                <a:cs typeface="NVIDIA Sans" panose="020B0503020203020204" pitchFamily="34" charset="0"/>
              </a:rPr>
              <a:t> </a:t>
            </a:r>
          </a:p>
          <a:p>
            <a:endParaRPr lang="en-US" sz="1600"/>
          </a:p>
          <a:p>
            <a:pPr marR="0" lvl="0" algn="l" defTabSz="914400" rtl="0" eaLnBrk="0" fontAlgn="base" latinLnBrk="0" hangingPunct="0">
              <a:lnSpc>
                <a:spcPct val="100000"/>
              </a:lnSpc>
              <a:spcBef>
                <a:spcPct val="0"/>
              </a:spcBef>
              <a:spcAft>
                <a:spcPct val="0"/>
              </a:spcAft>
              <a:buClrTx/>
              <a:buSzTx/>
              <a:buFontTx/>
              <a:buChar char="-"/>
              <a:tabLst/>
            </a:pPr>
            <a:r>
              <a:rPr kumimoji="0" lang="en-US" altLang="en-US" sz="1600" b="0" i="1" u="none" strike="noStrike" cap="none" normalizeH="0" baseline="0">
                <a:ln>
                  <a:noFill/>
                </a:ln>
                <a:effectLst/>
                <a:latin typeface="Arial Unicode MS"/>
                <a:cs typeface="Calibri" panose="020F0502020204030204" pitchFamily="34" charset="0"/>
              </a:rPr>
              <a:t>The </a:t>
            </a:r>
            <a:r>
              <a:rPr lang="en-US" altLang="en-US" sz="1600" i="1" err="1">
                <a:latin typeface="Arial Unicode MS"/>
                <a:cs typeface="Calibri" panose="020F0502020204030204" pitchFamily="34" charset="0"/>
              </a:rPr>
              <a:t>datecode</a:t>
            </a:r>
            <a:r>
              <a:rPr lang="en-US" altLang="en-US" sz="1600" i="1">
                <a:latin typeface="Arial Unicode MS"/>
                <a:cs typeface="Calibri" panose="020F0502020204030204" pitchFamily="34" charset="0"/>
              </a:rPr>
              <a:t> </a:t>
            </a:r>
            <a:r>
              <a:rPr lang="en-US" sz="1600" i="1">
                <a:latin typeface="Arial Unicode MS"/>
                <a:cs typeface="Calibri" panose="020F0502020204030204" pitchFamily="34" charset="0"/>
              </a:rPr>
              <a:t>&lt;&gt;</a:t>
            </a:r>
            <a:r>
              <a:rPr lang="en-US" altLang="en-US" sz="1600" i="1">
                <a:latin typeface="Arial Unicode MS"/>
                <a:cs typeface="Calibri" panose="020F0502020204030204" pitchFamily="34" charset="0"/>
              </a:rPr>
              <a:t> generally </a:t>
            </a:r>
            <a:r>
              <a:rPr kumimoji="0" lang="en-US" altLang="en-US" sz="1600" b="0" i="1" u="none" strike="noStrike" cap="none" normalizeH="0" baseline="0">
                <a:ln>
                  <a:noFill/>
                </a:ln>
                <a:effectLst/>
                <a:latin typeface="Arial Unicode MS"/>
                <a:cs typeface="Calibri" panose="020F0502020204030204" pitchFamily="34" charset="0"/>
              </a:rPr>
              <a:t>shows improvement in TNS and FEP in all corners, …</a:t>
            </a:r>
          </a:p>
          <a:p>
            <a:pPr marR="0" lvl="0" algn="l" defTabSz="914400" rtl="0" eaLnBrk="0" fontAlgn="base" latinLnBrk="0" hangingPunct="0">
              <a:lnSpc>
                <a:spcPct val="100000"/>
              </a:lnSpc>
              <a:spcBef>
                <a:spcPct val="0"/>
              </a:spcBef>
              <a:spcAft>
                <a:spcPct val="0"/>
              </a:spcAft>
              <a:buClrTx/>
              <a:buSzTx/>
              <a:buFontTx/>
              <a:buChar char="-"/>
              <a:tabLst/>
            </a:pPr>
            <a:r>
              <a:rPr kumimoji="0" lang="en-US" altLang="en-US" sz="1600" b="0" i="1" u="none" strike="noStrike" cap="none" normalizeH="0" baseline="0">
                <a:ln>
                  <a:noFill/>
                </a:ln>
                <a:effectLst/>
                <a:latin typeface="Arial Unicode MS"/>
                <a:cs typeface="Calibri" panose="020F0502020204030204" pitchFamily="34" charset="0"/>
              </a:rPr>
              <a:t>However, the WNS degrades in most corners</a:t>
            </a:r>
            <a:r>
              <a:rPr lang="en-US" altLang="en-US" sz="1600" i="1">
                <a:latin typeface="Arial Unicode MS"/>
                <a:cs typeface="Calibri" panose="020F0502020204030204" pitchFamily="34" charset="0"/>
              </a:rPr>
              <a:t>, …</a:t>
            </a:r>
            <a:endParaRPr kumimoji="0" lang="en-US" altLang="en-US" sz="1600" b="0" i="1" u="none" strike="noStrike" cap="none" normalizeH="0" baseline="0">
              <a:ln>
                <a:noFill/>
              </a:ln>
              <a:effectLst/>
              <a:latin typeface="Arial Unicode MS"/>
              <a:cs typeface="Calibri" panose="020F0502020204030204" pitchFamily="34" charset="0"/>
            </a:endParaRPr>
          </a:p>
          <a:p>
            <a:pPr marR="0" lvl="0" algn="l" defTabSz="914400" rtl="0" eaLnBrk="0" fontAlgn="base" latinLnBrk="0" hangingPunct="0">
              <a:lnSpc>
                <a:spcPct val="100000"/>
              </a:lnSpc>
              <a:spcBef>
                <a:spcPct val="0"/>
              </a:spcBef>
              <a:spcAft>
                <a:spcPct val="0"/>
              </a:spcAft>
              <a:buClrTx/>
              <a:buSzTx/>
              <a:buFontTx/>
              <a:buChar char="-"/>
              <a:tabLst/>
            </a:pPr>
            <a:r>
              <a:rPr kumimoji="0" lang="en-US" altLang="en-US" sz="1600" b="0" i="1" u="none" strike="noStrike" cap="none" normalizeH="0" baseline="0">
                <a:ln>
                  <a:noFill/>
                </a:ln>
                <a:effectLst/>
                <a:latin typeface="Arial Unicode MS"/>
                <a:cs typeface="Calibri" panose="020F0502020204030204" pitchFamily="34" charset="0"/>
              </a:rPr>
              <a:t>The slack distribution shows improvement in all corners, …</a:t>
            </a:r>
          </a:p>
          <a:p>
            <a:pPr marR="0" lvl="0" algn="l" defTabSz="914400" rtl="0" eaLnBrk="0" fontAlgn="base" latinLnBrk="0" hangingPunct="0">
              <a:lnSpc>
                <a:spcPct val="100000"/>
              </a:lnSpc>
              <a:spcBef>
                <a:spcPct val="0"/>
              </a:spcBef>
              <a:spcAft>
                <a:spcPct val="0"/>
              </a:spcAft>
              <a:buClrTx/>
              <a:buSzTx/>
              <a:buFontTx/>
              <a:buChar char="-"/>
              <a:tabLst/>
            </a:pPr>
            <a:r>
              <a:rPr kumimoji="0" lang="en-US" altLang="en-US" sz="1600" b="0" i="1" u="none" strike="noStrike" cap="none" normalizeH="0" baseline="0">
                <a:ln>
                  <a:noFill/>
                </a:ln>
                <a:effectLst/>
                <a:latin typeface="Arial Unicode MS"/>
                <a:cs typeface="Calibri" panose="020F0502020204030204" pitchFamily="34" charset="0"/>
              </a:rPr>
              <a:t>The corner &lt;&gt; still suffers many timing violations,... </a:t>
            </a:r>
            <a:endParaRPr kumimoji="0" lang="en-US" altLang="en-US" sz="3600" b="0" i="1" u="none" strike="noStrike" cap="none" normalizeH="0" baseline="0">
              <a:ln>
                <a:noFill/>
              </a:ln>
              <a:effectLst/>
              <a:latin typeface="Arial" panose="020B0604020202020204" pitchFamily="34" charset="0"/>
            </a:endParaRPr>
          </a:p>
          <a:p>
            <a:endParaRPr lang="en-US" sz="1600"/>
          </a:p>
        </p:txBody>
      </p:sp>
      <p:sp>
        <p:nvSpPr>
          <p:cNvPr id="3" name="object 4">
            <a:extLst>
              <a:ext uri="{FF2B5EF4-FFF2-40B4-BE49-F238E27FC236}">
                <a16:creationId xmlns:a16="http://schemas.microsoft.com/office/drawing/2014/main" id="{1F9DFAC0-5D4A-DF6D-A4C0-E670C42D1E6D}"/>
              </a:ext>
            </a:extLst>
          </p:cNvPr>
          <p:cNvSpPr txBox="1">
            <a:spLocks/>
          </p:cNvSpPr>
          <p:nvPr/>
        </p:nvSpPr>
        <p:spPr>
          <a:xfrm>
            <a:off x="10616339" y="6391299"/>
            <a:ext cx="365239" cy="218650"/>
          </a:xfrm>
          <a:prstGeom prst="rect">
            <a:avLst/>
          </a:prstGeom>
        </p:spPr>
        <p:txBody>
          <a:bodyPr vert="horz" wrap="square" lIns="0" tIns="317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18745">
              <a:spcBef>
                <a:spcPts val="25"/>
              </a:spcBef>
            </a:pPr>
            <a:fld id="{81D60167-4931-47E6-BA6A-407CBD079E47}" type="slidenum">
              <a:rPr lang="en-US" sz="1400" spc="-50" smtClean="0">
                <a:latin typeface="NVIDIA Sans" panose="020B0503020203020204" pitchFamily="34" charset="0"/>
              </a:rPr>
              <a:pPr marL="118745">
                <a:spcBef>
                  <a:spcPts val="25"/>
                </a:spcBef>
              </a:pPr>
              <a:t>14</a:t>
            </a:fld>
            <a:endParaRPr lang="en-US" sz="1400" spc="-50">
              <a:latin typeface="NVIDIA Sans" panose="020B0503020203020204" pitchFamily="34" charset="0"/>
            </a:endParaRPr>
          </a:p>
        </p:txBody>
      </p:sp>
    </p:spTree>
    <p:extLst>
      <p:ext uri="{BB962C8B-B14F-4D97-AF65-F5344CB8AC3E}">
        <p14:creationId xmlns:p14="http://schemas.microsoft.com/office/powerpoint/2010/main" val="7046837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DE3BB-06C8-593C-45FA-5D6112258734}"/>
              </a:ext>
            </a:extLst>
          </p:cNvPr>
          <p:cNvSpPr>
            <a:spLocks noGrp="1"/>
          </p:cNvSpPr>
          <p:nvPr>
            <p:ph type="title"/>
          </p:nvPr>
        </p:nvSpPr>
        <p:spPr/>
        <p:txBody>
          <a:bodyPr>
            <a:normAutofit/>
          </a:bodyPr>
          <a:lstStyle/>
          <a:p>
            <a:pPr algn="ctr"/>
            <a:r>
              <a:rPr lang="en-US" sz="4000" b="1"/>
              <a:t>Tools and Prompts</a:t>
            </a:r>
          </a:p>
        </p:txBody>
      </p:sp>
      <p:sp>
        <p:nvSpPr>
          <p:cNvPr id="3" name="Content Placeholder 2">
            <a:extLst>
              <a:ext uri="{FF2B5EF4-FFF2-40B4-BE49-F238E27FC236}">
                <a16:creationId xmlns:a16="http://schemas.microsoft.com/office/drawing/2014/main" id="{725EE8BF-7A86-0C48-1117-C70773791C41}"/>
              </a:ext>
            </a:extLst>
          </p:cNvPr>
          <p:cNvSpPr>
            <a:spLocks noGrp="1"/>
          </p:cNvSpPr>
          <p:nvPr>
            <p:ph idx="1"/>
          </p:nvPr>
        </p:nvSpPr>
        <p:spPr>
          <a:xfrm>
            <a:off x="4841061" y="1709328"/>
            <a:ext cx="6997588" cy="4351338"/>
          </a:xfrm>
        </p:spPr>
        <p:txBody>
          <a:bodyPr>
            <a:normAutofit lnSpcReduction="10000"/>
          </a:bodyPr>
          <a:lstStyle/>
          <a:p>
            <a:pPr marL="0" indent="0">
              <a:buNone/>
            </a:pPr>
            <a:r>
              <a:rPr lang="en-US" sz="2400"/>
              <a:t>			</a:t>
            </a:r>
            <a:r>
              <a:rPr lang="en-US" sz="2400" err="1"/>
              <a:t>CoT</a:t>
            </a:r>
            <a:r>
              <a:rPr lang="en-US" sz="2400"/>
              <a:t> prompting</a:t>
            </a:r>
          </a:p>
          <a:p>
            <a:pPr marL="457200" lvl="1" indent="0">
              <a:buNone/>
            </a:pPr>
            <a:r>
              <a:rPr lang="en-US" sz="1800" i="1"/>
              <a:t>Let’s think step by step. </a:t>
            </a:r>
          </a:p>
          <a:p>
            <a:pPr marL="457200" lvl="1" indent="0">
              <a:buNone/>
            </a:pPr>
            <a:r>
              <a:rPr lang="en-US" sz="1800" i="1">
                <a:solidFill>
                  <a:srgbClr val="00B050"/>
                </a:solidFill>
              </a:rPr>
              <a:t>Firstly</a:t>
            </a:r>
            <a:r>
              <a:rPr lang="en-US" sz="1800" i="1"/>
              <a:t>, analyze the change of WNS, and TNS for all designs in all PVT corners tables of these two "</a:t>
            </a:r>
            <a:r>
              <a:rPr lang="en-US" sz="1800" i="1" err="1"/>
              <a:t>datecode</a:t>
            </a:r>
            <a:r>
              <a:rPr lang="en-US" sz="1800" i="1"/>
              <a:t>" settings and explain with numbers using tools.</a:t>
            </a:r>
          </a:p>
          <a:p>
            <a:pPr marL="457200" lvl="1" indent="0">
              <a:buNone/>
            </a:pPr>
            <a:r>
              <a:rPr lang="en-US" sz="1800" i="1">
                <a:solidFill>
                  <a:srgbClr val="00B050"/>
                </a:solidFill>
              </a:rPr>
              <a:t>Secondly</a:t>
            </a:r>
            <a:r>
              <a:rPr lang="en-US" sz="1800" i="1"/>
              <a:t>, comparing "FEP" of two </a:t>
            </a:r>
            <a:r>
              <a:rPr lang="en-US" sz="1800" i="1" err="1"/>
              <a:t>datecode</a:t>
            </a:r>
            <a:r>
              <a:rPr lang="en-US" sz="1800" i="1"/>
              <a:t> settings in all PVT corners tables.</a:t>
            </a:r>
          </a:p>
          <a:p>
            <a:pPr marL="457200" lvl="1" indent="0">
              <a:buNone/>
            </a:pPr>
            <a:r>
              <a:rPr lang="en-US" sz="1800" i="1">
                <a:solidFill>
                  <a:srgbClr val="00B050"/>
                </a:solidFill>
              </a:rPr>
              <a:t>Thirdly</a:t>
            </a:r>
            <a:r>
              <a:rPr lang="en-US" sz="1800" i="1"/>
              <a:t>, analyze the slack distribution to identify the distribution of "slack less than 0" paths. </a:t>
            </a:r>
          </a:p>
          <a:p>
            <a:pPr marL="457200" lvl="1" indent="0">
              <a:buNone/>
            </a:pPr>
            <a:r>
              <a:rPr lang="en-US" sz="1800" i="1">
                <a:solidFill>
                  <a:srgbClr val="00B050"/>
                </a:solidFill>
              </a:rPr>
              <a:t>Finally</a:t>
            </a:r>
            <a:r>
              <a:rPr lang="en-US" sz="1800" i="1"/>
              <a:t>, summarize the analysis in the following aspects:</a:t>
            </a:r>
          </a:p>
          <a:p>
            <a:pPr marL="914400" lvl="2" indent="0">
              <a:buNone/>
            </a:pPr>
            <a:r>
              <a:rPr lang="en-US" sz="1600" i="1"/>
              <a:t>1. Provide key takeaways, comparison, and suggestions with bullet points of the two "</a:t>
            </a:r>
            <a:r>
              <a:rPr lang="en-US" sz="1600" i="1" err="1"/>
              <a:t>datecode</a:t>
            </a:r>
            <a:r>
              <a:rPr lang="en-US" sz="1600" i="1"/>
              <a:t>" settings based on previous steps.</a:t>
            </a:r>
          </a:p>
          <a:p>
            <a:pPr marL="914400" lvl="2" indent="0">
              <a:buNone/>
            </a:pPr>
            <a:r>
              <a:rPr lang="en-US" sz="1600" i="1"/>
              <a:t>2. Identify the corner which still suffers many timing violations if any.</a:t>
            </a:r>
          </a:p>
          <a:p>
            <a:pPr marL="457200" lvl="1" indent="0">
              <a:buNone/>
            </a:pPr>
            <a:r>
              <a:rPr lang="en-US" sz="1800"/>
              <a:t>You need to use the </a:t>
            </a:r>
            <a:r>
              <a:rPr lang="en-US" sz="1800">
                <a:solidFill>
                  <a:srgbClr val="00B050"/>
                </a:solidFill>
              </a:rPr>
              <a:t>provided tools </a:t>
            </a:r>
            <a:r>
              <a:rPr lang="en-US" sz="1800"/>
              <a:t>to analyze the timing metrics! You are not good at math!</a:t>
            </a:r>
          </a:p>
        </p:txBody>
      </p:sp>
      <p:sp>
        <p:nvSpPr>
          <p:cNvPr id="4" name="object 4">
            <a:extLst>
              <a:ext uri="{FF2B5EF4-FFF2-40B4-BE49-F238E27FC236}">
                <a16:creationId xmlns:a16="http://schemas.microsoft.com/office/drawing/2014/main" id="{8B4B4A48-B32F-44C6-429B-BB077BB2D891}"/>
              </a:ext>
            </a:extLst>
          </p:cNvPr>
          <p:cNvSpPr txBox="1">
            <a:spLocks/>
          </p:cNvSpPr>
          <p:nvPr/>
        </p:nvSpPr>
        <p:spPr>
          <a:xfrm>
            <a:off x="10616339" y="6391299"/>
            <a:ext cx="365239" cy="218650"/>
          </a:xfrm>
          <a:prstGeom prst="rect">
            <a:avLst/>
          </a:prstGeom>
        </p:spPr>
        <p:txBody>
          <a:bodyPr vert="horz" wrap="square" lIns="0" tIns="317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18745">
              <a:spcBef>
                <a:spcPts val="25"/>
              </a:spcBef>
            </a:pPr>
            <a:fld id="{81D60167-4931-47E6-BA6A-407CBD079E47}" type="slidenum">
              <a:rPr lang="en-US" sz="1400" spc="-50" smtClean="0">
                <a:latin typeface="NVIDIA Sans" panose="020B0503020203020204" pitchFamily="34" charset="0"/>
              </a:rPr>
              <a:pPr marL="118745">
                <a:spcBef>
                  <a:spcPts val="25"/>
                </a:spcBef>
              </a:pPr>
              <a:t>15</a:t>
            </a:fld>
            <a:endParaRPr lang="en-US" sz="1400" spc="-50">
              <a:latin typeface="NVIDIA Sans" panose="020B0503020203020204" pitchFamily="34" charset="0"/>
            </a:endParaRPr>
          </a:p>
        </p:txBody>
      </p:sp>
      <p:sp>
        <p:nvSpPr>
          <p:cNvPr id="8" name="TextBox 7">
            <a:extLst>
              <a:ext uri="{FF2B5EF4-FFF2-40B4-BE49-F238E27FC236}">
                <a16:creationId xmlns:a16="http://schemas.microsoft.com/office/drawing/2014/main" id="{01B0B19C-BDE3-0061-E39A-59ABAE214E09}"/>
              </a:ext>
            </a:extLst>
          </p:cNvPr>
          <p:cNvSpPr txBox="1"/>
          <p:nvPr/>
        </p:nvSpPr>
        <p:spPr>
          <a:xfrm>
            <a:off x="459728" y="2172160"/>
            <a:ext cx="4466860" cy="1477328"/>
          </a:xfrm>
          <a:prstGeom prst="rect">
            <a:avLst/>
          </a:prstGeom>
          <a:noFill/>
          <a:ln w="25400">
            <a:solidFill>
              <a:schemeClr val="tx1"/>
            </a:solidFill>
          </a:ln>
        </p:spPr>
        <p:txBody>
          <a:bodyPr wrap="square">
            <a:spAutoFit/>
          </a:bodyPr>
          <a:lstStyle/>
          <a:p>
            <a:r>
              <a:rPr lang="en-US" sz="1800" i="1" err="1">
                <a:solidFill>
                  <a:schemeClr val="tx2">
                    <a:lumMod val="75000"/>
                    <a:lumOff val="25000"/>
                  </a:schemeClr>
                </a:solidFill>
              </a:rPr>
              <a:t>timing_metric_calculation_tool</a:t>
            </a:r>
            <a:r>
              <a:rPr lang="en-US" sz="1800" i="1">
                <a:solidFill>
                  <a:schemeClr val="tx2">
                    <a:lumMod val="75000"/>
                    <a:lumOff val="25000"/>
                  </a:schemeClr>
                </a:solidFill>
              </a:rPr>
              <a:t> </a:t>
            </a:r>
            <a:r>
              <a:rPr lang="en-US" sz="1800"/>
              <a:t>: </a:t>
            </a:r>
          </a:p>
          <a:p>
            <a:r>
              <a:rPr lang="en-US" sz="1800"/>
              <a:t>Calculate changes in WNS, TNS, or FEP</a:t>
            </a:r>
          </a:p>
          <a:p>
            <a:endParaRPr lang="en-US" sz="1800" i="1">
              <a:solidFill>
                <a:schemeClr val="tx2">
                  <a:lumMod val="75000"/>
                  <a:lumOff val="25000"/>
                </a:schemeClr>
              </a:solidFill>
            </a:endParaRPr>
          </a:p>
          <a:p>
            <a:r>
              <a:rPr lang="en-US" sz="1800" i="1" err="1">
                <a:solidFill>
                  <a:schemeClr val="tx2">
                    <a:lumMod val="75000"/>
                    <a:lumOff val="25000"/>
                  </a:schemeClr>
                </a:solidFill>
              </a:rPr>
              <a:t>slack_distribution_calculation_tool</a:t>
            </a:r>
            <a:r>
              <a:rPr lang="en-US" sz="1800"/>
              <a:t>: Calculate changes in the slack distribution</a:t>
            </a:r>
          </a:p>
        </p:txBody>
      </p:sp>
      <p:cxnSp>
        <p:nvCxnSpPr>
          <p:cNvPr id="12" name="Straight Arrow Connector 11">
            <a:extLst>
              <a:ext uri="{FF2B5EF4-FFF2-40B4-BE49-F238E27FC236}">
                <a16:creationId xmlns:a16="http://schemas.microsoft.com/office/drawing/2014/main" id="{96F47348-F240-15A9-7754-7180B07B7E69}"/>
              </a:ext>
            </a:extLst>
          </p:cNvPr>
          <p:cNvCxnSpPr>
            <a:cxnSpLocks/>
          </p:cNvCxnSpPr>
          <p:nvPr/>
        </p:nvCxnSpPr>
        <p:spPr>
          <a:xfrm flipV="1">
            <a:off x="1828800" y="3730428"/>
            <a:ext cx="0" cy="825388"/>
          </a:xfrm>
          <a:prstGeom prst="straightConnector1">
            <a:avLst/>
          </a:prstGeom>
          <a:ln w="25400">
            <a:solidFill>
              <a:schemeClr val="tx1"/>
            </a:solidFill>
            <a:headEnd type="arrow"/>
            <a:tailEnd type="non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FD07BBE5-1A51-FFBE-465F-D916E3179ED3}"/>
              </a:ext>
            </a:extLst>
          </p:cNvPr>
          <p:cNvCxnSpPr>
            <a:cxnSpLocks/>
          </p:cNvCxnSpPr>
          <p:nvPr/>
        </p:nvCxnSpPr>
        <p:spPr>
          <a:xfrm>
            <a:off x="1448474" y="3730428"/>
            <a:ext cx="0" cy="825388"/>
          </a:xfrm>
          <a:prstGeom prst="straightConnector1">
            <a:avLst/>
          </a:prstGeom>
          <a:ln w="25400">
            <a:solidFill>
              <a:schemeClr val="tx1"/>
            </a:solidFill>
            <a:headEnd type="arrow"/>
            <a:tailEnd type="non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4CBA857A-5BDD-7BE0-B32D-34D7DC01BFDB}"/>
              </a:ext>
            </a:extLst>
          </p:cNvPr>
          <p:cNvSpPr txBox="1"/>
          <p:nvPr/>
        </p:nvSpPr>
        <p:spPr>
          <a:xfrm>
            <a:off x="622607" y="3934188"/>
            <a:ext cx="909223" cy="369332"/>
          </a:xfrm>
          <a:prstGeom prst="rect">
            <a:avLst/>
          </a:prstGeom>
          <a:noFill/>
        </p:spPr>
        <p:txBody>
          <a:bodyPr wrap="none" rtlCol="0">
            <a:spAutoFit/>
          </a:bodyPr>
          <a:lstStyle/>
          <a:p>
            <a:r>
              <a:rPr lang="en-US" b="1">
                <a:latin typeface="NVIDIA Sans" panose="020B0503020203020204" pitchFamily="34" charset="0"/>
                <a:cs typeface="NVIDIA Sans" panose="020B0503020203020204" pitchFamily="34" charset="0"/>
              </a:rPr>
              <a:t>Action</a:t>
            </a:r>
          </a:p>
        </p:txBody>
      </p:sp>
      <p:sp>
        <p:nvSpPr>
          <p:cNvPr id="18" name="TextBox 17">
            <a:extLst>
              <a:ext uri="{FF2B5EF4-FFF2-40B4-BE49-F238E27FC236}">
                <a16:creationId xmlns:a16="http://schemas.microsoft.com/office/drawing/2014/main" id="{E6EE21BD-0289-D47A-4ACD-E21026BBE14B}"/>
              </a:ext>
            </a:extLst>
          </p:cNvPr>
          <p:cNvSpPr txBox="1"/>
          <p:nvPr/>
        </p:nvSpPr>
        <p:spPr>
          <a:xfrm>
            <a:off x="1828799" y="3934188"/>
            <a:ext cx="1535485" cy="369332"/>
          </a:xfrm>
          <a:prstGeom prst="rect">
            <a:avLst/>
          </a:prstGeom>
          <a:noFill/>
        </p:spPr>
        <p:txBody>
          <a:bodyPr wrap="none" rtlCol="0">
            <a:spAutoFit/>
          </a:bodyPr>
          <a:lstStyle/>
          <a:p>
            <a:r>
              <a:rPr lang="en-US" b="1">
                <a:latin typeface="NVIDIA Sans" panose="020B0503020203020204" pitchFamily="34" charset="0"/>
                <a:cs typeface="NVIDIA Sans" panose="020B0503020203020204" pitchFamily="34" charset="0"/>
              </a:rPr>
              <a:t>Observation</a:t>
            </a:r>
          </a:p>
        </p:txBody>
      </p:sp>
      <p:sp>
        <p:nvSpPr>
          <p:cNvPr id="19" name="TextBox 18">
            <a:extLst>
              <a:ext uri="{FF2B5EF4-FFF2-40B4-BE49-F238E27FC236}">
                <a16:creationId xmlns:a16="http://schemas.microsoft.com/office/drawing/2014/main" id="{0F31C4E6-B627-E4DB-C9B9-B171BFF2EC4B}"/>
              </a:ext>
            </a:extLst>
          </p:cNvPr>
          <p:cNvSpPr txBox="1"/>
          <p:nvPr/>
        </p:nvSpPr>
        <p:spPr>
          <a:xfrm>
            <a:off x="1143202" y="5940810"/>
            <a:ext cx="912814" cy="369332"/>
          </a:xfrm>
          <a:prstGeom prst="rect">
            <a:avLst/>
          </a:prstGeom>
          <a:noFill/>
        </p:spPr>
        <p:txBody>
          <a:bodyPr wrap="none" rtlCol="0">
            <a:spAutoFit/>
          </a:bodyPr>
          <a:lstStyle/>
          <a:p>
            <a:r>
              <a:rPr lang="en-US" b="1" err="1">
                <a:latin typeface="NVIDIA Sans" panose="020B0503020203020204" pitchFamily="34" charset="0"/>
                <a:cs typeface="NVIDIA Sans" panose="020B0503020203020204" pitchFamily="34" charset="0"/>
              </a:rPr>
              <a:t>ReACT</a:t>
            </a:r>
            <a:endParaRPr lang="en-US" b="1">
              <a:latin typeface="NVIDIA Sans" panose="020B0503020203020204" pitchFamily="34" charset="0"/>
              <a:cs typeface="NVIDIA Sans" panose="020B0503020203020204" pitchFamily="34" charset="0"/>
            </a:endParaRPr>
          </a:p>
        </p:txBody>
      </p:sp>
      <p:pic>
        <p:nvPicPr>
          <p:cNvPr id="21" name="Picture 20">
            <a:extLst>
              <a:ext uri="{FF2B5EF4-FFF2-40B4-BE49-F238E27FC236}">
                <a16:creationId xmlns:a16="http://schemas.microsoft.com/office/drawing/2014/main" id="{5551D096-C6DE-54CD-9F74-C38DF884230A}"/>
              </a:ext>
            </a:extLst>
          </p:cNvPr>
          <p:cNvPicPr>
            <a:picLocks noChangeAspect="1"/>
          </p:cNvPicPr>
          <p:nvPr/>
        </p:nvPicPr>
        <p:blipFill>
          <a:blip r:embed="rId3"/>
          <a:stretch>
            <a:fillRect/>
          </a:stretch>
        </p:blipFill>
        <p:spPr>
          <a:xfrm>
            <a:off x="891619" y="4555816"/>
            <a:ext cx="1415979" cy="1305644"/>
          </a:xfrm>
          <a:prstGeom prst="rect">
            <a:avLst/>
          </a:prstGeom>
        </p:spPr>
      </p:pic>
      <p:sp>
        <p:nvSpPr>
          <p:cNvPr id="22" name="TextBox 21">
            <a:extLst>
              <a:ext uri="{FF2B5EF4-FFF2-40B4-BE49-F238E27FC236}">
                <a16:creationId xmlns:a16="http://schemas.microsoft.com/office/drawing/2014/main" id="{80A5B83F-903C-3285-4532-3AED6C15A622}"/>
              </a:ext>
            </a:extLst>
          </p:cNvPr>
          <p:cNvSpPr txBox="1"/>
          <p:nvPr/>
        </p:nvSpPr>
        <p:spPr>
          <a:xfrm>
            <a:off x="2693158" y="5058957"/>
            <a:ext cx="1393330" cy="646331"/>
          </a:xfrm>
          <a:prstGeom prst="rect">
            <a:avLst/>
          </a:prstGeom>
          <a:noFill/>
        </p:spPr>
        <p:txBody>
          <a:bodyPr wrap="none" rtlCol="0">
            <a:spAutoFit/>
          </a:bodyPr>
          <a:lstStyle/>
          <a:p>
            <a:r>
              <a:rPr lang="en-US" b="1">
                <a:latin typeface="NVIDIA Sans" panose="020B0503020203020204" pitchFamily="34" charset="0"/>
                <a:cs typeface="NVIDIA Sans" panose="020B0503020203020204" pitchFamily="34" charset="0"/>
              </a:rPr>
              <a:t>Reasoning:</a:t>
            </a:r>
          </a:p>
          <a:p>
            <a:r>
              <a:rPr lang="en-US" b="1">
                <a:latin typeface="NVIDIA Sans" panose="020B0503020203020204" pitchFamily="34" charset="0"/>
                <a:cs typeface="NVIDIA Sans" panose="020B0503020203020204" pitchFamily="34" charset="0"/>
              </a:rPr>
              <a:t>Thoughts</a:t>
            </a:r>
          </a:p>
        </p:txBody>
      </p:sp>
      <p:sp>
        <p:nvSpPr>
          <p:cNvPr id="23" name="Arrow: Curved Down 22">
            <a:extLst>
              <a:ext uri="{FF2B5EF4-FFF2-40B4-BE49-F238E27FC236}">
                <a16:creationId xmlns:a16="http://schemas.microsoft.com/office/drawing/2014/main" id="{F1BF1DC6-5C3B-E659-1C18-F3C92B7A2FAE}"/>
              </a:ext>
            </a:extLst>
          </p:cNvPr>
          <p:cNvSpPr/>
          <p:nvPr/>
        </p:nvSpPr>
        <p:spPr>
          <a:xfrm>
            <a:off x="2293106" y="4594958"/>
            <a:ext cx="1071178" cy="556780"/>
          </a:xfrm>
          <a:prstGeom prst="curvedDown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4" name="Arrow: Curved Down 23">
            <a:extLst>
              <a:ext uri="{FF2B5EF4-FFF2-40B4-BE49-F238E27FC236}">
                <a16:creationId xmlns:a16="http://schemas.microsoft.com/office/drawing/2014/main" id="{B1156BD4-493C-265B-B05F-01FC0D93E04A}"/>
              </a:ext>
            </a:extLst>
          </p:cNvPr>
          <p:cNvSpPr/>
          <p:nvPr/>
        </p:nvSpPr>
        <p:spPr>
          <a:xfrm rot="10963323">
            <a:off x="2247569" y="5659541"/>
            <a:ext cx="1071178" cy="556780"/>
          </a:xfrm>
          <a:prstGeom prst="curvedDown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6" name="TextBox 25">
            <a:extLst>
              <a:ext uri="{FF2B5EF4-FFF2-40B4-BE49-F238E27FC236}">
                <a16:creationId xmlns:a16="http://schemas.microsoft.com/office/drawing/2014/main" id="{93EA4B4A-0A40-8867-9114-72103D2A7468}"/>
              </a:ext>
            </a:extLst>
          </p:cNvPr>
          <p:cNvSpPr txBox="1"/>
          <p:nvPr/>
        </p:nvSpPr>
        <p:spPr>
          <a:xfrm>
            <a:off x="2015812" y="1709328"/>
            <a:ext cx="1028222" cy="461665"/>
          </a:xfrm>
          <a:prstGeom prst="rect">
            <a:avLst/>
          </a:prstGeom>
          <a:noFill/>
        </p:spPr>
        <p:txBody>
          <a:bodyPr wrap="square">
            <a:spAutoFit/>
          </a:bodyPr>
          <a:lstStyle/>
          <a:p>
            <a:r>
              <a:rPr lang="en-US" sz="2400">
                <a:latin typeface="NVIDIA Sans" panose="020B0503020203020204" pitchFamily="34" charset="0"/>
                <a:cs typeface="NVIDIA Sans" panose="020B0503020203020204" pitchFamily="34" charset="0"/>
              </a:rPr>
              <a:t>Tools</a:t>
            </a:r>
          </a:p>
        </p:txBody>
      </p:sp>
    </p:spTree>
    <p:extLst>
      <p:ext uri="{BB962C8B-B14F-4D97-AF65-F5344CB8AC3E}">
        <p14:creationId xmlns:p14="http://schemas.microsoft.com/office/powerpoint/2010/main" val="34917371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D75515F-989F-385B-2873-CC604FDD51A9}"/>
              </a:ext>
            </a:extLst>
          </p:cNvPr>
          <p:cNvPicPr>
            <a:picLocks noChangeAspect="1"/>
          </p:cNvPicPr>
          <p:nvPr/>
        </p:nvPicPr>
        <p:blipFill>
          <a:blip r:embed="rId3"/>
          <a:stretch>
            <a:fillRect/>
          </a:stretch>
        </p:blipFill>
        <p:spPr>
          <a:xfrm>
            <a:off x="2793294" y="5016813"/>
            <a:ext cx="1359437" cy="1253508"/>
          </a:xfrm>
          <a:prstGeom prst="rect">
            <a:avLst/>
          </a:prstGeom>
        </p:spPr>
      </p:pic>
      <p:sp>
        <p:nvSpPr>
          <p:cNvPr id="3" name="Content Placeholder 2">
            <a:extLst>
              <a:ext uri="{FF2B5EF4-FFF2-40B4-BE49-F238E27FC236}">
                <a16:creationId xmlns:a16="http://schemas.microsoft.com/office/drawing/2014/main" id="{9CC89D34-8A0D-3982-81C2-9E68960EEEA8}"/>
              </a:ext>
            </a:extLst>
          </p:cNvPr>
          <p:cNvSpPr>
            <a:spLocks noGrp="1"/>
          </p:cNvSpPr>
          <p:nvPr>
            <p:ph idx="1"/>
          </p:nvPr>
        </p:nvSpPr>
        <p:spPr>
          <a:xfrm>
            <a:off x="838200" y="1706360"/>
            <a:ext cx="10585450" cy="4351338"/>
          </a:xfrm>
        </p:spPr>
        <p:txBody>
          <a:bodyPr>
            <a:normAutofit/>
          </a:bodyPr>
          <a:lstStyle/>
          <a:p>
            <a:pPr marL="0" indent="0">
              <a:buNone/>
            </a:pPr>
            <a:r>
              <a:rPr lang="en-US" sz="2400" b="1"/>
              <a:t>Task</a:t>
            </a:r>
            <a:r>
              <a:rPr lang="en-US" sz="2400"/>
              <a:t>: Improve device clustering constraints for cell layout generator</a:t>
            </a:r>
            <a:endParaRPr lang="en-US" sz="2400" b="1"/>
          </a:p>
        </p:txBody>
      </p:sp>
      <p:sp>
        <p:nvSpPr>
          <p:cNvPr id="28" name="Rectangle: Rounded Corners 27">
            <a:extLst>
              <a:ext uri="{FF2B5EF4-FFF2-40B4-BE49-F238E27FC236}">
                <a16:creationId xmlns:a16="http://schemas.microsoft.com/office/drawing/2014/main" id="{B6B0DA8B-6B9E-CF4A-7173-9AF3B4B379C5}"/>
              </a:ext>
            </a:extLst>
          </p:cNvPr>
          <p:cNvSpPr/>
          <p:nvPr/>
        </p:nvSpPr>
        <p:spPr>
          <a:xfrm>
            <a:off x="994419" y="2484937"/>
            <a:ext cx="2950108" cy="173337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a:solidFill>
                  <a:schemeClr val="tx1"/>
                </a:solidFill>
                <a:latin typeface="NVIDIA Sans" panose="020B0503020203020204" pitchFamily="34" charset="0"/>
              </a:rPr>
              <a:t>Cluster 1:</a:t>
            </a:r>
          </a:p>
          <a:p>
            <a:pPr algn="ctr"/>
            <a:r>
              <a:rPr lang="en-US" sz="1600">
                <a:solidFill>
                  <a:schemeClr val="tx1"/>
                </a:solidFill>
                <a:latin typeface="NVIDIA Sans" panose="020B0503020203020204" pitchFamily="34" charset="0"/>
              </a:rPr>
              <a:t>XXI_DB_QN/</a:t>
            </a:r>
            <a:r>
              <a:rPr lang="en-US" altLang="zh-CN" sz="1600">
                <a:solidFill>
                  <a:schemeClr val="tx1"/>
                </a:solidFill>
                <a:latin typeface="NVIDIA Sans" panose="020B0503020203020204" pitchFamily="34" charset="0"/>
              </a:rPr>
              <a:t>X0/M_IPA</a:t>
            </a:r>
          </a:p>
          <a:p>
            <a:pPr algn="ctr"/>
            <a:r>
              <a:rPr lang="en-US" sz="1600">
                <a:solidFill>
                  <a:schemeClr val="tx1"/>
                </a:solidFill>
                <a:latin typeface="NVIDIA Sans" panose="020B0503020203020204" pitchFamily="34" charset="0"/>
              </a:rPr>
              <a:t>…</a:t>
            </a:r>
          </a:p>
          <a:p>
            <a:pPr algn="ctr"/>
            <a:r>
              <a:rPr lang="en-US" sz="1600">
                <a:solidFill>
                  <a:schemeClr val="tx1"/>
                </a:solidFill>
                <a:latin typeface="NVIDIA Sans" panose="020B0503020203020204" pitchFamily="34" charset="0"/>
              </a:rPr>
              <a:t>Cluster 2: </a:t>
            </a:r>
          </a:p>
          <a:p>
            <a:pPr algn="ctr"/>
            <a:r>
              <a:rPr lang="en-US" sz="1600">
                <a:solidFill>
                  <a:schemeClr val="tx1"/>
                </a:solidFill>
                <a:latin typeface="NVIDIA Sans" panose="020B0503020203020204" pitchFamily="34" charset="0"/>
              </a:rPr>
              <a:t>XXI_CPB1/X10/M_IPA</a:t>
            </a:r>
          </a:p>
          <a:p>
            <a:pPr algn="ctr"/>
            <a:r>
              <a:rPr lang="en-US" sz="1600">
                <a:solidFill>
                  <a:schemeClr val="tx1"/>
                </a:solidFill>
                <a:latin typeface="NVIDIA Sans" panose="020B0503020203020204" pitchFamily="34" charset="0"/>
              </a:rPr>
              <a:t>…</a:t>
            </a:r>
          </a:p>
        </p:txBody>
      </p:sp>
      <p:sp>
        <p:nvSpPr>
          <p:cNvPr id="2" name="Title 1">
            <a:extLst>
              <a:ext uri="{FF2B5EF4-FFF2-40B4-BE49-F238E27FC236}">
                <a16:creationId xmlns:a16="http://schemas.microsoft.com/office/drawing/2014/main" id="{A9036FA5-6FCD-26F9-51DC-80D7A301F1D4}"/>
              </a:ext>
            </a:extLst>
          </p:cNvPr>
          <p:cNvSpPr>
            <a:spLocks noGrp="1"/>
          </p:cNvSpPr>
          <p:nvPr>
            <p:ph type="title"/>
          </p:nvPr>
        </p:nvSpPr>
        <p:spPr/>
        <p:txBody>
          <a:bodyPr>
            <a:normAutofit/>
          </a:bodyPr>
          <a:lstStyle/>
          <a:p>
            <a:pPr algn="ctr"/>
            <a:r>
              <a:rPr lang="en-US" sz="4000" b="1"/>
              <a:t>Device Clustering for Standard Cell Layout</a:t>
            </a:r>
          </a:p>
        </p:txBody>
      </p:sp>
      <p:sp>
        <p:nvSpPr>
          <p:cNvPr id="8" name="Arrow: Right 7">
            <a:extLst>
              <a:ext uri="{FF2B5EF4-FFF2-40B4-BE49-F238E27FC236}">
                <a16:creationId xmlns:a16="http://schemas.microsoft.com/office/drawing/2014/main" id="{B25E9328-655C-88AB-05E9-B57F099CA5C8}"/>
              </a:ext>
            </a:extLst>
          </p:cNvPr>
          <p:cNvSpPr/>
          <p:nvPr/>
        </p:nvSpPr>
        <p:spPr>
          <a:xfrm>
            <a:off x="3945254" y="3158443"/>
            <a:ext cx="641350" cy="431800"/>
          </a:xfrm>
          <a:prstGeom prst="righ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NVIDIA Sans" panose="020B0503020203020204" pitchFamily="34" charset="0"/>
            </a:endParaRPr>
          </a:p>
        </p:txBody>
      </p:sp>
      <p:pic>
        <p:nvPicPr>
          <p:cNvPr id="14" name="Picture 13">
            <a:extLst>
              <a:ext uri="{FF2B5EF4-FFF2-40B4-BE49-F238E27FC236}">
                <a16:creationId xmlns:a16="http://schemas.microsoft.com/office/drawing/2014/main" id="{8DC9ED66-1A21-C14F-7F9D-8255122FF6CC}"/>
              </a:ext>
            </a:extLst>
          </p:cNvPr>
          <p:cNvPicPr>
            <a:picLocks noChangeAspect="1"/>
          </p:cNvPicPr>
          <p:nvPr/>
        </p:nvPicPr>
        <p:blipFill>
          <a:blip r:embed="rId4"/>
          <a:stretch>
            <a:fillRect/>
          </a:stretch>
        </p:blipFill>
        <p:spPr>
          <a:xfrm>
            <a:off x="4586604" y="2910763"/>
            <a:ext cx="4176952" cy="927161"/>
          </a:xfrm>
          <a:prstGeom prst="rect">
            <a:avLst/>
          </a:prstGeom>
        </p:spPr>
      </p:pic>
      <p:pic>
        <p:nvPicPr>
          <p:cNvPr id="16" name="Picture 15">
            <a:extLst>
              <a:ext uri="{FF2B5EF4-FFF2-40B4-BE49-F238E27FC236}">
                <a16:creationId xmlns:a16="http://schemas.microsoft.com/office/drawing/2014/main" id="{DA717D7E-824C-875B-69D8-2958CB03EE7F}"/>
              </a:ext>
            </a:extLst>
          </p:cNvPr>
          <p:cNvPicPr>
            <a:picLocks noChangeAspect="1"/>
          </p:cNvPicPr>
          <p:nvPr/>
        </p:nvPicPr>
        <p:blipFill>
          <a:blip r:embed="rId5"/>
          <a:stretch>
            <a:fillRect/>
          </a:stretch>
        </p:blipFill>
        <p:spPr>
          <a:xfrm>
            <a:off x="8597735" y="5094926"/>
            <a:ext cx="3424817" cy="927161"/>
          </a:xfrm>
          <a:prstGeom prst="rect">
            <a:avLst/>
          </a:prstGeom>
        </p:spPr>
      </p:pic>
      <p:sp>
        <p:nvSpPr>
          <p:cNvPr id="12" name="Arrow: Right 11">
            <a:extLst>
              <a:ext uri="{FF2B5EF4-FFF2-40B4-BE49-F238E27FC236}">
                <a16:creationId xmlns:a16="http://schemas.microsoft.com/office/drawing/2014/main" id="{6E0E1E09-35A2-53B2-5DF9-33FF6A7D8E2F}"/>
              </a:ext>
            </a:extLst>
          </p:cNvPr>
          <p:cNvSpPr/>
          <p:nvPr/>
        </p:nvSpPr>
        <p:spPr>
          <a:xfrm>
            <a:off x="7956385" y="5389570"/>
            <a:ext cx="641350" cy="431800"/>
          </a:xfrm>
          <a:prstGeom prst="righ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NVIDIA Sans" panose="020B0503020203020204" pitchFamily="34" charset="0"/>
            </a:endParaRPr>
          </a:p>
        </p:txBody>
      </p:sp>
      <p:sp>
        <p:nvSpPr>
          <p:cNvPr id="24" name="TextBox 23">
            <a:extLst>
              <a:ext uri="{FF2B5EF4-FFF2-40B4-BE49-F238E27FC236}">
                <a16:creationId xmlns:a16="http://schemas.microsoft.com/office/drawing/2014/main" id="{08A9E2B3-DD91-CCF6-9881-F0320BECD9DA}"/>
              </a:ext>
            </a:extLst>
          </p:cNvPr>
          <p:cNvSpPr txBox="1"/>
          <p:nvPr/>
        </p:nvSpPr>
        <p:spPr>
          <a:xfrm>
            <a:off x="9469302" y="4738396"/>
            <a:ext cx="1664174" cy="369332"/>
          </a:xfrm>
          <a:prstGeom prst="rect">
            <a:avLst/>
          </a:prstGeom>
          <a:noFill/>
        </p:spPr>
        <p:txBody>
          <a:bodyPr wrap="none" rtlCol="0">
            <a:spAutoFit/>
          </a:bodyPr>
          <a:lstStyle/>
          <a:p>
            <a:r>
              <a:rPr lang="en-US">
                <a:latin typeface="NVIDIA Sans" panose="020B0503020203020204" pitchFamily="34" charset="0"/>
              </a:rPr>
              <a:t>Better Layout</a:t>
            </a:r>
          </a:p>
        </p:txBody>
      </p:sp>
      <p:sp>
        <p:nvSpPr>
          <p:cNvPr id="25" name="TextBox 24">
            <a:extLst>
              <a:ext uri="{FF2B5EF4-FFF2-40B4-BE49-F238E27FC236}">
                <a16:creationId xmlns:a16="http://schemas.microsoft.com/office/drawing/2014/main" id="{2A8690F8-CA86-2A70-F515-A9841D15A877}"/>
              </a:ext>
            </a:extLst>
          </p:cNvPr>
          <p:cNvSpPr txBox="1"/>
          <p:nvPr/>
        </p:nvSpPr>
        <p:spPr>
          <a:xfrm>
            <a:off x="5470316" y="2604746"/>
            <a:ext cx="1806841" cy="369332"/>
          </a:xfrm>
          <a:prstGeom prst="rect">
            <a:avLst/>
          </a:prstGeom>
          <a:noFill/>
        </p:spPr>
        <p:txBody>
          <a:bodyPr wrap="none" rtlCol="0">
            <a:spAutoFit/>
          </a:bodyPr>
          <a:lstStyle/>
          <a:p>
            <a:r>
              <a:rPr lang="en-US">
                <a:latin typeface="NVIDIA Sans" panose="020B0503020203020204" pitchFamily="34" charset="0"/>
              </a:rPr>
              <a:t>Original Layout</a:t>
            </a:r>
          </a:p>
        </p:txBody>
      </p:sp>
      <p:sp>
        <p:nvSpPr>
          <p:cNvPr id="29" name="Rectangle: Rounded Corners 28">
            <a:extLst>
              <a:ext uri="{FF2B5EF4-FFF2-40B4-BE49-F238E27FC236}">
                <a16:creationId xmlns:a16="http://schemas.microsoft.com/office/drawing/2014/main" id="{E680C1B2-B7AA-5623-E4CE-42B7C90C08C5}"/>
              </a:ext>
            </a:extLst>
          </p:cNvPr>
          <p:cNvSpPr/>
          <p:nvPr/>
        </p:nvSpPr>
        <p:spPr>
          <a:xfrm>
            <a:off x="5000487" y="4533351"/>
            <a:ext cx="2950108" cy="2207461"/>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a:solidFill>
                  <a:schemeClr val="tx1"/>
                </a:solidFill>
                <a:latin typeface="NVIDIA Sans" panose="020B0503020203020204" pitchFamily="34" charset="0"/>
              </a:rPr>
              <a:t>Cluster 1:</a:t>
            </a:r>
          </a:p>
          <a:p>
            <a:pPr algn="ctr"/>
            <a:r>
              <a:rPr lang="en-US" sz="1600">
                <a:solidFill>
                  <a:schemeClr val="tx1"/>
                </a:solidFill>
                <a:latin typeface="NVIDIA Sans" panose="020B0503020203020204" pitchFamily="34" charset="0"/>
              </a:rPr>
              <a:t>XM_MP0_PFB0</a:t>
            </a:r>
            <a:endParaRPr lang="en-US" altLang="zh-CN" sz="1600">
              <a:solidFill>
                <a:schemeClr val="tx1"/>
              </a:solidFill>
              <a:latin typeface="NVIDIA Sans" panose="020B0503020203020204" pitchFamily="34" charset="0"/>
            </a:endParaRPr>
          </a:p>
          <a:p>
            <a:pPr algn="ctr"/>
            <a:r>
              <a:rPr lang="en-US" sz="1600">
                <a:solidFill>
                  <a:schemeClr val="tx1"/>
                </a:solidFill>
                <a:latin typeface="NVIDIA Sans" panose="020B0503020203020204" pitchFamily="34" charset="0"/>
              </a:rPr>
              <a:t>…</a:t>
            </a:r>
          </a:p>
          <a:p>
            <a:pPr algn="ctr"/>
            <a:r>
              <a:rPr lang="en-US" sz="1600">
                <a:solidFill>
                  <a:schemeClr val="tx1"/>
                </a:solidFill>
                <a:latin typeface="NVIDIA Sans" panose="020B0503020203020204" pitchFamily="34" charset="0"/>
              </a:rPr>
              <a:t>Cluster 2: </a:t>
            </a:r>
          </a:p>
          <a:p>
            <a:pPr algn="ctr"/>
            <a:r>
              <a:rPr lang="en-US" sz="1600">
                <a:solidFill>
                  <a:schemeClr val="tx1"/>
                </a:solidFill>
                <a:latin typeface="NVIDIA Sans" panose="020B0503020203020204" pitchFamily="34" charset="0"/>
              </a:rPr>
              <a:t>XM_MP_SEB</a:t>
            </a:r>
          </a:p>
          <a:p>
            <a:pPr algn="ctr"/>
            <a:r>
              <a:rPr lang="en-US" sz="1600">
                <a:solidFill>
                  <a:schemeClr val="tx1"/>
                </a:solidFill>
                <a:latin typeface="NVIDIA Sans" panose="020B0503020203020204" pitchFamily="34" charset="0"/>
              </a:rPr>
              <a:t>…</a:t>
            </a:r>
          </a:p>
          <a:p>
            <a:pPr algn="ctr"/>
            <a:r>
              <a:rPr lang="en-US" altLang="zh-CN" sz="1600">
                <a:solidFill>
                  <a:schemeClr val="tx1"/>
                </a:solidFill>
                <a:latin typeface="NVIDIA Sans" panose="020B0503020203020204" pitchFamily="34" charset="0"/>
              </a:rPr>
              <a:t>Cluster 3:</a:t>
            </a:r>
          </a:p>
          <a:p>
            <a:pPr algn="ctr"/>
            <a:r>
              <a:rPr lang="en-US" sz="1600">
                <a:solidFill>
                  <a:schemeClr val="tx1"/>
                </a:solidFill>
                <a:latin typeface="NVIDIA Sans" panose="020B0503020203020204" pitchFamily="34" charset="0"/>
              </a:rPr>
              <a:t>XX</a:t>
            </a:r>
            <a:r>
              <a:rPr lang="en-US" altLang="zh-CN" sz="1600">
                <a:solidFill>
                  <a:schemeClr val="tx1"/>
                </a:solidFill>
                <a:latin typeface="NVIDIA Sans" panose="020B0503020203020204" pitchFamily="34" charset="0"/>
              </a:rPr>
              <a:t>I_DB4_Q/X10/M_IPA</a:t>
            </a:r>
            <a:endParaRPr lang="en-US" sz="1600">
              <a:solidFill>
                <a:schemeClr val="tx1"/>
              </a:solidFill>
              <a:latin typeface="NVIDIA Sans" panose="020B0503020203020204" pitchFamily="34" charset="0"/>
            </a:endParaRPr>
          </a:p>
        </p:txBody>
      </p:sp>
      <p:cxnSp>
        <p:nvCxnSpPr>
          <p:cNvPr id="31" name="Connector: Elbow 30">
            <a:extLst>
              <a:ext uri="{FF2B5EF4-FFF2-40B4-BE49-F238E27FC236}">
                <a16:creationId xmlns:a16="http://schemas.microsoft.com/office/drawing/2014/main" id="{8EB351B4-5629-BC2A-1AF3-66F9063AB48D}"/>
              </a:ext>
            </a:extLst>
          </p:cNvPr>
          <p:cNvCxnSpPr>
            <a:cxnSpLocks/>
            <a:stCxn id="28" idx="2"/>
          </p:cNvCxnSpPr>
          <p:nvPr/>
        </p:nvCxnSpPr>
        <p:spPr>
          <a:xfrm rot="16200000" flipH="1">
            <a:off x="2034866" y="4652914"/>
            <a:ext cx="1418774" cy="549560"/>
          </a:xfrm>
          <a:prstGeom prst="bentConnector2">
            <a:avLst/>
          </a:prstGeom>
          <a:ln w="25400">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32" name="Connector: Elbow 31">
            <a:extLst>
              <a:ext uri="{FF2B5EF4-FFF2-40B4-BE49-F238E27FC236}">
                <a16:creationId xmlns:a16="http://schemas.microsoft.com/office/drawing/2014/main" id="{271BDD20-D6D6-A1F4-771F-79A79689DA01}"/>
              </a:ext>
            </a:extLst>
          </p:cNvPr>
          <p:cNvCxnSpPr>
            <a:cxnSpLocks/>
            <a:stCxn id="14" idx="2"/>
          </p:cNvCxnSpPr>
          <p:nvPr/>
        </p:nvCxnSpPr>
        <p:spPr>
          <a:xfrm rot="5400000">
            <a:off x="4361420" y="2958284"/>
            <a:ext cx="1434021" cy="3193300"/>
          </a:xfrm>
          <a:prstGeom prst="bentConnector3">
            <a:avLst>
              <a:gd name="adj1" fmla="val 35571"/>
            </a:avLst>
          </a:prstGeom>
          <a:ln w="25400">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48" name="Rectangle: Rounded Corners 47">
            <a:extLst>
              <a:ext uri="{FF2B5EF4-FFF2-40B4-BE49-F238E27FC236}">
                <a16:creationId xmlns:a16="http://schemas.microsoft.com/office/drawing/2014/main" id="{CD78937C-7F30-5FD9-77C3-13CA3B0866FA}"/>
              </a:ext>
            </a:extLst>
          </p:cNvPr>
          <p:cNvSpPr/>
          <p:nvPr/>
        </p:nvSpPr>
        <p:spPr>
          <a:xfrm>
            <a:off x="510082" y="5572161"/>
            <a:ext cx="1746715" cy="61389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tx1"/>
                </a:solidFill>
                <a:latin typeface="NVIDIA Sans" panose="020B0503020203020204" pitchFamily="34" charset="0"/>
              </a:rPr>
              <a:t>Cell Spice Netlist</a:t>
            </a:r>
            <a:endParaRPr lang="en-US">
              <a:solidFill>
                <a:schemeClr val="tx1"/>
              </a:solidFill>
              <a:latin typeface="NVIDIA Sans" panose="020B0503020203020204" pitchFamily="34" charset="0"/>
            </a:endParaRPr>
          </a:p>
        </p:txBody>
      </p:sp>
      <p:cxnSp>
        <p:nvCxnSpPr>
          <p:cNvPr id="50" name="Straight Arrow Connector 49">
            <a:extLst>
              <a:ext uri="{FF2B5EF4-FFF2-40B4-BE49-F238E27FC236}">
                <a16:creationId xmlns:a16="http://schemas.microsoft.com/office/drawing/2014/main" id="{74197F04-E5EC-DDF5-F119-C00C47A40EA8}"/>
              </a:ext>
            </a:extLst>
          </p:cNvPr>
          <p:cNvCxnSpPr>
            <a:stCxn id="48" idx="3"/>
          </p:cNvCxnSpPr>
          <p:nvPr/>
        </p:nvCxnSpPr>
        <p:spPr>
          <a:xfrm flipV="1">
            <a:off x="2256797" y="5879110"/>
            <a:ext cx="753470" cy="1"/>
          </a:xfrm>
          <a:prstGeom prst="straightConnector1">
            <a:avLst/>
          </a:prstGeom>
          <a:ln w="25400">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870E4657-A712-5255-86CF-AC641E830984}"/>
              </a:ext>
            </a:extLst>
          </p:cNvPr>
          <p:cNvCxnSpPr>
            <a:cxnSpLocks/>
            <a:endCxn id="29" idx="1"/>
          </p:cNvCxnSpPr>
          <p:nvPr/>
        </p:nvCxnSpPr>
        <p:spPr>
          <a:xfrm>
            <a:off x="3944527" y="5637081"/>
            <a:ext cx="1055960" cy="1"/>
          </a:xfrm>
          <a:prstGeom prst="straightConnector1">
            <a:avLst/>
          </a:prstGeom>
          <a:ln w="25400">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5" name="object 4">
            <a:extLst>
              <a:ext uri="{FF2B5EF4-FFF2-40B4-BE49-F238E27FC236}">
                <a16:creationId xmlns:a16="http://schemas.microsoft.com/office/drawing/2014/main" id="{AC4D0B1D-D077-0C09-9803-A8EDFD57A334}"/>
              </a:ext>
            </a:extLst>
          </p:cNvPr>
          <p:cNvSpPr txBox="1">
            <a:spLocks/>
          </p:cNvSpPr>
          <p:nvPr/>
        </p:nvSpPr>
        <p:spPr>
          <a:xfrm>
            <a:off x="10616339" y="6391299"/>
            <a:ext cx="365239" cy="218650"/>
          </a:xfrm>
          <a:prstGeom prst="rect">
            <a:avLst/>
          </a:prstGeom>
        </p:spPr>
        <p:txBody>
          <a:bodyPr vert="horz" wrap="square" lIns="0" tIns="317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18745">
              <a:spcBef>
                <a:spcPts val="25"/>
              </a:spcBef>
            </a:pPr>
            <a:fld id="{81D60167-4931-47E6-BA6A-407CBD079E47}" type="slidenum">
              <a:rPr lang="en-US" sz="1400" spc="-50" smtClean="0">
                <a:latin typeface="NVIDIA Sans" panose="020B0503020203020204" pitchFamily="34" charset="0"/>
              </a:rPr>
              <a:pPr marL="118745">
                <a:spcBef>
                  <a:spcPts val="25"/>
                </a:spcBef>
              </a:pPr>
              <a:t>16</a:t>
            </a:fld>
            <a:endParaRPr lang="en-US" sz="1400" spc="-50">
              <a:latin typeface="NVIDIA Sans" panose="020B0503020203020204" pitchFamily="34" charset="0"/>
            </a:endParaRPr>
          </a:p>
        </p:txBody>
      </p:sp>
    </p:spTree>
    <p:extLst>
      <p:ext uri="{BB962C8B-B14F-4D97-AF65-F5344CB8AC3E}">
        <p14:creationId xmlns:p14="http://schemas.microsoft.com/office/powerpoint/2010/main" val="25256604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332365B-00C1-C344-9F2D-1960DD16E66A}"/>
              </a:ext>
            </a:extLst>
          </p:cNvPr>
          <p:cNvPicPr>
            <a:picLocks noChangeAspect="1"/>
          </p:cNvPicPr>
          <p:nvPr/>
        </p:nvPicPr>
        <p:blipFill>
          <a:blip r:embed="rId3"/>
          <a:stretch>
            <a:fillRect/>
          </a:stretch>
        </p:blipFill>
        <p:spPr>
          <a:xfrm>
            <a:off x="6451030" y="1690688"/>
            <a:ext cx="5366320" cy="4420987"/>
          </a:xfrm>
          <a:prstGeom prst="rect">
            <a:avLst/>
          </a:prstGeom>
        </p:spPr>
      </p:pic>
      <p:sp>
        <p:nvSpPr>
          <p:cNvPr id="2" name="Title 1">
            <a:extLst>
              <a:ext uri="{FF2B5EF4-FFF2-40B4-BE49-F238E27FC236}">
                <a16:creationId xmlns:a16="http://schemas.microsoft.com/office/drawing/2014/main" id="{319C3394-4E63-6A8C-1617-B8BBF515BCC2}"/>
              </a:ext>
            </a:extLst>
          </p:cNvPr>
          <p:cNvSpPr>
            <a:spLocks noGrp="1"/>
          </p:cNvSpPr>
          <p:nvPr>
            <p:ph type="title"/>
          </p:nvPr>
        </p:nvSpPr>
        <p:spPr/>
        <p:txBody>
          <a:bodyPr>
            <a:normAutofit/>
          </a:bodyPr>
          <a:lstStyle/>
          <a:p>
            <a:pPr algn="ctr"/>
            <a:r>
              <a:rPr lang="en-US" sz="4000" b="1"/>
              <a:t> Device Clustering Optimization Agent</a:t>
            </a:r>
          </a:p>
        </p:txBody>
      </p:sp>
      <p:sp>
        <p:nvSpPr>
          <p:cNvPr id="8" name="Content Placeholder 1">
            <a:extLst>
              <a:ext uri="{FF2B5EF4-FFF2-40B4-BE49-F238E27FC236}">
                <a16:creationId xmlns:a16="http://schemas.microsoft.com/office/drawing/2014/main" id="{834AF810-04F2-B813-51C5-B6C40BB0074F}"/>
              </a:ext>
            </a:extLst>
          </p:cNvPr>
          <p:cNvSpPr>
            <a:spLocks noGrp="1"/>
          </p:cNvSpPr>
          <p:nvPr>
            <p:ph idx="1"/>
          </p:nvPr>
        </p:nvSpPr>
        <p:spPr>
          <a:xfrm>
            <a:off x="838200" y="1825625"/>
            <a:ext cx="5911850" cy="4351338"/>
          </a:xfrm>
        </p:spPr>
        <p:txBody>
          <a:bodyPr>
            <a:normAutofit/>
          </a:bodyPr>
          <a:lstStyle/>
          <a:p>
            <a:pPr marL="0" indent="0">
              <a:buNone/>
            </a:pPr>
            <a:r>
              <a:rPr lang="en-US" sz="2400"/>
              <a:t>Domain knowledge + </a:t>
            </a:r>
            <a:r>
              <a:rPr lang="en-US" sz="2400" err="1"/>
              <a:t>ReACT</a:t>
            </a:r>
            <a:endParaRPr lang="en-US" sz="2400"/>
          </a:p>
          <a:p>
            <a:pPr marL="0" indent="0">
              <a:buNone/>
            </a:pPr>
            <a:r>
              <a:rPr lang="en-US" sz="2400"/>
              <a:t>Domain knowledge extraction</a:t>
            </a:r>
          </a:p>
          <a:p>
            <a:pPr marL="0" indent="0">
              <a:buNone/>
            </a:pPr>
            <a:r>
              <a:rPr lang="en-US" sz="2400"/>
              <a:t>      </a:t>
            </a:r>
            <a:r>
              <a:rPr lang="en-US" sz="2000"/>
              <a:t>Identify important and problematic nets with previous layout</a:t>
            </a:r>
            <a:endParaRPr lang="en-US" sz="2400"/>
          </a:p>
          <a:p>
            <a:pPr marL="0" indent="0">
              <a:buNone/>
            </a:pPr>
            <a:r>
              <a:rPr lang="en-US" sz="2400"/>
              <a:t>Tools</a:t>
            </a:r>
          </a:p>
          <a:p>
            <a:pPr marL="304770" lvl="1" indent="0">
              <a:buNone/>
            </a:pPr>
            <a:r>
              <a:rPr lang="en-US" sz="2000"/>
              <a:t>Cluster evaluator</a:t>
            </a:r>
          </a:p>
          <a:p>
            <a:pPr marL="304770" lvl="1" indent="0">
              <a:buNone/>
            </a:pPr>
            <a:r>
              <a:rPr lang="en-US" sz="2000"/>
              <a:t>Get group devices from nets</a:t>
            </a:r>
          </a:p>
          <a:p>
            <a:pPr marL="457200" lvl="1" indent="-152430">
              <a:buNone/>
            </a:pPr>
            <a:r>
              <a:rPr lang="en-US" sz="2000"/>
              <a:t>Save cluster (Memory)</a:t>
            </a:r>
          </a:p>
          <a:p>
            <a:pPr marL="304770" lvl="1" indent="0">
              <a:buNone/>
            </a:pPr>
            <a:r>
              <a:rPr lang="en-US" sz="2000"/>
              <a:t>Get the best clusters (Memory)</a:t>
            </a:r>
          </a:p>
          <a:p>
            <a:pPr marL="0" indent="0">
              <a:buNone/>
            </a:pPr>
            <a:r>
              <a:rPr lang="en-US" sz="2400">
                <a:solidFill>
                  <a:schemeClr val="accent6"/>
                </a:solidFill>
              </a:rPr>
              <a:t>Achieved 5% area reduction</a:t>
            </a:r>
          </a:p>
        </p:txBody>
      </p:sp>
      <p:sp>
        <p:nvSpPr>
          <p:cNvPr id="5" name="TextBox 4">
            <a:extLst>
              <a:ext uri="{FF2B5EF4-FFF2-40B4-BE49-F238E27FC236}">
                <a16:creationId xmlns:a16="http://schemas.microsoft.com/office/drawing/2014/main" id="{5383F61F-2939-0F0A-1DF1-BDA4AD04A84F}"/>
              </a:ext>
            </a:extLst>
          </p:cNvPr>
          <p:cNvSpPr txBox="1"/>
          <p:nvPr/>
        </p:nvSpPr>
        <p:spPr>
          <a:xfrm>
            <a:off x="425330" y="6338986"/>
            <a:ext cx="9146881" cy="307777"/>
          </a:xfrm>
          <a:prstGeom prst="rect">
            <a:avLst/>
          </a:prstGeom>
          <a:noFill/>
        </p:spPr>
        <p:txBody>
          <a:bodyPr wrap="square">
            <a:spAutoFit/>
          </a:bodyPr>
          <a:lstStyle/>
          <a:p>
            <a:r>
              <a:rPr lang="en-US" sz="1400" i="1">
                <a:latin typeface="NVIDIA Sans" panose="020B0503020203020204" pitchFamily="34" charset="0"/>
              </a:rPr>
              <a:t>C.-T. Ho et al, Large Language Model (LLM) for Standard Cell Layout Design Optimization</a:t>
            </a:r>
          </a:p>
        </p:txBody>
      </p:sp>
      <p:sp>
        <p:nvSpPr>
          <p:cNvPr id="3" name="object 4">
            <a:extLst>
              <a:ext uri="{FF2B5EF4-FFF2-40B4-BE49-F238E27FC236}">
                <a16:creationId xmlns:a16="http://schemas.microsoft.com/office/drawing/2014/main" id="{ADFE18C9-A116-FF18-F6A7-A50078CEDBC8}"/>
              </a:ext>
            </a:extLst>
          </p:cNvPr>
          <p:cNvSpPr txBox="1">
            <a:spLocks/>
          </p:cNvSpPr>
          <p:nvPr/>
        </p:nvSpPr>
        <p:spPr>
          <a:xfrm>
            <a:off x="10616339" y="6391299"/>
            <a:ext cx="365239" cy="218650"/>
          </a:xfrm>
          <a:prstGeom prst="rect">
            <a:avLst/>
          </a:prstGeom>
        </p:spPr>
        <p:txBody>
          <a:bodyPr vert="horz" wrap="square" lIns="0" tIns="317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18745">
              <a:spcBef>
                <a:spcPts val="25"/>
              </a:spcBef>
            </a:pPr>
            <a:fld id="{81D60167-4931-47E6-BA6A-407CBD079E47}" type="slidenum">
              <a:rPr lang="en-US" sz="1400" spc="-50" smtClean="0">
                <a:latin typeface="NVIDIA Sans" panose="020B0503020203020204" pitchFamily="34" charset="0"/>
              </a:rPr>
              <a:pPr marL="118745">
                <a:spcBef>
                  <a:spcPts val="25"/>
                </a:spcBef>
              </a:pPr>
              <a:t>17</a:t>
            </a:fld>
            <a:endParaRPr lang="en-US" sz="1400" spc="-50">
              <a:latin typeface="NVIDIA Sans" panose="020B0503020203020204" pitchFamily="34" charset="0"/>
            </a:endParaRPr>
          </a:p>
        </p:txBody>
      </p:sp>
      <p:pic>
        <p:nvPicPr>
          <p:cNvPr id="4" name="Picture 3">
            <a:extLst>
              <a:ext uri="{FF2B5EF4-FFF2-40B4-BE49-F238E27FC236}">
                <a16:creationId xmlns:a16="http://schemas.microsoft.com/office/drawing/2014/main" id="{833AE812-4C8C-3911-A05B-13F4EAFEB05C}"/>
              </a:ext>
            </a:extLst>
          </p:cNvPr>
          <p:cNvPicPr>
            <a:picLocks noChangeAspect="1"/>
          </p:cNvPicPr>
          <p:nvPr/>
        </p:nvPicPr>
        <p:blipFill>
          <a:blip r:embed="rId4"/>
          <a:stretch>
            <a:fillRect/>
          </a:stretch>
        </p:blipFill>
        <p:spPr>
          <a:xfrm>
            <a:off x="9056530" y="4296871"/>
            <a:ext cx="586891" cy="541160"/>
          </a:xfrm>
          <a:prstGeom prst="rect">
            <a:avLst/>
          </a:prstGeom>
        </p:spPr>
      </p:pic>
    </p:spTree>
    <p:extLst>
      <p:ext uri="{BB962C8B-B14F-4D97-AF65-F5344CB8AC3E}">
        <p14:creationId xmlns:p14="http://schemas.microsoft.com/office/powerpoint/2010/main" val="36103415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142C9-CE7A-3DEA-C5D3-219C2F780CAC}"/>
              </a:ext>
            </a:extLst>
          </p:cNvPr>
          <p:cNvSpPr>
            <a:spLocks noGrp="1"/>
          </p:cNvSpPr>
          <p:nvPr>
            <p:ph type="title"/>
          </p:nvPr>
        </p:nvSpPr>
        <p:spPr/>
        <p:txBody>
          <a:bodyPr>
            <a:normAutofit/>
          </a:bodyPr>
          <a:lstStyle/>
          <a:p>
            <a:pPr algn="ctr"/>
            <a:r>
              <a:rPr lang="en-US" sz="4000" b="1"/>
              <a:t>Device Clustering Optimization Agent</a:t>
            </a:r>
          </a:p>
        </p:txBody>
      </p:sp>
      <p:sp>
        <p:nvSpPr>
          <p:cNvPr id="4" name="TextBox 3">
            <a:extLst>
              <a:ext uri="{FF2B5EF4-FFF2-40B4-BE49-F238E27FC236}">
                <a16:creationId xmlns:a16="http://schemas.microsoft.com/office/drawing/2014/main" id="{505598E9-313B-2658-7131-1F1A9C65CA9E}"/>
              </a:ext>
            </a:extLst>
          </p:cNvPr>
          <p:cNvSpPr txBox="1"/>
          <p:nvPr/>
        </p:nvSpPr>
        <p:spPr>
          <a:xfrm>
            <a:off x="6187218" y="1944711"/>
            <a:ext cx="4745535" cy="1754326"/>
          </a:xfrm>
          <a:prstGeom prst="rect">
            <a:avLst/>
          </a:prstGeom>
          <a:noFill/>
        </p:spPr>
        <p:txBody>
          <a:bodyPr wrap="square">
            <a:spAutoFit/>
          </a:bodyPr>
          <a:lstStyle/>
          <a:p>
            <a:r>
              <a:rPr lang="en-US" b="1">
                <a:latin typeface="NVIDIA Sans" panose="020B0503020203020204" pitchFamily="34" charset="0"/>
              </a:rPr>
              <a:t>Thought</a:t>
            </a:r>
            <a:r>
              <a:rPr lang="en-US">
                <a:latin typeface="NVIDIA Sans" panose="020B0503020203020204" pitchFamily="34" charset="0"/>
              </a:rPr>
              <a:t>: </a:t>
            </a:r>
          </a:p>
          <a:p>
            <a:r>
              <a:rPr lang="en-US" i="1">
                <a:latin typeface="NVIDIA Sans" panose="020B0503020203020204" pitchFamily="34" charset="0"/>
              </a:rPr>
              <a:t>By identifying the nets with the most connections and resolving the issues with problematic nets, I can improve the score. </a:t>
            </a:r>
          </a:p>
          <a:p>
            <a:endParaRPr lang="en-US">
              <a:latin typeface="NVIDIA Sans" panose="020B0503020203020204" pitchFamily="34" charset="0"/>
            </a:endParaRPr>
          </a:p>
          <a:p>
            <a:endParaRPr lang="en-US" i="1">
              <a:latin typeface="NVIDIA Sans" panose="020B0503020203020204" pitchFamily="34" charset="0"/>
            </a:endParaRPr>
          </a:p>
        </p:txBody>
      </p:sp>
      <p:sp>
        <p:nvSpPr>
          <p:cNvPr id="7" name="TextBox 6">
            <a:extLst>
              <a:ext uri="{FF2B5EF4-FFF2-40B4-BE49-F238E27FC236}">
                <a16:creationId xmlns:a16="http://schemas.microsoft.com/office/drawing/2014/main" id="{B9E5FA71-578D-6D9A-2A29-F283573883D3}"/>
              </a:ext>
            </a:extLst>
          </p:cNvPr>
          <p:cNvSpPr txBox="1"/>
          <p:nvPr/>
        </p:nvSpPr>
        <p:spPr>
          <a:xfrm>
            <a:off x="6174983" y="3509446"/>
            <a:ext cx="5545914" cy="923330"/>
          </a:xfrm>
          <a:prstGeom prst="rect">
            <a:avLst/>
          </a:prstGeom>
          <a:noFill/>
        </p:spPr>
        <p:txBody>
          <a:bodyPr wrap="square">
            <a:spAutoFit/>
          </a:bodyPr>
          <a:lstStyle/>
          <a:p>
            <a:r>
              <a:rPr lang="en-US" b="1">
                <a:latin typeface="NVIDIA Sans" panose="020B0503020203020204" pitchFamily="34" charset="0"/>
              </a:rPr>
              <a:t>Observation</a:t>
            </a:r>
            <a:r>
              <a:rPr lang="en-US">
                <a:latin typeface="NVIDIA Sans" panose="020B0503020203020204" pitchFamily="34" charset="0"/>
              </a:rPr>
              <a:t>: </a:t>
            </a:r>
          </a:p>
          <a:p>
            <a:r>
              <a:rPr lang="en-US" i="1">
                <a:latin typeface="NVIDIA Sans" panose="020B0503020203020204" pitchFamily="34" charset="0"/>
              </a:rPr>
              <a:t>The MOSFETs connected to XM_MP1_PFB …</a:t>
            </a:r>
          </a:p>
          <a:p>
            <a:r>
              <a:rPr lang="en-US" i="1">
                <a:latin typeface="NVIDIA Sans" panose="020B0503020203020204" pitchFamily="34" charset="0"/>
              </a:rPr>
              <a:t>Cluster score :  0.4875</a:t>
            </a:r>
          </a:p>
        </p:txBody>
      </p:sp>
      <p:sp>
        <p:nvSpPr>
          <p:cNvPr id="9" name="TextBox 8">
            <a:extLst>
              <a:ext uri="{FF2B5EF4-FFF2-40B4-BE49-F238E27FC236}">
                <a16:creationId xmlns:a16="http://schemas.microsoft.com/office/drawing/2014/main" id="{33380309-0053-19C6-2391-564748D64F37}"/>
              </a:ext>
            </a:extLst>
          </p:cNvPr>
          <p:cNvSpPr txBox="1"/>
          <p:nvPr/>
        </p:nvSpPr>
        <p:spPr>
          <a:xfrm>
            <a:off x="6241169" y="4792170"/>
            <a:ext cx="4958561" cy="1200329"/>
          </a:xfrm>
          <a:prstGeom prst="rect">
            <a:avLst/>
          </a:prstGeom>
          <a:noFill/>
        </p:spPr>
        <p:txBody>
          <a:bodyPr wrap="square">
            <a:spAutoFit/>
          </a:bodyPr>
          <a:lstStyle/>
          <a:p>
            <a:r>
              <a:rPr lang="en-US" b="1">
                <a:latin typeface="NVIDIA Sans" panose="020B0503020203020204" pitchFamily="34" charset="0"/>
              </a:rPr>
              <a:t>Thought</a:t>
            </a:r>
            <a:r>
              <a:rPr lang="en-US">
                <a:latin typeface="NVIDIA Sans" panose="020B0503020203020204" pitchFamily="34" charset="0"/>
              </a:rPr>
              <a:t>:</a:t>
            </a:r>
          </a:p>
          <a:p>
            <a:r>
              <a:rPr lang="en-US" i="1">
                <a:latin typeface="NVIDIA Sans" panose="020B0503020203020204" pitchFamily="34" charset="0"/>
              </a:rPr>
              <a:t>I should save this potential cluster and continue searching for more potential clusters.</a:t>
            </a:r>
          </a:p>
        </p:txBody>
      </p:sp>
      <p:sp>
        <p:nvSpPr>
          <p:cNvPr id="10" name="TextBox 9">
            <a:extLst>
              <a:ext uri="{FF2B5EF4-FFF2-40B4-BE49-F238E27FC236}">
                <a16:creationId xmlns:a16="http://schemas.microsoft.com/office/drawing/2014/main" id="{B13D24C3-7B16-BAAA-6125-5E3A6CE706A1}"/>
              </a:ext>
            </a:extLst>
          </p:cNvPr>
          <p:cNvSpPr txBox="1"/>
          <p:nvPr/>
        </p:nvSpPr>
        <p:spPr>
          <a:xfrm>
            <a:off x="831198" y="1636935"/>
            <a:ext cx="3926018" cy="1754326"/>
          </a:xfrm>
          <a:prstGeom prst="rect">
            <a:avLst/>
          </a:prstGeom>
          <a:noFill/>
        </p:spPr>
        <p:txBody>
          <a:bodyPr wrap="square">
            <a:spAutoFit/>
          </a:bodyPr>
          <a:lstStyle/>
          <a:p>
            <a:r>
              <a:rPr lang="en-US" b="1">
                <a:latin typeface="NVIDIA Sans" panose="020B0503020203020204" pitchFamily="34" charset="0"/>
              </a:rPr>
              <a:t>Domain knowledge</a:t>
            </a:r>
            <a:r>
              <a:rPr lang="en-US">
                <a:latin typeface="NVIDIA Sans" panose="020B0503020203020204" pitchFamily="34" charset="0"/>
              </a:rPr>
              <a:t>: </a:t>
            </a:r>
            <a:endParaRPr lang="en-US" altLang="zh-CN" i="1">
              <a:latin typeface="NVIDIA Sans" panose="020B0503020203020204" pitchFamily="34" charset="0"/>
            </a:endParaRPr>
          </a:p>
          <a:p>
            <a:r>
              <a:rPr lang="en-US" altLang="zh-CN" i="1">
                <a:latin typeface="NVIDIA Sans" panose="020B0503020203020204" pitchFamily="34" charset="0"/>
              </a:rPr>
              <a:t>Important Net: </a:t>
            </a:r>
            <a:r>
              <a:rPr lang="en-US" i="1">
                <a:latin typeface="NVIDIA Sans" panose="020B0503020203020204" pitchFamily="34" charset="0"/>
              </a:rPr>
              <a:t>NET0222 (5 source and drain terminals, 3 PMOS, 2NMOS)</a:t>
            </a:r>
          </a:p>
          <a:p>
            <a:endParaRPr lang="en-US" altLang="zh-CN" i="1">
              <a:latin typeface="NVIDIA Sans" panose="020B0503020203020204" pitchFamily="34" charset="0"/>
            </a:endParaRPr>
          </a:p>
          <a:p>
            <a:endParaRPr lang="en-US" i="1">
              <a:latin typeface="NVIDIA Sans" panose="020B0503020203020204" pitchFamily="34" charset="0"/>
            </a:endParaRPr>
          </a:p>
        </p:txBody>
      </p:sp>
      <p:sp>
        <p:nvSpPr>
          <p:cNvPr id="20" name="TextBox 19">
            <a:extLst>
              <a:ext uri="{FF2B5EF4-FFF2-40B4-BE49-F238E27FC236}">
                <a16:creationId xmlns:a16="http://schemas.microsoft.com/office/drawing/2014/main" id="{96BF9096-CA77-056F-8056-6A5E4ABF4AA2}"/>
              </a:ext>
            </a:extLst>
          </p:cNvPr>
          <p:cNvSpPr txBox="1"/>
          <p:nvPr/>
        </p:nvSpPr>
        <p:spPr>
          <a:xfrm>
            <a:off x="838200" y="3060696"/>
            <a:ext cx="3840592" cy="1477328"/>
          </a:xfrm>
          <a:prstGeom prst="rect">
            <a:avLst/>
          </a:prstGeom>
          <a:noFill/>
        </p:spPr>
        <p:txBody>
          <a:bodyPr wrap="square">
            <a:spAutoFit/>
          </a:bodyPr>
          <a:lstStyle/>
          <a:p>
            <a:r>
              <a:rPr lang="en-US" b="1">
                <a:latin typeface="NVIDIA Sans" panose="020B0503020203020204" pitchFamily="34" charset="0"/>
              </a:rPr>
              <a:t>Action</a:t>
            </a:r>
            <a:r>
              <a:rPr lang="en-US">
                <a:latin typeface="NVIDIA Sans" panose="020B0503020203020204" pitchFamily="34" charset="0"/>
              </a:rPr>
              <a:t>: </a:t>
            </a:r>
          </a:p>
          <a:p>
            <a:r>
              <a:rPr lang="en-US" i="1" err="1">
                <a:latin typeface="NVIDIA Sans" panose="020B0503020203020204" pitchFamily="34" charset="0"/>
              </a:rPr>
              <a:t>get_MOSFETs_from_net</a:t>
            </a:r>
            <a:r>
              <a:rPr lang="en-US" i="1">
                <a:latin typeface="NVIDIA Sans" panose="020B0503020203020204" pitchFamily="34" charset="0"/>
              </a:rPr>
              <a:t>(NET0222)</a:t>
            </a:r>
          </a:p>
          <a:p>
            <a:r>
              <a:rPr lang="en-US" i="1">
                <a:latin typeface="NVIDIA Sans" panose="020B0503020203020204" pitchFamily="34" charset="0"/>
              </a:rPr>
              <a:t># returns XM_MP1_PFB, …</a:t>
            </a:r>
          </a:p>
          <a:p>
            <a:r>
              <a:rPr lang="en-US" i="1" err="1">
                <a:latin typeface="NVIDIA Sans" panose="020B0503020203020204" pitchFamily="34" charset="0"/>
              </a:rPr>
              <a:t>cluster_evaluation</a:t>
            </a:r>
            <a:r>
              <a:rPr lang="en-US" i="1">
                <a:latin typeface="NVIDIA Sans" panose="020B0503020203020204" pitchFamily="34" charset="0"/>
              </a:rPr>
              <a:t>(XM_MP1_PFB,…)</a:t>
            </a:r>
          </a:p>
        </p:txBody>
      </p:sp>
      <p:cxnSp>
        <p:nvCxnSpPr>
          <p:cNvPr id="27" name="Straight Arrow Connector 26">
            <a:extLst>
              <a:ext uri="{FF2B5EF4-FFF2-40B4-BE49-F238E27FC236}">
                <a16:creationId xmlns:a16="http://schemas.microsoft.com/office/drawing/2014/main" id="{E960C5DF-9B90-86A0-9045-B4F001A5B4A4}"/>
              </a:ext>
            </a:extLst>
          </p:cNvPr>
          <p:cNvCxnSpPr>
            <a:cxnSpLocks/>
            <a:stCxn id="10" idx="3"/>
            <a:endCxn id="4" idx="1"/>
          </p:cNvCxnSpPr>
          <p:nvPr/>
        </p:nvCxnSpPr>
        <p:spPr>
          <a:xfrm>
            <a:off x="4757216" y="2514098"/>
            <a:ext cx="1430002" cy="307776"/>
          </a:xfrm>
          <a:prstGeom prst="straightConnector1">
            <a:avLst/>
          </a:prstGeom>
          <a:ln w="38100">
            <a:solidFill>
              <a:schemeClr val="bg1">
                <a:lumMod val="50000"/>
              </a:schemeClr>
            </a:solidFill>
            <a:prstDash val="sysDash"/>
            <a:tailEnd type="arrow"/>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3CF6A71A-2D30-1FC9-110A-9202019E22B1}"/>
              </a:ext>
            </a:extLst>
          </p:cNvPr>
          <p:cNvCxnSpPr>
            <a:cxnSpLocks/>
            <a:stCxn id="4" idx="1"/>
            <a:endCxn id="20" idx="3"/>
          </p:cNvCxnSpPr>
          <p:nvPr/>
        </p:nvCxnSpPr>
        <p:spPr>
          <a:xfrm flipH="1">
            <a:off x="4678792" y="2821874"/>
            <a:ext cx="1508426" cy="977486"/>
          </a:xfrm>
          <a:prstGeom prst="straightConnector1">
            <a:avLst/>
          </a:prstGeom>
          <a:ln w="38100">
            <a:solidFill>
              <a:schemeClr val="bg1">
                <a:lumMod val="50000"/>
              </a:schemeClr>
            </a:solidFill>
            <a:prstDash val="sysDash"/>
            <a:tailEnd type="arrow"/>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243A1A18-6800-E61A-32D6-6D9AAB92847E}"/>
              </a:ext>
            </a:extLst>
          </p:cNvPr>
          <p:cNvCxnSpPr>
            <a:cxnSpLocks/>
            <a:stCxn id="20" idx="3"/>
            <a:endCxn id="7" idx="1"/>
          </p:cNvCxnSpPr>
          <p:nvPr/>
        </p:nvCxnSpPr>
        <p:spPr>
          <a:xfrm>
            <a:off x="4678792" y="3799360"/>
            <a:ext cx="1496191" cy="171751"/>
          </a:xfrm>
          <a:prstGeom prst="straightConnector1">
            <a:avLst/>
          </a:prstGeom>
          <a:ln w="38100">
            <a:solidFill>
              <a:schemeClr val="bg1">
                <a:lumMod val="50000"/>
              </a:schemeClr>
            </a:solidFill>
            <a:prstDash val="sysDash"/>
            <a:tailEnd type="arrow"/>
          </a:ln>
        </p:spPr>
        <p:style>
          <a:lnRef idx="2">
            <a:schemeClr val="accent1"/>
          </a:lnRef>
          <a:fillRef idx="0">
            <a:schemeClr val="accent1"/>
          </a:fillRef>
          <a:effectRef idx="1">
            <a:schemeClr val="accent1"/>
          </a:effectRef>
          <a:fontRef idx="minor">
            <a:schemeClr val="tx1"/>
          </a:fontRef>
        </p:style>
      </p:cxnSp>
      <p:sp>
        <p:nvSpPr>
          <p:cNvPr id="48" name="TextBox 47">
            <a:extLst>
              <a:ext uri="{FF2B5EF4-FFF2-40B4-BE49-F238E27FC236}">
                <a16:creationId xmlns:a16="http://schemas.microsoft.com/office/drawing/2014/main" id="{F0FDECF2-AA43-F969-45F5-2BD9581C928F}"/>
              </a:ext>
            </a:extLst>
          </p:cNvPr>
          <p:cNvSpPr txBox="1"/>
          <p:nvPr/>
        </p:nvSpPr>
        <p:spPr>
          <a:xfrm>
            <a:off x="877412" y="4915280"/>
            <a:ext cx="3840592" cy="646331"/>
          </a:xfrm>
          <a:prstGeom prst="rect">
            <a:avLst/>
          </a:prstGeom>
          <a:noFill/>
        </p:spPr>
        <p:txBody>
          <a:bodyPr wrap="square">
            <a:spAutoFit/>
          </a:bodyPr>
          <a:lstStyle/>
          <a:p>
            <a:r>
              <a:rPr lang="en-US" b="1">
                <a:latin typeface="NVIDIA Sans" panose="020B0503020203020204" pitchFamily="34" charset="0"/>
              </a:rPr>
              <a:t>Action:</a:t>
            </a:r>
          </a:p>
          <a:p>
            <a:r>
              <a:rPr lang="en-US" i="1" err="1">
                <a:latin typeface="NVIDIA Sans" panose="020B0503020203020204" pitchFamily="34" charset="0"/>
              </a:rPr>
              <a:t>save_cluster</a:t>
            </a:r>
            <a:r>
              <a:rPr lang="en-US" i="1">
                <a:latin typeface="NVIDIA Sans" panose="020B0503020203020204" pitchFamily="34" charset="0"/>
              </a:rPr>
              <a:t>(XM_MP1_PFB,…)</a:t>
            </a:r>
          </a:p>
        </p:txBody>
      </p:sp>
      <p:cxnSp>
        <p:nvCxnSpPr>
          <p:cNvPr id="49" name="Straight Arrow Connector 48">
            <a:extLst>
              <a:ext uri="{FF2B5EF4-FFF2-40B4-BE49-F238E27FC236}">
                <a16:creationId xmlns:a16="http://schemas.microsoft.com/office/drawing/2014/main" id="{D3C3F925-954A-4D20-445C-FD12F12D32E2}"/>
              </a:ext>
            </a:extLst>
          </p:cNvPr>
          <p:cNvCxnSpPr>
            <a:cxnSpLocks/>
            <a:stCxn id="9" idx="1"/>
            <a:endCxn id="48" idx="3"/>
          </p:cNvCxnSpPr>
          <p:nvPr/>
        </p:nvCxnSpPr>
        <p:spPr>
          <a:xfrm flipH="1" flipV="1">
            <a:off x="4718004" y="5238446"/>
            <a:ext cx="1523165" cy="153889"/>
          </a:xfrm>
          <a:prstGeom prst="straightConnector1">
            <a:avLst/>
          </a:prstGeom>
          <a:ln w="38100">
            <a:solidFill>
              <a:schemeClr val="bg1">
                <a:lumMod val="50000"/>
              </a:schemeClr>
            </a:solidFill>
            <a:prstDash val="sysDash"/>
            <a:tailEnd type="arrow"/>
          </a:ln>
        </p:spPr>
        <p:style>
          <a:lnRef idx="2">
            <a:schemeClr val="accent1"/>
          </a:lnRef>
          <a:fillRef idx="0">
            <a:schemeClr val="accent1"/>
          </a:fillRef>
          <a:effectRef idx="1">
            <a:schemeClr val="accent1"/>
          </a:effectRef>
          <a:fontRef idx="minor">
            <a:schemeClr val="tx1"/>
          </a:fontRef>
        </p:style>
      </p:cxnSp>
      <p:sp>
        <p:nvSpPr>
          <p:cNvPr id="5" name="object 4">
            <a:extLst>
              <a:ext uri="{FF2B5EF4-FFF2-40B4-BE49-F238E27FC236}">
                <a16:creationId xmlns:a16="http://schemas.microsoft.com/office/drawing/2014/main" id="{21A8F8C7-234D-3246-00E3-28C13CDC65CF}"/>
              </a:ext>
            </a:extLst>
          </p:cNvPr>
          <p:cNvSpPr txBox="1">
            <a:spLocks/>
          </p:cNvSpPr>
          <p:nvPr/>
        </p:nvSpPr>
        <p:spPr>
          <a:xfrm>
            <a:off x="10616339" y="6391299"/>
            <a:ext cx="365239" cy="218650"/>
          </a:xfrm>
          <a:prstGeom prst="rect">
            <a:avLst/>
          </a:prstGeom>
        </p:spPr>
        <p:txBody>
          <a:bodyPr vert="horz" wrap="square" lIns="0" tIns="317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18745">
              <a:spcBef>
                <a:spcPts val="25"/>
              </a:spcBef>
            </a:pPr>
            <a:fld id="{81D60167-4931-47E6-BA6A-407CBD079E47}" type="slidenum">
              <a:rPr lang="en-US" sz="1400" spc="-50" smtClean="0">
                <a:latin typeface="NVIDIA Sans" panose="020B0503020203020204" pitchFamily="34" charset="0"/>
              </a:rPr>
              <a:pPr marL="118745">
                <a:spcBef>
                  <a:spcPts val="25"/>
                </a:spcBef>
              </a:pPr>
              <a:t>18</a:t>
            </a:fld>
            <a:endParaRPr lang="en-US" sz="1400" spc="-50">
              <a:latin typeface="NVIDIA Sans" panose="020B0503020203020204" pitchFamily="34" charset="0"/>
            </a:endParaRPr>
          </a:p>
        </p:txBody>
      </p:sp>
    </p:spTree>
    <p:extLst>
      <p:ext uri="{BB962C8B-B14F-4D97-AF65-F5344CB8AC3E}">
        <p14:creationId xmlns:p14="http://schemas.microsoft.com/office/powerpoint/2010/main" val="40552636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FBA02-2E80-8A54-249C-440748400BB1}"/>
              </a:ext>
            </a:extLst>
          </p:cNvPr>
          <p:cNvSpPr>
            <a:spLocks noGrp="1"/>
          </p:cNvSpPr>
          <p:nvPr>
            <p:ph type="title"/>
          </p:nvPr>
        </p:nvSpPr>
        <p:spPr>
          <a:xfrm>
            <a:off x="562452" y="365125"/>
            <a:ext cx="10515600" cy="1325563"/>
          </a:xfrm>
        </p:spPr>
        <p:txBody>
          <a:bodyPr>
            <a:normAutofit/>
          </a:bodyPr>
          <a:lstStyle/>
          <a:p>
            <a:r>
              <a:rPr lang="en-US" sz="4000" b="1" err="1">
                <a:cs typeface="NVIDIA Sans"/>
              </a:rPr>
              <a:t>VerilogCoder</a:t>
            </a:r>
            <a:r>
              <a:rPr lang="en-US" sz="4000" b="1">
                <a:cs typeface="NVIDIA Sans"/>
              </a:rPr>
              <a:t> Agent</a:t>
            </a:r>
            <a:endParaRPr lang="en-US" sz="4000" b="1"/>
          </a:p>
        </p:txBody>
      </p:sp>
      <p:sp>
        <p:nvSpPr>
          <p:cNvPr id="3" name="Content Placeholder 2">
            <a:extLst>
              <a:ext uri="{FF2B5EF4-FFF2-40B4-BE49-F238E27FC236}">
                <a16:creationId xmlns:a16="http://schemas.microsoft.com/office/drawing/2014/main" id="{6D10BE17-7A9A-F9CC-A84A-B3234344386F}"/>
              </a:ext>
            </a:extLst>
          </p:cNvPr>
          <p:cNvSpPr>
            <a:spLocks noGrp="1"/>
          </p:cNvSpPr>
          <p:nvPr>
            <p:ph idx="1"/>
          </p:nvPr>
        </p:nvSpPr>
        <p:spPr>
          <a:xfrm>
            <a:off x="562452" y="1825625"/>
            <a:ext cx="5966685" cy="4351338"/>
          </a:xfrm>
        </p:spPr>
        <p:txBody>
          <a:bodyPr vert="horz" lIns="30480" tIns="15240" rIns="30480" bIns="15240" rtlCol="0" anchor="t">
            <a:normAutofit/>
          </a:bodyPr>
          <a:lstStyle/>
          <a:p>
            <a:pPr marL="0" indent="0">
              <a:buNone/>
            </a:pPr>
            <a:r>
              <a:rPr lang="en-US" sz="2400"/>
              <a:t>Improve SOTA on </a:t>
            </a:r>
            <a:r>
              <a:rPr lang="en-US" sz="2400" err="1"/>
              <a:t>VerilogEval</a:t>
            </a:r>
            <a:r>
              <a:rPr lang="en-US" sz="2400"/>
              <a:t>(Human) from 60.3% to 94.2% </a:t>
            </a:r>
            <a:endParaRPr lang="en-US" sz="2400">
              <a:cs typeface="NVIDIA Sans"/>
            </a:endParaRPr>
          </a:p>
          <a:p>
            <a:pPr marL="0" indent="0">
              <a:buNone/>
            </a:pPr>
            <a:r>
              <a:rPr lang="en-US" sz="2400">
                <a:cs typeface="NVIDIA Sans"/>
              </a:rPr>
              <a:t>Task-Flow Driven Multi-Agents with specialized tools</a:t>
            </a:r>
          </a:p>
          <a:p>
            <a:pPr marL="0" indent="0">
              <a:buNone/>
            </a:pPr>
            <a:r>
              <a:rPr lang="en-US" sz="2400">
                <a:solidFill>
                  <a:schemeClr val="accent6"/>
                </a:solidFill>
                <a:cs typeface="NVIDIA Sans"/>
              </a:rPr>
              <a:t>Task Planning</a:t>
            </a:r>
          </a:p>
          <a:p>
            <a:pPr marL="457200" lvl="1" indent="0">
              <a:buNone/>
            </a:pPr>
            <a:r>
              <a:rPr lang="en-US" sz="1800">
                <a:cs typeface="NVIDIA Sans"/>
              </a:rPr>
              <a:t>Task-Driven Circuit Relation Graph (TCRG)</a:t>
            </a:r>
            <a:endParaRPr lang="en-US" sz="1800"/>
          </a:p>
          <a:p>
            <a:pPr marL="0" indent="0">
              <a:buNone/>
            </a:pPr>
            <a:r>
              <a:rPr lang="en-US" sz="2400">
                <a:solidFill>
                  <a:schemeClr val="accent6"/>
                </a:solidFill>
                <a:cs typeface="NVIDIA Sans"/>
              </a:rPr>
              <a:t>Code Implementation</a:t>
            </a:r>
            <a:endParaRPr lang="en-US" sz="2400">
              <a:solidFill>
                <a:schemeClr val="accent6"/>
              </a:solidFill>
            </a:endParaRPr>
          </a:p>
          <a:p>
            <a:pPr marL="457200" lvl="1" indent="0">
              <a:buNone/>
            </a:pPr>
            <a:r>
              <a:rPr lang="en-US" sz="1800">
                <a:cs typeface="NVIDIA Sans"/>
              </a:rPr>
              <a:t>AST-guided waveform debugging tool</a:t>
            </a:r>
            <a:endParaRPr lang="en-US" sz="1800"/>
          </a:p>
          <a:p>
            <a:pPr marL="0" indent="0">
              <a:buNone/>
            </a:pPr>
            <a:endParaRPr lang="en-US" sz="2000"/>
          </a:p>
          <a:p>
            <a:endParaRPr lang="en-US" sz="2000"/>
          </a:p>
        </p:txBody>
      </p:sp>
      <p:pic>
        <p:nvPicPr>
          <p:cNvPr id="7" name="Picture 6">
            <a:extLst>
              <a:ext uri="{FF2B5EF4-FFF2-40B4-BE49-F238E27FC236}">
                <a16:creationId xmlns:a16="http://schemas.microsoft.com/office/drawing/2014/main" id="{1D23E39C-72B4-0841-0A0F-57AA0A43F723}"/>
              </a:ext>
            </a:extLst>
          </p:cNvPr>
          <p:cNvPicPr>
            <a:picLocks noChangeAspect="1"/>
          </p:cNvPicPr>
          <p:nvPr/>
        </p:nvPicPr>
        <p:blipFill>
          <a:blip r:embed="rId3"/>
          <a:stretch>
            <a:fillRect/>
          </a:stretch>
        </p:blipFill>
        <p:spPr>
          <a:xfrm>
            <a:off x="6849334" y="607154"/>
            <a:ext cx="4287240" cy="5569809"/>
          </a:xfrm>
          <a:prstGeom prst="rect">
            <a:avLst/>
          </a:prstGeom>
        </p:spPr>
      </p:pic>
      <p:sp>
        <p:nvSpPr>
          <p:cNvPr id="8" name="TextBox 7">
            <a:extLst>
              <a:ext uri="{FF2B5EF4-FFF2-40B4-BE49-F238E27FC236}">
                <a16:creationId xmlns:a16="http://schemas.microsoft.com/office/drawing/2014/main" id="{F5248C42-8C50-5345-3CFA-7833692A7906}"/>
              </a:ext>
            </a:extLst>
          </p:cNvPr>
          <p:cNvSpPr txBox="1"/>
          <p:nvPr/>
        </p:nvSpPr>
        <p:spPr>
          <a:xfrm>
            <a:off x="562452" y="6141396"/>
            <a:ext cx="6632708" cy="523220"/>
          </a:xfrm>
          <a:prstGeom prst="rect">
            <a:avLst/>
          </a:prstGeom>
          <a:noFill/>
        </p:spPr>
        <p:txBody>
          <a:bodyPr wrap="square">
            <a:spAutoFit/>
          </a:bodyPr>
          <a:lstStyle/>
          <a:p>
            <a:r>
              <a:rPr lang="en-US" sz="1400" i="1">
                <a:latin typeface="NVIDIA Sans" panose="020B0503020203020204" pitchFamily="34" charset="0"/>
              </a:rPr>
              <a:t>C.-T. Ho et al, </a:t>
            </a:r>
            <a:r>
              <a:rPr lang="en-US" sz="1400" i="1" err="1">
                <a:latin typeface="NVIDIA Sans" panose="020B0503020203020204" pitchFamily="34" charset="0"/>
              </a:rPr>
              <a:t>VerilogCoder</a:t>
            </a:r>
            <a:r>
              <a:rPr lang="en-US" sz="1400" i="1">
                <a:latin typeface="NVIDIA Sans" panose="020B0503020203020204" pitchFamily="34" charset="0"/>
              </a:rPr>
              <a:t>: Autonomous Verilog Coding Agents with Graph-based Planning and Abstract Syntax Tree (AST)-based Waveform Tracing Tool</a:t>
            </a:r>
          </a:p>
        </p:txBody>
      </p:sp>
      <p:sp>
        <p:nvSpPr>
          <p:cNvPr id="5" name="object 4">
            <a:extLst>
              <a:ext uri="{FF2B5EF4-FFF2-40B4-BE49-F238E27FC236}">
                <a16:creationId xmlns:a16="http://schemas.microsoft.com/office/drawing/2014/main" id="{A2EB6136-5235-295D-3F92-5C83314C5B24}"/>
              </a:ext>
            </a:extLst>
          </p:cNvPr>
          <p:cNvSpPr txBox="1">
            <a:spLocks/>
          </p:cNvSpPr>
          <p:nvPr/>
        </p:nvSpPr>
        <p:spPr>
          <a:xfrm>
            <a:off x="10616339" y="6391299"/>
            <a:ext cx="365239" cy="218650"/>
          </a:xfrm>
          <a:prstGeom prst="rect">
            <a:avLst/>
          </a:prstGeom>
        </p:spPr>
        <p:txBody>
          <a:bodyPr vert="horz" wrap="square" lIns="0" tIns="317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18745">
              <a:spcBef>
                <a:spcPts val="25"/>
              </a:spcBef>
            </a:pPr>
            <a:fld id="{81D60167-4931-47E6-BA6A-407CBD079E47}" type="slidenum">
              <a:rPr lang="en-US" sz="1400" spc="-50" smtClean="0">
                <a:latin typeface="NVIDIA Sans" panose="020B0503020203020204" pitchFamily="34" charset="0"/>
              </a:rPr>
              <a:pPr marL="118745">
                <a:spcBef>
                  <a:spcPts val="25"/>
                </a:spcBef>
              </a:pPr>
              <a:t>19</a:t>
            </a:fld>
            <a:endParaRPr lang="en-US" sz="1400" spc="-50">
              <a:latin typeface="NVIDIA Sans" panose="020B0503020203020204" pitchFamily="34" charset="0"/>
            </a:endParaRPr>
          </a:p>
        </p:txBody>
      </p:sp>
    </p:spTree>
    <p:extLst>
      <p:ext uri="{BB962C8B-B14F-4D97-AF65-F5344CB8AC3E}">
        <p14:creationId xmlns:p14="http://schemas.microsoft.com/office/powerpoint/2010/main" val="39338193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3E6C9A4-37EE-033E-C213-4C44E0D32B32}"/>
              </a:ext>
            </a:extLst>
          </p:cNvPr>
          <p:cNvPicPr>
            <a:picLocks noChangeAspect="1"/>
          </p:cNvPicPr>
          <p:nvPr/>
        </p:nvPicPr>
        <p:blipFill>
          <a:blip r:embed="rId3"/>
          <a:stretch>
            <a:fillRect/>
          </a:stretch>
        </p:blipFill>
        <p:spPr>
          <a:xfrm>
            <a:off x="1877689" y="4904183"/>
            <a:ext cx="1384255" cy="947123"/>
          </a:xfrm>
          <a:prstGeom prst="rect">
            <a:avLst/>
          </a:prstGeom>
        </p:spPr>
      </p:pic>
      <p:sp>
        <p:nvSpPr>
          <p:cNvPr id="4" name="Title 3">
            <a:extLst>
              <a:ext uri="{FF2B5EF4-FFF2-40B4-BE49-F238E27FC236}">
                <a16:creationId xmlns:a16="http://schemas.microsoft.com/office/drawing/2014/main" id="{F16C5838-5B15-4295-A6AB-336C44034843}"/>
              </a:ext>
            </a:extLst>
          </p:cNvPr>
          <p:cNvSpPr>
            <a:spLocks noGrp="1"/>
          </p:cNvSpPr>
          <p:nvPr>
            <p:ph type="title"/>
          </p:nvPr>
        </p:nvSpPr>
        <p:spPr/>
        <p:txBody>
          <a:bodyPr>
            <a:normAutofit/>
          </a:bodyPr>
          <a:lstStyle/>
          <a:p>
            <a:pPr algn="ctr"/>
            <a:r>
              <a:rPr lang="en-US" sz="4000" b="1"/>
              <a:t>Task Planning</a:t>
            </a:r>
          </a:p>
        </p:txBody>
      </p:sp>
      <p:sp>
        <p:nvSpPr>
          <p:cNvPr id="6" name="object 4">
            <a:extLst>
              <a:ext uri="{FF2B5EF4-FFF2-40B4-BE49-F238E27FC236}">
                <a16:creationId xmlns:a16="http://schemas.microsoft.com/office/drawing/2014/main" id="{FC106895-4EA8-6387-3492-747940F5A431}"/>
              </a:ext>
            </a:extLst>
          </p:cNvPr>
          <p:cNvSpPr txBox="1">
            <a:spLocks/>
          </p:cNvSpPr>
          <p:nvPr/>
        </p:nvSpPr>
        <p:spPr>
          <a:xfrm>
            <a:off x="10616339" y="6391299"/>
            <a:ext cx="365239" cy="218650"/>
          </a:xfrm>
          <a:prstGeom prst="rect">
            <a:avLst/>
          </a:prstGeom>
        </p:spPr>
        <p:txBody>
          <a:bodyPr vert="horz" wrap="square" lIns="0" tIns="317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18745">
              <a:spcBef>
                <a:spcPts val="25"/>
              </a:spcBef>
            </a:pPr>
            <a:fld id="{81D60167-4931-47E6-BA6A-407CBD079E47}" type="slidenum">
              <a:rPr lang="en-US" sz="1400" spc="-50" smtClean="0">
                <a:latin typeface="NVIDIA Sans" panose="020B0503020203020204" pitchFamily="34" charset="0"/>
              </a:rPr>
              <a:pPr marL="118745">
                <a:spcBef>
                  <a:spcPts val="25"/>
                </a:spcBef>
              </a:pPr>
              <a:t>20</a:t>
            </a:fld>
            <a:endParaRPr lang="en-US" sz="1400" spc="-50">
              <a:latin typeface="NVIDIA Sans" panose="020B0503020203020204" pitchFamily="34" charset="0"/>
            </a:endParaRPr>
          </a:p>
        </p:txBody>
      </p:sp>
      <p:pic>
        <p:nvPicPr>
          <p:cNvPr id="14" name="Picture 13">
            <a:extLst>
              <a:ext uri="{FF2B5EF4-FFF2-40B4-BE49-F238E27FC236}">
                <a16:creationId xmlns:a16="http://schemas.microsoft.com/office/drawing/2014/main" id="{C3F6C091-CAD7-36A4-7555-7083FD363B90}"/>
              </a:ext>
            </a:extLst>
          </p:cNvPr>
          <p:cNvPicPr>
            <a:picLocks noChangeAspect="1"/>
          </p:cNvPicPr>
          <p:nvPr/>
        </p:nvPicPr>
        <p:blipFill>
          <a:blip r:embed="rId4"/>
          <a:stretch>
            <a:fillRect/>
          </a:stretch>
        </p:blipFill>
        <p:spPr>
          <a:xfrm>
            <a:off x="4074433" y="1757829"/>
            <a:ext cx="2960848" cy="2341135"/>
          </a:xfrm>
          <a:prstGeom prst="rect">
            <a:avLst/>
          </a:prstGeom>
        </p:spPr>
      </p:pic>
      <p:pic>
        <p:nvPicPr>
          <p:cNvPr id="17" name="Picture 16">
            <a:extLst>
              <a:ext uri="{FF2B5EF4-FFF2-40B4-BE49-F238E27FC236}">
                <a16:creationId xmlns:a16="http://schemas.microsoft.com/office/drawing/2014/main" id="{3DFD02EB-44CB-0B9E-C6C4-6086BFA8C3E6}"/>
              </a:ext>
            </a:extLst>
          </p:cNvPr>
          <p:cNvPicPr>
            <a:picLocks noChangeAspect="1"/>
          </p:cNvPicPr>
          <p:nvPr/>
        </p:nvPicPr>
        <p:blipFill>
          <a:blip r:embed="rId5"/>
          <a:stretch>
            <a:fillRect/>
          </a:stretch>
        </p:blipFill>
        <p:spPr>
          <a:xfrm>
            <a:off x="339757" y="1771990"/>
            <a:ext cx="3159249" cy="2326974"/>
          </a:xfrm>
          <a:prstGeom prst="rect">
            <a:avLst/>
          </a:prstGeom>
        </p:spPr>
      </p:pic>
      <p:pic>
        <p:nvPicPr>
          <p:cNvPr id="19" name="Picture 18">
            <a:extLst>
              <a:ext uri="{FF2B5EF4-FFF2-40B4-BE49-F238E27FC236}">
                <a16:creationId xmlns:a16="http://schemas.microsoft.com/office/drawing/2014/main" id="{B951E079-8FF9-A8AB-4CB9-1AB4EDC32644}"/>
              </a:ext>
            </a:extLst>
          </p:cNvPr>
          <p:cNvPicPr>
            <a:picLocks noChangeAspect="1"/>
          </p:cNvPicPr>
          <p:nvPr/>
        </p:nvPicPr>
        <p:blipFill>
          <a:blip r:embed="rId6"/>
          <a:stretch>
            <a:fillRect/>
          </a:stretch>
        </p:blipFill>
        <p:spPr>
          <a:xfrm>
            <a:off x="1753365" y="4320709"/>
            <a:ext cx="4048625" cy="2164775"/>
          </a:xfrm>
          <a:prstGeom prst="rect">
            <a:avLst/>
          </a:prstGeom>
        </p:spPr>
      </p:pic>
      <p:pic>
        <p:nvPicPr>
          <p:cNvPr id="22" name="Picture 21">
            <a:extLst>
              <a:ext uri="{FF2B5EF4-FFF2-40B4-BE49-F238E27FC236}">
                <a16:creationId xmlns:a16="http://schemas.microsoft.com/office/drawing/2014/main" id="{729324E4-8485-2B38-F837-467FCCEC3710}"/>
              </a:ext>
            </a:extLst>
          </p:cNvPr>
          <p:cNvPicPr>
            <a:picLocks noChangeAspect="1"/>
          </p:cNvPicPr>
          <p:nvPr/>
        </p:nvPicPr>
        <p:blipFill>
          <a:blip r:embed="rId7"/>
          <a:stretch>
            <a:fillRect/>
          </a:stretch>
        </p:blipFill>
        <p:spPr>
          <a:xfrm>
            <a:off x="7637000" y="1745103"/>
            <a:ext cx="3982006" cy="371527"/>
          </a:xfrm>
          <a:prstGeom prst="rect">
            <a:avLst/>
          </a:prstGeom>
        </p:spPr>
      </p:pic>
      <p:pic>
        <p:nvPicPr>
          <p:cNvPr id="23" name="Picture 22">
            <a:extLst>
              <a:ext uri="{FF2B5EF4-FFF2-40B4-BE49-F238E27FC236}">
                <a16:creationId xmlns:a16="http://schemas.microsoft.com/office/drawing/2014/main" id="{0711A4FF-535F-E8D1-D025-C663D5675164}"/>
              </a:ext>
            </a:extLst>
          </p:cNvPr>
          <p:cNvPicPr>
            <a:picLocks noChangeAspect="1"/>
          </p:cNvPicPr>
          <p:nvPr/>
        </p:nvPicPr>
        <p:blipFill>
          <a:blip r:embed="rId8"/>
          <a:stretch>
            <a:fillRect/>
          </a:stretch>
        </p:blipFill>
        <p:spPr>
          <a:xfrm>
            <a:off x="7637000" y="2683894"/>
            <a:ext cx="3982006" cy="1752845"/>
          </a:xfrm>
          <a:prstGeom prst="rect">
            <a:avLst/>
          </a:prstGeom>
        </p:spPr>
      </p:pic>
      <p:pic>
        <p:nvPicPr>
          <p:cNvPr id="24" name="Picture 23">
            <a:extLst>
              <a:ext uri="{FF2B5EF4-FFF2-40B4-BE49-F238E27FC236}">
                <a16:creationId xmlns:a16="http://schemas.microsoft.com/office/drawing/2014/main" id="{B695E756-ED7C-28E2-9929-E6D276C4A3E5}"/>
              </a:ext>
            </a:extLst>
          </p:cNvPr>
          <p:cNvPicPr>
            <a:picLocks noChangeAspect="1"/>
          </p:cNvPicPr>
          <p:nvPr/>
        </p:nvPicPr>
        <p:blipFill>
          <a:blip r:embed="rId9"/>
          <a:stretch>
            <a:fillRect/>
          </a:stretch>
        </p:blipFill>
        <p:spPr>
          <a:xfrm>
            <a:off x="7646527" y="4685411"/>
            <a:ext cx="3962953" cy="1152686"/>
          </a:xfrm>
          <a:prstGeom prst="rect">
            <a:avLst/>
          </a:prstGeom>
        </p:spPr>
      </p:pic>
      <p:pic>
        <p:nvPicPr>
          <p:cNvPr id="25" name="Picture 24">
            <a:extLst>
              <a:ext uri="{FF2B5EF4-FFF2-40B4-BE49-F238E27FC236}">
                <a16:creationId xmlns:a16="http://schemas.microsoft.com/office/drawing/2014/main" id="{13F71972-058D-35B5-B4CC-AD6893E2B9DE}"/>
              </a:ext>
            </a:extLst>
          </p:cNvPr>
          <p:cNvPicPr>
            <a:picLocks noChangeAspect="1"/>
          </p:cNvPicPr>
          <p:nvPr/>
        </p:nvPicPr>
        <p:blipFill>
          <a:blip r:embed="rId10"/>
          <a:stretch>
            <a:fillRect/>
          </a:stretch>
        </p:blipFill>
        <p:spPr>
          <a:xfrm>
            <a:off x="7651290" y="6092067"/>
            <a:ext cx="3953427" cy="352474"/>
          </a:xfrm>
          <a:prstGeom prst="rect">
            <a:avLst/>
          </a:prstGeom>
        </p:spPr>
      </p:pic>
      <p:sp>
        <p:nvSpPr>
          <p:cNvPr id="26" name="Arrow: Down 25">
            <a:extLst>
              <a:ext uri="{FF2B5EF4-FFF2-40B4-BE49-F238E27FC236}">
                <a16:creationId xmlns:a16="http://schemas.microsoft.com/office/drawing/2014/main" id="{634D960B-D58B-D3C4-C0A1-B26400248766}"/>
              </a:ext>
            </a:extLst>
          </p:cNvPr>
          <p:cNvSpPr/>
          <p:nvPr/>
        </p:nvSpPr>
        <p:spPr>
          <a:xfrm>
            <a:off x="9497828" y="4457200"/>
            <a:ext cx="260350" cy="255269"/>
          </a:xfrm>
          <a:prstGeom prst="down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NVIDIA Sans" panose="020B0503020203020204" pitchFamily="34" charset="0"/>
            </a:endParaRPr>
          </a:p>
        </p:txBody>
      </p:sp>
      <p:sp>
        <p:nvSpPr>
          <p:cNvPr id="27" name="Arrow: Down 26">
            <a:extLst>
              <a:ext uri="{FF2B5EF4-FFF2-40B4-BE49-F238E27FC236}">
                <a16:creationId xmlns:a16="http://schemas.microsoft.com/office/drawing/2014/main" id="{DBEB8394-7212-4D9B-467A-587B29906509}"/>
              </a:ext>
            </a:extLst>
          </p:cNvPr>
          <p:cNvSpPr/>
          <p:nvPr/>
        </p:nvSpPr>
        <p:spPr>
          <a:xfrm>
            <a:off x="9497828" y="5854010"/>
            <a:ext cx="260350" cy="255269"/>
          </a:xfrm>
          <a:prstGeom prst="down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NVIDIA Sans" panose="020B0503020203020204" pitchFamily="34" charset="0"/>
            </a:endParaRPr>
          </a:p>
        </p:txBody>
      </p:sp>
      <p:grpSp>
        <p:nvGrpSpPr>
          <p:cNvPr id="28" name="Group 27">
            <a:extLst>
              <a:ext uri="{FF2B5EF4-FFF2-40B4-BE49-F238E27FC236}">
                <a16:creationId xmlns:a16="http://schemas.microsoft.com/office/drawing/2014/main" id="{63285298-F6F0-6C1F-495B-F7579EA8A4B7}"/>
              </a:ext>
            </a:extLst>
          </p:cNvPr>
          <p:cNvGrpSpPr/>
          <p:nvPr/>
        </p:nvGrpSpPr>
        <p:grpSpPr>
          <a:xfrm>
            <a:off x="9497828" y="2168370"/>
            <a:ext cx="260350" cy="551252"/>
            <a:chOff x="9358966" y="2178699"/>
            <a:chExt cx="260350" cy="551252"/>
          </a:xfrm>
        </p:grpSpPr>
        <p:sp>
          <p:nvSpPr>
            <p:cNvPr id="29" name="Arrow: Down 28">
              <a:extLst>
                <a:ext uri="{FF2B5EF4-FFF2-40B4-BE49-F238E27FC236}">
                  <a16:creationId xmlns:a16="http://schemas.microsoft.com/office/drawing/2014/main" id="{8EDB08C9-6297-3B87-77C1-2242070A0214}"/>
                </a:ext>
              </a:extLst>
            </p:cNvPr>
            <p:cNvSpPr/>
            <p:nvPr/>
          </p:nvSpPr>
          <p:spPr>
            <a:xfrm>
              <a:off x="9358966" y="2474682"/>
              <a:ext cx="260350" cy="255269"/>
            </a:xfrm>
            <a:prstGeom prst="down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NVIDIA Sans" panose="020B0503020203020204" pitchFamily="34" charset="0"/>
              </a:endParaRPr>
            </a:p>
          </p:txBody>
        </p:sp>
        <p:sp>
          <p:nvSpPr>
            <p:cNvPr id="30" name="Oval 29">
              <a:extLst>
                <a:ext uri="{FF2B5EF4-FFF2-40B4-BE49-F238E27FC236}">
                  <a16:creationId xmlns:a16="http://schemas.microsoft.com/office/drawing/2014/main" id="{B1A2B43D-5522-0B42-3C34-9799932B551E}"/>
                </a:ext>
              </a:extLst>
            </p:cNvPr>
            <p:cNvSpPr/>
            <p:nvPr/>
          </p:nvSpPr>
          <p:spPr>
            <a:xfrm>
              <a:off x="9460680" y="2273949"/>
              <a:ext cx="60858" cy="54367"/>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NVIDIA Sans" panose="020B0503020203020204" pitchFamily="34" charset="0"/>
              </a:endParaRPr>
            </a:p>
          </p:txBody>
        </p:sp>
        <p:sp>
          <p:nvSpPr>
            <p:cNvPr id="31" name="Oval 30">
              <a:extLst>
                <a:ext uri="{FF2B5EF4-FFF2-40B4-BE49-F238E27FC236}">
                  <a16:creationId xmlns:a16="http://schemas.microsoft.com/office/drawing/2014/main" id="{D7F0C2FD-4B4F-2603-D724-6C6D90205550}"/>
                </a:ext>
              </a:extLst>
            </p:cNvPr>
            <p:cNvSpPr/>
            <p:nvPr/>
          </p:nvSpPr>
          <p:spPr>
            <a:xfrm>
              <a:off x="9460680" y="2356499"/>
              <a:ext cx="60858" cy="54367"/>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NVIDIA Sans" panose="020B0503020203020204" pitchFamily="34" charset="0"/>
              </a:endParaRPr>
            </a:p>
          </p:txBody>
        </p:sp>
        <p:sp>
          <p:nvSpPr>
            <p:cNvPr id="32" name="Oval 31">
              <a:extLst>
                <a:ext uri="{FF2B5EF4-FFF2-40B4-BE49-F238E27FC236}">
                  <a16:creationId xmlns:a16="http://schemas.microsoft.com/office/drawing/2014/main" id="{2E6A77E4-855A-F921-1CE4-4E9231758841}"/>
                </a:ext>
              </a:extLst>
            </p:cNvPr>
            <p:cNvSpPr/>
            <p:nvPr/>
          </p:nvSpPr>
          <p:spPr>
            <a:xfrm>
              <a:off x="9462648" y="2178699"/>
              <a:ext cx="60858" cy="54367"/>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NVIDIA Sans" panose="020B0503020203020204" pitchFamily="34" charset="0"/>
              </a:endParaRPr>
            </a:p>
          </p:txBody>
        </p:sp>
      </p:grpSp>
      <p:cxnSp>
        <p:nvCxnSpPr>
          <p:cNvPr id="35" name="Straight Arrow Connector 34">
            <a:extLst>
              <a:ext uri="{FF2B5EF4-FFF2-40B4-BE49-F238E27FC236}">
                <a16:creationId xmlns:a16="http://schemas.microsoft.com/office/drawing/2014/main" id="{950B03CD-74AB-D79F-A45F-D010166C900D}"/>
              </a:ext>
            </a:extLst>
          </p:cNvPr>
          <p:cNvCxnSpPr>
            <a:cxnSpLocks/>
            <a:stCxn id="14" idx="3"/>
          </p:cNvCxnSpPr>
          <p:nvPr/>
        </p:nvCxnSpPr>
        <p:spPr>
          <a:xfrm>
            <a:off x="7035281" y="2928397"/>
            <a:ext cx="575427" cy="0"/>
          </a:xfrm>
          <a:prstGeom prst="straightConnector1">
            <a:avLst/>
          </a:prstGeom>
          <a:ln w="25400">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59286AC7-1064-5874-8001-B0CC5B3E024E}"/>
              </a:ext>
            </a:extLst>
          </p:cNvPr>
          <p:cNvCxnSpPr>
            <a:cxnSpLocks/>
          </p:cNvCxnSpPr>
          <p:nvPr/>
        </p:nvCxnSpPr>
        <p:spPr>
          <a:xfrm flipV="1">
            <a:off x="5808286" y="3884177"/>
            <a:ext cx="1802422" cy="1688966"/>
          </a:xfrm>
          <a:prstGeom prst="straightConnector1">
            <a:avLst/>
          </a:prstGeom>
          <a:ln w="25400">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52EFE984-D474-8DD2-AABE-696E8B44A5E3}"/>
              </a:ext>
            </a:extLst>
          </p:cNvPr>
          <p:cNvCxnSpPr>
            <a:cxnSpLocks/>
          </p:cNvCxnSpPr>
          <p:nvPr/>
        </p:nvCxnSpPr>
        <p:spPr>
          <a:xfrm>
            <a:off x="5801990" y="5573143"/>
            <a:ext cx="1833158" cy="0"/>
          </a:xfrm>
          <a:prstGeom prst="straightConnector1">
            <a:avLst/>
          </a:prstGeom>
          <a:ln w="25400">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F102952B-DB11-D306-0357-631247217AFE}"/>
              </a:ext>
            </a:extLst>
          </p:cNvPr>
          <p:cNvCxnSpPr>
            <a:cxnSpLocks/>
          </p:cNvCxnSpPr>
          <p:nvPr/>
        </p:nvCxnSpPr>
        <p:spPr>
          <a:xfrm>
            <a:off x="1979749" y="4098964"/>
            <a:ext cx="454073" cy="748165"/>
          </a:xfrm>
          <a:prstGeom prst="straightConnector1">
            <a:avLst/>
          </a:prstGeom>
          <a:ln w="25400">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44" name="TextBox 43">
            <a:extLst>
              <a:ext uri="{FF2B5EF4-FFF2-40B4-BE49-F238E27FC236}">
                <a16:creationId xmlns:a16="http://schemas.microsoft.com/office/drawing/2014/main" id="{0C76FBDF-37C2-2711-FA02-26FAF3D409CE}"/>
              </a:ext>
            </a:extLst>
          </p:cNvPr>
          <p:cNvSpPr txBox="1"/>
          <p:nvPr/>
        </p:nvSpPr>
        <p:spPr>
          <a:xfrm>
            <a:off x="6343239" y="5069477"/>
            <a:ext cx="979755" cy="400110"/>
          </a:xfrm>
          <a:prstGeom prst="rect">
            <a:avLst/>
          </a:prstGeom>
          <a:noFill/>
        </p:spPr>
        <p:txBody>
          <a:bodyPr wrap="none" rtlCol="0">
            <a:spAutoFit/>
          </a:bodyPr>
          <a:lstStyle/>
          <a:p>
            <a:r>
              <a:rPr lang="en-US" sz="2000">
                <a:latin typeface="NVIDIA Sans" panose="020B0503020203020204" pitchFamily="34" charset="0"/>
                <a:cs typeface="NVIDIA Sans" panose="020B0503020203020204" pitchFamily="34" charset="0"/>
              </a:rPr>
              <a:t>details</a:t>
            </a:r>
          </a:p>
        </p:txBody>
      </p:sp>
      <p:sp>
        <p:nvSpPr>
          <p:cNvPr id="2" name="Rectangle 1">
            <a:extLst>
              <a:ext uri="{FF2B5EF4-FFF2-40B4-BE49-F238E27FC236}">
                <a16:creationId xmlns:a16="http://schemas.microsoft.com/office/drawing/2014/main" id="{B6B62D4D-226E-3B06-D731-645BB6362209}"/>
              </a:ext>
            </a:extLst>
          </p:cNvPr>
          <p:cNvSpPr/>
          <p:nvPr/>
        </p:nvSpPr>
        <p:spPr>
          <a:xfrm>
            <a:off x="7646527" y="3169328"/>
            <a:ext cx="3972479" cy="12833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4CDA790-BA68-4D24-3F63-8FAE0C2E0CD5}"/>
              </a:ext>
            </a:extLst>
          </p:cNvPr>
          <p:cNvSpPr/>
          <p:nvPr/>
        </p:nvSpPr>
        <p:spPr>
          <a:xfrm>
            <a:off x="7646527" y="5107975"/>
            <a:ext cx="3972479" cy="73012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27722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4"/>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9"/>
                                        </p:tgtEl>
                                        <p:attrNameLst>
                                          <p:attrName>style.visibility</p:attrName>
                                        </p:attrNameLst>
                                      </p:cBhvr>
                                      <p:to>
                                        <p:strVal val="visible"/>
                                      </p:to>
                                    </p:set>
                                  </p:childTnLst>
                                </p:cTn>
                              </p:par>
                              <p:par>
                                <p:cTn id="45" presetID="1" presetClass="exit" presetSubtype="0" fill="hold" grpId="0" nodeType="withEffect">
                                  <p:stCondLst>
                                    <p:cond delay="0"/>
                                  </p:stCondLst>
                                  <p:childTnLst>
                                    <p:set>
                                      <p:cBhvr>
                                        <p:cTn id="46" dur="1" fill="hold">
                                          <p:stCondLst>
                                            <p:cond delay="0"/>
                                          </p:stCondLst>
                                        </p:cTn>
                                        <p:tgtEl>
                                          <p:spTgt spid="2"/>
                                        </p:tgtEl>
                                        <p:attrNameLst>
                                          <p:attrName>style.visibility</p:attrName>
                                        </p:attrNameLst>
                                      </p:cBhvr>
                                      <p:to>
                                        <p:strVal val="hidden"/>
                                      </p:to>
                                    </p:set>
                                  </p:childTnLst>
                                </p:cTn>
                              </p:par>
                              <p:par>
                                <p:cTn id="47" presetID="1" presetClass="exit" presetSubtype="0" fill="hold" grpId="0" nodeType="withEffect">
                                  <p:stCondLst>
                                    <p:cond delay="0"/>
                                  </p:stCondLst>
                                  <p:childTnLst>
                                    <p:set>
                                      <p:cBhvr>
                                        <p:cTn id="48" dur="1" fill="hold">
                                          <p:stCondLst>
                                            <p:cond delay="0"/>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44" grpId="0"/>
      <p:bldP spid="2" grpId="0" animBg="1"/>
      <p:bldP spid="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6F2DC-5FBD-527E-7BAC-DAF71DC47141}"/>
              </a:ext>
            </a:extLst>
          </p:cNvPr>
          <p:cNvSpPr>
            <a:spLocks noGrp="1"/>
          </p:cNvSpPr>
          <p:nvPr>
            <p:ph type="title"/>
          </p:nvPr>
        </p:nvSpPr>
        <p:spPr/>
        <p:txBody>
          <a:bodyPr>
            <a:normAutofit/>
          </a:bodyPr>
          <a:lstStyle/>
          <a:p>
            <a:pPr algn="ctr"/>
            <a:r>
              <a:rPr lang="en-US" sz="4000" b="1"/>
              <a:t>Code Implementation</a:t>
            </a:r>
          </a:p>
        </p:txBody>
      </p:sp>
      <p:sp>
        <p:nvSpPr>
          <p:cNvPr id="8" name="object 4">
            <a:extLst>
              <a:ext uri="{FF2B5EF4-FFF2-40B4-BE49-F238E27FC236}">
                <a16:creationId xmlns:a16="http://schemas.microsoft.com/office/drawing/2014/main" id="{B07F6518-D601-86ED-E702-2C961BE2314A}"/>
              </a:ext>
            </a:extLst>
          </p:cNvPr>
          <p:cNvSpPr txBox="1">
            <a:spLocks/>
          </p:cNvSpPr>
          <p:nvPr/>
        </p:nvSpPr>
        <p:spPr>
          <a:xfrm>
            <a:off x="10616339" y="6391299"/>
            <a:ext cx="365239" cy="218650"/>
          </a:xfrm>
          <a:prstGeom prst="rect">
            <a:avLst/>
          </a:prstGeom>
        </p:spPr>
        <p:txBody>
          <a:bodyPr vert="horz" wrap="square" lIns="0" tIns="317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18745">
              <a:spcBef>
                <a:spcPts val="25"/>
              </a:spcBef>
            </a:pPr>
            <a:fld id="{81D60167-4931-47E6-BA6A-407CBD079E47}" type="slidenum">
              <a:rPr lang="en-US" sz="1400" spc="-50" smtClean="0">
                <a:latin typeface="NVIDIA Sans" panose="020B0503020203020204" pitchFamily="34" charset="0"/>
              </a:rPr>
              <a:pPr marL="118745">
                <a:spcBef>
                  <a:spcPts val="25"/>
                </a:spcBef>
              </a:pPr>
              <a:t>21</a:t>
            </a:fld>
            <a:endParaRPr lang="en-US" sz="1400" spc="-50">
              <a:latin typeface="NVIDIA Sans" panose="020B0503020203020204" pitchFamily="34" charset="0"/>
            </a:endParaRPr>
          </a:p>
        </p:txBody>
      </p:sp>
      <p:pic>
        <p:nvPicPr>
          <p:cNvPr id="11" name="Picture 10">
            <a:extLst>
              <a:ext uri="{FF2B5EF4-FFF2-40B4-BE49-F238E27FC236}">
                <a16:creationId xmlns:a16="http://schemas.microsoft.com/office/drawing/2014/main" id="{81AC3B37-7393-4C5A-9F60-189C4B5B8517}"/>
              </a:ext>
            </a:extLst>
          </p:cNvPr>
          <p:cNvPicPr>
            <a:picLocks noChangeAspect="1"/>
          </p:cNvPicPr>
          <p:nvPr/>
        </p:nvPicPr>
        <p:blipFill>
          <a:blip r:embed="rId3"/>
          <a:stretch>
            <a:fillRect/>
          </a:stretch>
        </p:blipFill>
        <p:spPr>
          <a:xfrm>
            <a:off x="5177864" y="1259628"/>
            <a:ext cx="4831984" cy="1954686"/>
          </a:xfrm>
          <a:prstGeom prst="rect">
            <a:avLst/>
          </a:prstGeom>
        </p:spPr>
      </p:pic>
      <p:pic>
        <p:nvPicPr>
          <p:cNvPr id="4" name="Picture 3">
            <a:extLst>
              <a:ext uri="{FF2B5EF4-FFF2-40B4-BE49-F238E27FC236}">
                <a16:creationId xmlns:a16="http://schemas.microsoft.com/office/drawing/2014/main" id="{E91F3501-9446-F442-CCC8-3F9984D18F31}"/>
              </a:ext>
            </a:extLst>
          </p:cNvPr>
          <p:cNvPicPr>
            <a:picLocks noChangeAspect="1"/>
          </p:cNvPicPr>
          <p:nvPr/>
        </p:nvPicPr>
        <p:blipFill>
          <a:blip r:embed="rId4"/>
          <a:stretch>
            <a:fillRect/>
          </a:stretch>
        </p:blipFill>
        <p:spPr>
          <a:xfrm>
            <a:off x="3071866" y="3316103"/>
            <a:ext cx="7439689" cy="3256860"/>
          </a:xfrm>
          <a:prstGeom prst="rect">
            <a:avLst/>
          </a:prstGeom>
        </p:spPr>
      </p:pic>
      <p:sp>
        <p:nvSpPr>
          <p:cNvPr id="6" name="TextBox 5">
            <a:extLst>
              <a:ext uri="{FF2B5EF4-FFF2-40B4-BE49-F238E27FC236}">
                <a16:creationId xmlns:a16="http://schemas.microsoft.com/office/drawing/2014/main" id="{B1611D4B-AF14-2057-C8B3-9201E5CC5C4C}"/>
              </a:ext>
            </a:extLst>
          </p:cNvPr>
          <p:cNvSpPr txBox="1"/>
          <p:nvPr/>
        </p:nvSpPr>
        <p:spPr>
          <a:xfrm>
            <a:off x="946767" y="2081573"/>
            <a:ext cx="3481466" cy="400110"/>
          </a:xfrm>
          <a:prstGeom prst="rect">
            <a:avLst/>
          </a:prstGeom>
          <a:noFill/>
        </p:spPr>
        <p:txBody>
          <a:bodyPr wrap="none" rtlCol="0">
            <a:spAutoFit/>
          </a:bodyPr>
          <a:lstStyle/>
          <a:p>
            <a:r>
              <a:rPr lang="en-US" sz="2000">
                <a:latin typeface="NVIDIA Sans" panose="020B0503020203020204" pitchFamily="34" charset="0"/>
                <a:cs typeface="NVIDIA Sans" panose="020B0503020203020204" pitchFamily="34" charset="0"/>
              </a:rPr>
              <a:t>Writing code for each task</a:t>
            </a:r>
          </a:p>
        </p:txBody>
      </p:sp>
      <p:sp>
        <p:nvSpPr>
          <p:cNvPr id="7" name="TextBox 6">
            <a:extLst>
              <a:ext uri="{FF2B5EF4-FFF2-40B4-BE49-F238E27FC236}">
                <a16:creationId xmlns:a16="http://schemas.microsoft.com/office/drawing/2014/main" id="{9D314CDF-5F85-223A-10B0-DCAACD1F1C40}"/>
              </a:ext>
            </a:extLst>
          </p:cNvPr>
          <p:cNvSpPr txBox="1"/>
          <p:nvPr/>
        </p:nvSpPr>
        <p:spPr>
          <a:xfrm>
            <a:off x="946766" y="4443099"/>
            <a:ext cx="2204450" cy="400110"/>
          </a:xfrm>
          <a:prstGeom prst="rect">
            <a:avLst/>
          </a:prstGeom>
          <a:noFill/>
        </p:spPr>
        <p:txBody>
          <a:bodyPr wrap="none" rtlCol="0">
            <a:spAutoFit/>
          </a:bodyPr>
          <a:lstStyle/>
          <a:p>
            <a:r>
              <a:rPr lang="en-US" sz="2000">
                <a:latin typeface="NVIDIA Sans" panose="020B0503020203020204" pitchFamily="34" charset="0"/>
                <a:cs typeface="NVIDIA Sans" panose="020B0503020203020204" pitchFamily="34" charset="0"/>
              </a:rPr>
              <a:t>Debug final code</a:t>
            </a:r>
          </a:p>
        </p:txBody>
      </p:sp>
    </p:spTree>
    <p:extLst>
      <p:ext uri="{BB962C8B-B14F-4D97-AF65-F5344CB8AC3E}">
        <p14:creationId xmlns:p14="http://schemas.microsoft.com/office/powerpoint/2010/main" val="39422743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6F2DC-5FBD-527E-7BAC-DAF71DC47141}"/>
              </a:ext>
            </a:extLst>
          </p:cNvPr>
          <p:cNvSpPr>
            <a:spLocks noGrp="1"/>
          </p:cNvSpPr>
          <p:nvPr>
            <p:ph type="title"/>
          </p:nvPr>
        </p:nvSpPr>
        <p:spPr/>
        <p:txBody>
          <a:bodyPr>
            <a:normAutofit/>
          </a:bodyPr>
          <a:lstStyle/>
          <a:p>
            <a:pPr algn="ctr"/>
            <a:r>
              <a:rPr lang="en-US" sz="4000" b="1"/>
              <a:t>Debug with AST-Guided Waveforms </a:t>
            </a:r>
          </a:p>
        </p:txBody>
      </p:sp>
      <p:sp>
        <p:nvSpPr>
          <p:cNvPr id="5" name="Content Placeholder 4">
            <a:extLst>
              <a:ext uri="{FF2B5EF4-FFF2-40B4-BE49-F238E27FC236}">
                <a16:creationId xmlns:a16="http://schemas.microsoft.com/office/drawing/2014/main" id="{18B1523D-AF0B-DE08-F371-DD6B7289EFB5}"/>
              </a:ext>
            </a:extLst>
          </p:cNvPr>
          <p:cNvSpPr>
            <a:spLocks noGrp="1"/>
          </p:cNvSpPr>
          <p:nvPr>
            <p:ph idx="1"/>
          </p:nvPr>
        </p:nvSpPr>
        <p:spPr>
          <a:xfrm>
            <a:off x="791479" y="1511926"/>
            <a:ext cx="5772150" cy="4351338"/>
          </a:xfrm>
        </p:spPr>
        <p:txBody>
          <a:bodyPr>
            <a:normAutofit/>
          </a:bodyPr>
          <a:lstStyle/>
          <a:p>
            <a:pPr marL="0" indent="0">
              <a:buNone/>
            </a:pPr>
            <a:r>
              <a:rPr lang="en-US" sz="2400"/>
              <a:t>Use AST to extract relevant signal traces for debug with </a:t>
            </a:r>
            <a:r>
              <a:rPr lang="en-US" sz="2400" err="1"/>
              <a:t>ReACT</a:t>
            </a:r>
            <a:endParaRPr lang="en-US" sz="2400"/>
          </a:p>
          <a:p>
            <a:endParaRPr lang="en-US" sz="2400"/>
          </a:p>
        </p:txBody>
      </p:sp>
      <p:pic>
        <p:nvPicPr>
          <p:cNvPr id="4" name="Picture 3">
            <a:extLst>
              <a:ext uri="{FF2B5EF4-FFF2-40B4-BE49-F238E27FC236}">
                <a16:creationId xmlns:a16="http://schemas.microsoft.com/office/drawing/2014/main" id="{AE83FA54-309D-30BD-8C18-8CC4744AEDD5}"/>
              </a:ext>
            </a:extLst>
          </p:cNvPr>
          <p:cNvPicPr>
            <a:picLocks noChangeAspect="1"/>
          </p:cNvPicPr>
          <p:nvPr/>
        </p:nvPicPr>
        <p:blipFill>
          <a:blip r:embed="rId3"/>
          <a:stretch>
            <a:fillRect/>
          </a:stretch>
        </p:blipFill>
        <p:spPr>
          <a:xfrm>
            <a:off x="852554" y="2520336"/>
            <a:ext cx="4729096" cy="3684911"/>
          </a:xfrm>
          <a:prstGeom prst="rect">
            <a:avLst/>
          </a:prstGeom>
        </p:spPr>
      </p:pic>
      <p:pic>
        <p:nvPicPr>
          <p:cNvPr id="6" name="Picture 5">
            <a:extLst>
              <a:ext uri="{FF2B5EF4-FFF2-40B4-BE49-F238E27FC236}">
                <a16:creationId xmlns:a16="http://schemas.microsoft.com/office/drawing/2014/main" id="{83BC1328-04D7-DEA7-53D9-B090B2E34B02}"/>
              </a:ext>
            </a:extLst>
          </p:cNvPr>
          <p:cNvPicPr>
            <a:picLocks noChangeAspect="1"/>
          </p:cNvPicPr>
          <p:nvPr/>
        </p:nvPicPr>
        <p:blipFill>
          <a:blip r:embed="rId4"/>
          <a:stretch>
            <a:fillRect/>
          </a:stretch>
        </p:blipFill>
        <p:spPr>
          <a:xfrm>
            <a:off x="6860258" y="1650182"/>
            <a:ext cx="4842594" cy="4555065"/>
          </a:xfrm>
          <a:prstGeom prst="rect">
            <a:avLst/>
          </a:prstGeom>
        </p:spPr>
      </p:pic>
      <p:sp>
        <p:nvSpPr>
          <p:cNvPr id="7" name="Arrow: Right 6">
            <a:extLst>
              <a:ext uri="{FF2B5EF4-FFF2-40B4-BE49-F238E27FC236}">
                <a16:creationId xmlns:a16="http://schemas.microsoft.com/office/drawing/2014/main" id="{D8F6F691-BB08-DC67-362A-A8F41DB6DE2D}"/>
              </a:ext>
            </a:extLst>
          </p:cNvPr>
          <p:cNvSpPr/>
          <p:nvPr/>
        </p:nvSpPr>
        <p:spPr>
          <a:xfrm>
            <a:off x="5642725" y="4038415"/>
            <a:ext cx="1028700" cy="50855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NVIDIA Sans" panose="020B0503020203020204" pitchFamily="34" charset="0"/>
            </a:endParaRPr>
          </a:p>
        </p:txBody>
      </p:sp>
      <p:sp>
        <p:nvSpPr>
          <p:cNvPr id="8" name="object 4">
            <a:extLst>
              <a:ext uri="{FF2B5EF4-FFF2-40B4-BE49-F238E27FC236}">
                <a16:creationId xmlns:a16="http://schemas.microsoft.com/office/drawing/2014/main" id="{B07F6518-D601-86ED-E702-2C961BE2314A}"/>
              </a:ext>
            </a:extLst>
          </p:cNvPr>
          <p:cNvSpPr txBox="1">
            <a:spLocks/>
          </p:cNvSpPr>
          <p:nvPr/>
        </p:nvSpPr>
        <p:spPr>
          <a:xfrm>
            <a:off x="10616339" y="6391299"/>
            <a:ext cx="365239" cy="218650"/>
          </a:xfrm>
          <a:prstGeom prst="rect">
            <a:avLst/>
          </a:prstGeom>
        </p:spPr>
        <p:txBody>
          <a:bodyPr vert="horz" wrap="square" lIns="0" tIns="317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18745">
              <a:spcBef>
                <a:spcPts val="25"/>
              </a:spcBef>
            </a:pPr>
            <a:fld id="{81D60167-4931-47E6-BA6A-407CBD079E47}" type="slidenum">
              <a:rPr lang="en-US" sz="1400" spc="-50" smtClean="0">
                <a:latin typeface="NVIDIA Sans" panose="020B0503020203020204" pitchFamily="34" charset="0"/>
              </a:rPr>
              <a:pPr marL="118745">
                <a:spcBef>
                  <a:spcPts val="25"/>
                </a:spcBef>
              </a:pPr>
              <a:t>22</a:t>
            </a:fld>
            <a:endParaRPr lang="en-US" sz="1400" spc="-50">
              <a:latin typeface="NVIDIA Sans" panose="020B0503020203020204" pitchFamily="34" charset="0"/>
            </a:endParaRPr>
          </a:p>
        </p:txBody>
      </p:sp>
    </p:spTree>
    <p:extLst>
      <p:ext uri="{BB962C8B-B14F-4D97-AF65-F5344CB8AC3E}">
        <p14:creationId xmlns:p14="http://schemas.microsoft.com/office/powerpoint/2010/main" val="39709354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9D1C5-FCBC-A75D-F589-FED45DC85552}"/>
              </a:ext>
            </a:extLst>
          </p:cNvPr>
          <p:cNvSpPr>
            <a:spLocks noGrp="1"/>
          </p:cNvSpPr>
          <p:nvPr>
            <p:ph type="title"/>
          </p:nvPr>
        </p:nvSpPr>
        <p:spPr/>
        <p:txBody>
          <a:bodyPr>
            <a:normAutofit/>
          </a:bodyPr>
          <a:lstStyle/>
          <a:p>
            <a:pPr algn="ctr"/>
            <a:r>
              <a:rPr lang="en-US" sz="4000" b="1"/>
              <a:t>Closing Thoughts</a:t>
            </a:r>
          </a:p>
        </p:txBody>
      </p:sp>
      <p:sp>
        <p:nvSpPr>
          <p:cNvPr id="4" name="Content Placeholder 3">
            <a:extLst>
              <a:ext uri="{FF2B5EF4-FFF2-40B4-BE49-F238E27FC236}">
                <a16:creationId xmlns:a16="http://schemas.microsoft.com/office/drawing/2014/main" id="{25BDFDF1-47CB-EE01-9095-FD1977F52F6F}"/>
              </a:ext>
            </a:extLst>
          </p:cNvPr>
          <p:cNvSpPr>
            <a:spLocks noGrp="1"/>
          </p:cNvSpPr>
          <p:nvPr>
            <p:ph idx="1"/>
          </p:nvPr>
        </p:nvSpPr>
        <p:spPr/>
        <p:txBody>
          <a:bodyPr>
            <a:normAutofit fontScale="92500" lnSpcReduction="10000"/>
          </a:bodyPr>
          <a:lstStyle/>
          <a:p>
            <a:r>
              <a:rPr lang="en-US" sz="2600"/>
              <a:t>What problems can be solved with agent today? </a:t>
            </a:r>
          </a:p>
          <a:p>
            <a:pPr lvl="1"/>
            <a:r>
              <a:rPr lang="en-US" sz="2200"/>
              <a:t>Design generation, debugging, review/analysis, optimization</a:t>
            </a:r>
          </a:p>
          <a:p>
            <a:pPr lvl="1"/>
            <a:r>
              <a:rPr lang="en-US" sz="2200"/>
              <a:t>Can be decomposed into tasks with low to medium intellectual effort</a:t>
            </a:r>
          </a:p>
          <a:p>
            <a:pPr lvl="1"/>
            <a:r>
              <a:rPr lang="en-US" sz="2200"/>
              <a:t>Increase productivity, make designer’s life easier</a:t>
            </a:r>
          </a:p>
          <a:p>
            <a:r>
              <a:rPr lang="en-US" sz="2600"/>
              <a:t>Extensive domain capability required to build useful agents for chip design</a:t>
            </a:r>
          </a:p>
          <a:p>
            <a:pPr lvl="1"/>
            <a:r>
              <a:rPr lang="en-US" sz="2200"/>
              <a:t>Diverse design knowledge: Logic design, physical design, verification, analog design, etc.</a:t>
            </a:r>
          </a:p>
          <a:p>
            <a:pPr lvl="1"/>
            <a:r>
              <a:rPr lang="en-US" sz="2200"/>
              <a:t>Diverse set of tool commands and file formats: </a:t>
            </a:r>
            <a:r>
              <a:rPr lang="en-US" sz="2200" err="1"/>
              <a:t>PrimeTime</a:t>
            </a:r>
            <a:r>
              <a:rPr lang="en-US" sz="2200"/>
              <a:t>, ICC2, </a:t>
            </a:r>
            <a:r>
              <a:rPr lang="en-US" sz="2200" err="1"/>
              <a:t>Innovus</a:t>
            </a:r>
            <a:r>
              <a:rPr lang="en-US" sz="2200"/>
              <a:t>, reports, LEF/DEF, etc.</a:t>
            </a:r>
          </a:p>
          <a:p>
            <a:r>
              <a:rPr lang="en-US" sz="2600">
                <a:solidFill>
                  <a:srgbClr val="76B900"/>
                </a:solidFill>
              </a:rPr>
              <a:t>Agent capability comes from the designer’s insights and specialized tools</a:t>
            </a:r>
          </a:p>
          <a:p>
            <a:r>
              <a:rPr lang="en-US" sz="2600">
                <a:solidFill>
                  <a:srgbClr val="FAC200"/>
                </a:solidFill>
              </a:rPr>
              <a:t>Can agent become intelligent enough to solve hard design problems?</a:t>
            </a:r>
            <a:endParaRPr lang="en-US">
              <a:solidFill>
                <a:srgbClr val="FAC200"/>
              </a:solidFill>
            </a:endParaRPr>
          </a:p>
          <a:p>
            <a:endParaRPr lang="en-US"/>
          </a:p>
          <a:p>
            <a:endParaRPr lang="en-US"/>
          </a:p>
          <a:p>
            <a:pPr lvl="1"/>
            <a:endParaRPr lang="en-US"/>
          </a:p>
          <a:p>
            <a:pPr marL="609539" lvl="2" indent="0">
              <a:buNone/>
            </a:pPr>
            <a:endParaRPr lang="en-US"/>
          </a:p>
        </p:txBody>
      </p:sp>
      <p:sp>
        <p:nvSpPr>
          <p:cNvPr id="5" name="object 4">
            <a:extLst>
              <a:ext uri="{FF2B5EF4-FFF2-40B4-BE49-F238E27FC236}">
                <a16:creationId xmlns:a16="http://schemas.microsoft.com/office/drawing/2014/main" id="{87A4E174-14F2-4016-7BAB-8FD829E91FC0}"/>
              </a:ext>
            </a:extLst>
          </p:cNvPr>
          <p:cNvSpPr txBox="1">
            <a:spLocks/>
          </p:cNvSpPr>
          <p:nvPr/>
        </p:nvSpPr>
        <p:spPr>
          <a:xfrm>
            <a:off x="10616339" y="6391299"/>
            <a:ext cx="365239" cy="218650"/>
          </a:xfrm>
          <a:prstGeom prst="rect">
            <a:avLst/>
          </a:prstGeom>
        </p:spPr>
        <p:txBody>
          <a:bodyPr vert="horz" wrap="square" lIns="0" tIns="317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18745">
              <a:spcBef>
                <a:spcPts val="25"/>
              </a:spcBef>
            </a:pPr>
            <a:fld id="{81D60167-4931-47E6-BA6A-407CBD079E47}" type="slidenum">
              <a:rPr lang="en-US" sz="1400" spc="-50" smtClean="0">
                <a:latin typeface="NVIDIA Sans" panose="020B0503020203020204" pitchFamily="34" charset="0"/>
              </a:rPr>
              <a:pPr marL="118745">
                <a:spcBef>
                  <a:spcPts val="25"/>
                </a:spcBef>
              </a:pPr>
              <a:t>23</a:t>
            </a:fld>
            <a:endParaRPr lang="en-US" sz="1400" spc="-50">
              <a:latin typeface="NVIDIA Sans" panose="020B0503020203020204" pitchFamily="34" charset="0"/>
            </a:endParaRPr>
          </a:p>
        </p:txBody>
      </p:sp>
    </p:spTree>
    <p:extLst>
      <p:ext uri="{BB962C8B-B14F-4D97-AF65-F5344CB8AC3E}">
        <p14:creationId xmlns:p14="http://schemas.microsoft.com/office/powerpoint/2010/main" val="27203137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green and white background&#10;&#10;Description automatically generated">
            <a:extLst>
              <a:ext uri="{FF2B5EF4-FFF2-40B4-BE49-F238E27FC236}">
                <a16:creationId xmlns:a16="http://schemas.microsoft.com/office/drawing/2014/main" id="{70127DDD-C9DF-2D62-027B-101BB05271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3" name="Picture 2" descr="A picture containing graphics, logo, symbol, graphic design&#10;&#10;Description automatically generated">
            <a:extLst>
              <a:ext uri="{FF2B5EF4-FFF2-40B4-BE49-F238E27FC236}">
                <a16:creationId xmlns:a16="http://schemas.microsoft.com/office/drawing/2014/main" id="{BB9163A6-809C-9C71-A11D-655D37E8AC4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6387" y="381000"/>
            <a:ext cx="2788664" cy="960770"/>
          </a:xfrm>
          <a:prstGeom prst="rect">
            <a:avLst/>
          </a:prstGeom>
        </p:spPr>
      </p:pic>
    </p:spTree>
    <p:extLst>
      <p:ext uri="{BB962C8B-B14F-4D97-AF65-F5344CB8AC3E}">
        <p14:creationId xmlns:p14="http://schemas.microsoft.com/office/powerpoint/2010/main" val="41101134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67885"/>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3827</Words>
  <Application>Microsoft Office PowerPoint</Application>
  <PresentationFormat>Widescreen</PresentationFormat>
  <Paragraphs>413</Paragraphs>
  <Slides>24</Slides>
  <Notes>23</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24</vt:i4>
      </vt:variant>
    </vt:vector>
  </HeadingPairs>
  <TitlesOfParts>
    <vt:vector size="33" baseType="lpstr">
      <vt:lpstr>Arial Unicode MS</vt:lpstr>
      <vt:lpstr>SFMono-Regular</vt:lpstr>
      <vt:lpstr>Arial</vt:lpstr>
      <vt:lpstr>Calibri</vt:lpstr>
      <vt:lpstr>NVIDIA Sans</vt:lpstr>
      <vt:lpstr>NVIDIA Sans Medium</vt:lpstr>
      <vt:lpstr>Wingdings</vt:lpstr>
      <vt:lpstr>Office Theme</vt:lpstr>
      <vt:lpstr>1_Office Theme</vt:lpstr>
      <vt:lpstr>PowerPoint Presentation</vt:lpstr>
      <vt:lpstr>Agent Advantage</vt:lpstr>
      <vt:lpstr>Agentic Concepts</vt:lpstr>
      <vt:lpstr>Planning</vt:lpstr>
      <vt:lpstr>Planning – Without Feedback</vt:lpstr>
      <vt:lpstr>Planning – Without Feedback</vt:lpstr>
      <vt:lpstr>Planning – With Feedback</vt:lpstr>
      <vt:lpstr>Planning – With Feedback</vt:lpstr>
      <vt:lpstr>Memory</vt:lpstr>
      <vt:lpstr>Tools</vt:lpstr>
      <vt:lpstr>Two Agent Conversation</vt:lpstr>
      <vt:lpstr>Group Chat</vt:lpstr>
      <vt:lpstr>Task flow</vt:lpstr>
      <vt:lpstr>Timing Report Analysis</vt:lpstr>
      <vt:lpstr>Tools and Prompts</vt:lpstr>
      <vt:lpstr>Device Clustering for Standard Cell Layout</vt:lpstr>
      <vt:lpstr> Device Clustering Optimization Agent</vt:lpstr>
      <vt:lpstr>Device Clustering Optimization Agent</vt:lpstr>
      <vt:lpstr>VerilogCoder Agent</vt:lpstr>
      <vt:lpstr>Task Planning</vt:lpstr>
      <vt:lpstr>Code Implementation</vt:lpstr>
      <vt:lpstr>Debug with AST-Guided Waveforms </vt:lpstr>
      <vt:lpstr>Closing Thoughts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LLM Agent for Chip Design</dc:title>
  <dc:creator>Mark Ren</dc:creator>
  <cp:lastModifiedBy>Mark Ren</cp:lastModifiedBy>
  <cp:revision>1</cp:revision>
  <dcterms:created xsi:type="dcterms:W3CDTF">2024-08-05T20:21:27Z</dcterms:created>
  <dcterms:modified xsi:type="dcterms:W3CDTF">2024-08-28T01:27:08Z</dcterms:modified>
</cp:coreProperties>
</file>